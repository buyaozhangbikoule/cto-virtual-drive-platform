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24"/>
    <p:sldId id="279" r:id="rId25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9" r:id="rId15"/>
    <p:sldId id="270" r:id="rId16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716A-403C-8694-1FBD5F661455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716A-403C-8694-1FBD5F661455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716A-403C-8694-1FBD5F661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066-4D31-9B9D-F71C9E1F524C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066-4D31-9B9D-F71C9E1F524C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066-4D31-9B9D-F71C9E1F524C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E066-4D31-9B9D-F71C9E1F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174-45D1-9F86-1E8DA436307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2174-45D1-9F86-1E8DA436307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174-45D1-9F86-1E8DA43630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>【本页结论】本月已有假设BVD电学建模、匹配、扰动与控制原型证据；原计划统一三策略验收尚待完成，不是实物或临床验证。</a:t>
            </a:r>
            <a:endParaRPr/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  <a:endParaRPr/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  <a:endParaRPr/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D:/微信文件/WeChat Files/wxid_f86c1kdajuft12/FileStorage/File/2026-08/CTO超声换能器虚拟阻抗建模与自适应驱动控制_第一月计划书.docx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  <a:endParaRPr/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  <a:endParaRPr/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>【教授可能追问】为什么不直接用相位等于零作为谐振点？</a:t>
            </a:r>
            <a:endParaRPr/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【本页结论】先消除旧参数的物理冲突，再把v2.1参数明确降格为假设基线。</a:t>
            </a:r>
            <a:endParaRPr/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  <a:endParaRPr/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  <a:endParaRPr/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>【模糊推测】无；本页是单位换算和模型内代数一致性。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>【本页结论】解析模型与LTspice网表在同一拓扑和参数下实现一致。</a:t>
            </a:r>
            <a:endParaRPr/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  <a:endParaRPr/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>【教授可能追问】为什么误差这么小，是否存在同源公式自证？</a:t>
            </a:r>
            <a:endParaRPr/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  <a:endParaRPr/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  <a:endParaRPr/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  <a:endParaRPr/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  <a:endParaRPr/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  <a:endParaRPr/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  <a:endParaRPr/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  <a:endParaRPr/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  <a:endParaRPr/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Zin，不是换能器BVD端口相位。两者中间隔着匹配网络，所以数值可以明显不同。后面的相位闭环试验也使用arg Zin，并以基准安全功率峰处的负1.0782度为目标。</a:t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  <a:endParaRPr/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C:/Users/24739/Documents/Codex/2026-08-10/new-chat/CTO_virtual_drive_platform_v2_1/evidence/ltspice/stage2/stage2_audit.json</a:t>
            </a:r>
            <a:endParaRPr/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  <a:endParaRPr/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【逐字讲稿】这张三层柱图分别给出峰值频率偏移、峰高变化和半高宽变化。最明显的峰位变化来自串联谐振频率下降：fs减5%使冻结源功率峰约下移45.2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  <a:endParaRPr/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>【教授可能追问】为什么图里有的因素没有明显柱形？</a:t>
            </a:r>
            <a:endParaRPr/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【2026-09-10派生字段修正】Rm-only固定Lm、Cm，Qm随Rm增大下降。此前登记仍为800属于派生字段错误。三档已改为695.6522、615.3846、533.3333；回归确认曲线与功率未改变，不需用暗改Lm来保持Qm。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  <a:endParaRPr/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  <a:endParaRPr/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>【教授可能追问】Cm-only为什么不等于只改变谐振频率？</a:t>
            </a:r>
            <a:endParaRPr/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>【本页结论】高Qm提高频率选择性，但并不自动代表系统整体更优。</a:t>
            </a:r>
            <a:endParaRPr/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  <a:endParaRPr/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>【教授可能追问】为什么峰高基本不变、峰宽却变化？</a:t>
            </a:r>
            <a:endParaRPr/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>【本页结论】最大功率、最小绝对相位和最小反射代理是三个不同优化问题。</a:t>
            </a:r>
            <a:endParaRPr/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  <a:endParaRPr/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>【教授可能追问】既然相位不可靠，为什么还保留相位控制？</a:t>
            </a:r>
            <a:endParaRPr/>
          </a:p>
          <a:p xmlns:a="http://schemas.openxmlformats.org/drawingml/2006/main">
            <a:r>
              <a:t>【建议回答】相位误差闭环是计划书规定的第三种正式比较方法。历史实现采用基准功率峰相位目标与局部斜率符号；它可能锁到较低功率点，这也是需要报告的结果。P&amp;O保留为第四种扩展方法，未统一评价前不宣称哪种总体更优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【原图范围】两张图是原共享频率轴四联图的前两面板，原面板本身未重复标注横轴数值；本次补充共同0.84–0.96 MHz线性频率范围与0.5 kHz步长。图像像素不改动。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>【本页结论】采用宽窗口粗捕获、窄窗口细化，比固定单一网格更合理。</a:t>
            </a:r>
            <a:endParaRPr/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  <a:endParaRPr/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>【教授可能追问】为什么最终不是直接用0.1 kHz、正负100 kHz？</a:t>
            </a:r>
            <a:endParaRPr/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  <a:endParaRPr/>
          </a:p>
          <a:p xmlns:a="http://schemas.openxmlformats.org/drawingml/2006/main">
            <a:r>
              <a:t>【逐字讲稿】本页与当前第24页使用同一旧批次保存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  <a:endParaRPr/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  <a:endParaRPr/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  <a:endParaRPr/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  <a:endParaRPr/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  <a:endParaRPr/>
          </a:p>
          <a:p xmlns:a="http://schemas.openxmlformats.org/drawingml/2006/main">
            <a:r>
              <a:t>【版本纠偏】本图保留旧批次a734eca013的固定／扫频／P&amp;O时序，只说明历史保护动作，不作为计划书固定／扫频／相位的正式比较。后续E01/E02已经在隔离实验中逐扫描点调用保护并同步幅度；尚不能把这一改进描述成正式主线已全部集成。</a:t>
            </a:r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【逐字讲稿】当前控制并非只找峰，已经接入频率、电压、电流和幅度约束。但这里必须区分约束机制存在与硬安全已经证明。历史主线1795条保存记录中，电压最高130 Vpp、电流最高约5.124 mA，保存样本硬越限为零；这些是已知模型预览与保护处理后的准稳态结果，不等于采样间隙或实际瞬态永远不越限。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【实现缺口】旧主线扫描点与普通控制样本的保护调用仍不完全一致。E01/E02后续隔离实验已经修正这一点，但仍需正式集成与三策略回归。第23页后续候选的保持指令重放仍检出188.2 Vpp，因此不能宣称硬限完成。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约束合同】功率相对上限的分母及数值未冻结；反射代理目前用于检测，不是独立硬限。线性网络固定频率下，降幅不改变Zin和Gamma，不能把降幅等同于恢复匹配。若加入反射上限却无可行频点，需预先定义降额待机或停机，不得无限重扫后称为受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【答疑】独立PI不是必须；当前目标是最大功率，调频与安全降额是可研究的架构。无积分器时，积分饱和为不适用。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【模糊推测内容】补齐接口与延迟模型可能改善鲁棒性，效果尚待同条件仿真，不是本页已验证结论。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C:/Users/24739/Documents/Codex/2026-08-10/new-chat/control_feasibility_20260907/run_experiments.py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>【版本关系】本页更新为第三轮固定无PI候选的后续实验。完整版中的第12、24页仍保留此前同一次运行的历史对照，不能与本页拼成同一次运行的综合成绩。</a:t>
            </a:r>
            <a:endParaRPr/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  <a:endParaRPr/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  <a:endParaRPr/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  <a:endParaRPr/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  <a:endParaRPr/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  <a:endParaRPr/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  <a:endParaRPr/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>【版本关系】本页对原控制批次做评价口径修正，与第12页使用同一旧批次。第23页是第三轮后续无PI候选，本页三策略总表不是该候选的综合结果。</a:t>
            </a:r>
            <a:endParaRPr/>
          </a:p>
          <a:p xmlns:a="http://schemas.openxmlformats.org/drawingml/2006/main"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 xmlns:a="http://schemas.openxmlformats.org/drawingml/2006/main"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  <a:endParaRPr/>
          </a:p>
          <a:p xmlns:a="http://schemas.openxmlformats.org/drawingml/2006/main"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 xmlns:a="http://schemas.openxmlformats.org/drawingml/2006/main"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23页的保持指令跨扰动重放，不能用于证明硬限安全。</a:t>
            </a:r>
            <a:endParaRPr/>
          </a:p>
          <a:p xmlns:a="http://schemas.openxmlformats.org/drawingml/2006/main"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 xmlns:a="http://schemas.openxmlformats.org/drawingml/2006/main"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  <a:endParaRPr/>
          </a:p>
          <a:p xmlns:a="http://schemas.openxmlformats.org/drawingml/2006/main"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 xmlns:a="http://schemas.openxmlformats.org/drawingml/2006/main"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  <a:endParaRPr/>
          </a:p>
          <a:p xmlns:a="http://schemas.openxmlformats.org/drawingml/2006/main">
            <a:r>
              <a:t>【模糊推测内容】通过缩短扫描或优化保护恢复可以改善电能捕获率，属于后续待验证设计；本页未把该推测写成已验证改进。</a:t>
            </a:r>
          </a:p>
          <a:p xmlns:a="http://schemas.openxmlformats.org/drawingml/2006/main">
            <a:r>
              <a:t>【时序SHA256】a734eca013d415f7a875c2785068745cd80ad811d7284e893bbcd1e974c5f0a0</a:t>
            </a:r>
            <a:endParaRPr/>
          </a:p>
          <a:p xmlns:a="http://schemas.openxmlformats.org/drawingml/2006/main"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 xmlns:a="http://schemas.openxmlformats.org/drawingml/2006/main">
            <a:r>
              <a:t>C:\Users\24739\Documents\Codex\2026-08-10\new-chat\ppt_control_fix_20260906\build\data/stage5_integrated_strategy_table.csv  SHA256=1daf082bbc1d2c8757415a277c4f7954e26d1f0561d6c949b73ac315b880bb58</a:t>
            </a:r>
            <a:endParaRPr/>
          </a:p>
          <a:p xmlns:a="http://schemas.openxmlformats.org/drawingml/2006/main"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  <a:p xmlns:a="http://schemas.openxmlformats.org/drawingml/2006/main">
            <a:r>
              <a:t>【计划书组合】本页属于历史示例或第四种P&amp;O扩展，正文正式三策略仍为固定／扫频／相位；不能以本页结果替代统一验收。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>【本页结论】已完成电路到FEM的数据字段和相量约定，声学结果仍明确为空。</a:t>
            </a:r>
            <a:endParaRPr/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  <a:endParaRPr/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>【教授可能追问】既然没有COMSOL，这一页的价值是什么？</a:t>
            </a:r>
            <a:endParaRPr/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  <a:endParaRPr/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>【本页结论】文献用于证明研究问题合理，不用于伪造未测的器件参数。</a:t>
            </a:r>
            <a:endParaRPr/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>【看图顺序】按“文献支持—工程抽象—尚不能证明”三层讲。</a:t>
            </a:r>
            <a:endParaRPr/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>【教授可能追问】扰动幅度的医学依据是什么？</a:t>
            </a:r>
            <a:endParaRPr/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D:/微信文件/WeChat Files/wxid_f86c1kdajuft12/FileStorage/File/2026-08/前视超声治疗.pdf</a:t>
            </a:r>
            <a:endParaRPr/>
          </a:p>
          <a:p xmlns:a="http://schemas.openxmlformats.org/drawingml/2006/main">
            <a:r>
              <a:t>- D:/微信文件/WeChat Files/wxid_f86c1kdajuft12/FileStorage/File/2026-08/High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总结时需要收窄“已完成”的范围。电学建模、匹配交叉验证、单因素与组合静态扫描、控制原型以及电声接口已有证据。Rm派生Qm的登记错误本次已经修正，确认没有改变电学响应。但原计划固定、扫频、相位的统一验收、完整闭环场景、正式集成逐点保护及功率反射合同仍未完成；采样间隙越限也尚未解决。只有这些内部验收补齐之后，才能进一步讨论模型外部有效性。实测阻抗、功率标定、结构声场和水听器属于后续验证，不能用这些尚未开展的工作掩盖当前代码与评价缺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【答疑】当前项目可汇报为“可复现的电学仿真平台及控制原型，原计划统一验收尚待收尾”，不能写全部完成。结论只限特定BVD与扰动范围内的电学稳定性。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【模糊推测内容】无；本页为完成状态核查。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C:/Users/24739/Documents/Codex/2026-08-10/new-chat/project_audit_20260910/output/Rm派生Qm修正验证.json</a:t>
            </a:r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>【本页结论】参数来源被强制分为文献参考、假设基线和扫描变量。</a:t>
            </a:r>
            <a:endParaRPr/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>【看图顺序】按来源类别列解释，不逐项念完整表格。</a:t>
            </a:r>
            <a:endParaRPr/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>【教授可能追问】哪些参数最需要实测？</a:t>
            </a:r>
            <a:endParaRPr/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【来源细分】0.8–1.0 MHz、起点0.9 MHz、约100 Vpp与160 Vpp边界来自用户。约5 mA是用户给定量级，解释为RMS是仿真假设。6 mA硬限、130 Vpp/5.5 mA软阈值、50 Ω戴维南源与控制增益周期属于假设，不是器件额定值。160 Vpp不能写成助手任意提出的阈值。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>【本页结论】单因素用于归因，组合扰动用于压力测试；完整覆盖及同口径评价仍需补齐。</a:t>
            </a:r>
            <a:endParaRPr/>
          </a:p>
          <a:p xmlns:a="http://schemas.openxmlformats.org/drawingml/2006/main">
            <a:r>
              <a:t>【逐字讲稿】左侧是各单因素最高档，右侧是历史固定／扫频／P&amp;O主批次共同使用的代表性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  <a:endParaRPr/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>【教授可能追问】为什么组合扰动不能替代单因素？</a:t>
            </a:r>
            <a:endParaRPr/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【派生量修正】Rm仅增加15%、30%、50%时，Qm由800分别变为695.6522、615.3846、533.3333。只修正登记和生成代码；Lm、Cm不变，34场景×2001频点电学数组完全一致。组合场景按其登记的联合构造重算Lm/Cm并保留Qm800，不是简单叠加原始元件单因素变体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>【本页结论】三档组合场景均有真实LTspice批处理证据，最大Zin误差远低于5%。</a:t>
            </a:r>
            <a:endParaRPr/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显著降低了两套静态求解实现存在主要差异的可能性，但仍不能验证假设电路参数的真实性。</a:t>
            </a:r>
          </a:p>
          <a:p xmlns:a="http://schemas.openxmlformats.org/drawingml/2006/main">
            <a:r>
              <a:t>【看图顺序】读三行误差和PASS，再指向运行证据行。</a:t>
            </a:r>
            <a:endParaRPr/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>【教授可能追问】有没有只展示图片、没有原始仿真的风险？</a:t>
            </a:r>
            <a:endParaRPr/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  <a:p xmlns:a="http://schemas.openxmlformats.org/drawingml/2006/main">
            <a:r>
              <a:t>【覆盖边界】此页是静态LTspice交叉验证，不能代表低中高组合均已通过相位在内的统一闭环验收。本次没有重跑这些LTspice场景。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>【本页结论】特征点名称必须连同测点、目标函数和参考阻抗一起报告。</a:t>
            </a:r>
            <a:endParaRPr/>
          </a:p>
          <a:p xmlns:a="http://schemas.openxmlformats.org/drawingml/2006/main">
            <a:r>
              <a:t>【逐字讲稿】本页离线选频的最大功率频率是在冻结源曲线上使P_Rm最大的频点；正式控制还必须考虑电压电流与允许幅度约束，两者不能混用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>【看图顺序】逐行讲三个argmin/argmax定义，最后总结命名规范。</a:t>
            </a:r>
            <a:endParaRPr/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>【教授可能追问】项目最终以哪个频率作为控制目标？</a:t>
            </a:r>
            <a:endParaRPr/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  <a:endParaRPr/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Zin，也就是arg(V_input/I_source)，不是换能器端口Vport/Iport。第二，目标不是零度，而是基准受约束最大功率点处的负1.0782度。更新量还乘局部dphi/df的符号，因为相位曲线在不同频段斜率可能不同。左图展示增益5 Hz每度的历史时序；50和100 Hz每度各出现1个错误锁定段，即相位误差已小但P_Rm仍低于0.95P星。</a:t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  <a:endParaRPr/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>【教授可能追问】为什么需要sign(dphi/df)？</a:t>
            </a:r>
            <a:endParaRPr/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>【模糊推测】无。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  <a:p xmlns:a="http://schemas.openxmlformats.org/drawingml/2006/main">
            <a:r>
              <a:t>【正文身份】这是计划书第三种策略的历史方法证据，不是以P&amp;O代替相位的理由。三策略正式同口径排名待完成。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【本页结论】恢复计划书三种方法，诚实区分“算法已经实现”与“统一验收已经完成”。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项目正式比较应是固定频率、周期扫频和相位误差闭环。三者都有既有实现或历史时序证据，但目前相位补充表的窗口和部分判据与另外两种策略不完全一致，文件也明确标为不用于正式排名。因此本页不再摆出貌似可比的误差和恢复时间排序，而是列出真实进展。下一步需要统一源、模型、扰动日程、保护接口和评价器，再对完整场景重跑。相位性能不佳同样是有效结果，不必换成P&amp;O才汇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【历史数据保留】原补充CSV仍保存固定30.14%、周期扫频0%、相位K5约39.91%的描述性尾段误差。它们不构成此次新正式排名；旧文件未删除或改写。原相位排名柱图从正文移除，避免与本页进度表混淆；源PPT保留。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【覆盖】静态登记34场景，旧主控制序列8段、7个不同场景；低中组合、Lm-only、Cm-only等完整闭环仍缺。不能从静态LTspice一致性推断闭环全覆盖。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【教授可能追问】那本月三策略比较算完成了吗？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【建议回答】实现与代表性试验已有基础，按原计划同口径、全场景的正式验收还没有完成。这一项明确列为本月未完成工作，P&amp;O作为第四种扩展，不替代它。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【模糊推测内容】无；本页是文件和程序状态审计，不预测最终策略排名。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C:/Users/24739/Documents/Codex/2026-08-10/new-chat/CTO_virtual_drive_platform_v2_1/results/tables/stage4_5/plan_fixed_periodic_phase_integrated.csv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不是没有真实GUI截图，而是已有历史基准截图。元数据记录采集于2026年8月15日，LTspice版本26.0.2.1。本次复核相应GUI副本cir、raw、log，三份哈希均与当时记录一致。这些截图只能说明对应基准场景的历史运行痕迹，不能充当全部当前参数和所有控制版本的新界面证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【证据边界】GUI辅助展示；数值复核依靠网表、RAW、日志与独立解析误差。哈希证明与登记版本的一致性，不证明物理真实性或求解必然正确。本次未新开LTspice，未生成新GUI截图。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C:/Users/24739/Documents/Codex/2026-08-10/new-chat/outputs/v2_self_consistent_rebuild/active_stage3_5/ltspice_gui_evidence/LTspice_GUI_evidence_metadata.json</a:t>
            </a:r>
            <a:endParaRPr/>
          </a:p>
          <a:p xmlns:a="http://schemas.openxmlformats.org/drawingml/2006/main">
            <a:r>
              <a:t>C:/Users/24739/Documents/Codex/2026-08-10/new-chat/project_audit_20260910/output/历史GUI证据核查.json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【本页身份】这是待统一实施的正式评价合同，不是声称当前三个策略已经采用完全相同评价器。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正式重跑首先固定评价口径。安全最优P星必须使用同场景、同幅度权限和同约束，仅供离线评价，不能泄漏给控制器。保持原98%门槛与连续10个NORMAL、频率未冻结的控制样本。恢复同时报告合格序列起点与第10个样本的确认时刻；段内不满足就写未通过。没有合格稳态窗口时写NA，不能以回退样本伪装稳态通过。旧数据的描述性尾段统计保留在扩展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过程指标】同一时间区间积分，纳入扫描、试探与保护恢复。分别统计保存样本和保持区间的电压电流极值、越限与频率饱和；不将已知模型的预览保护称为硬件无延迟保证。功率相对上限与反射上限仍需明确限制对象、分母、阈值及无可行点处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【参数来源】160 Vpp为用户给定边界；130 Vpp、5.5/6 mA和98%连续10样本属于本次假设控制／验收参数。独立PI非必须；没有积分器时，积分饱和不适用。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【模糊推测内容】统一口径后各策略排名可能变化，当前不能预测结论。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【建议时长】答疑约40秒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次追溯以9月9日最新版完整PPT为输入，查到10处失效引用、涉及9页，而不是直接沿用旧版本的12处。已定位用户原始文档及实际存在的审计、汇总文件；错误命名的CSV改引真正支撑说明的JSON或CSV，并不是假装找回不存在的同名文件。修订路径表逐项保留旧路径、替代路径和当前哈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【版本】旧平台证据清单154项中151项一致、0项丢失、3项在本次元数据修正后改变。旧清单不覆盖更新，另存修订清单和原文件备份。旧控制、RAW、截图与原PPT仍保留，不能用新文件冒充旧批次。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【复现边界】本次执行的是Python元数据回归、文件与PPT审核，不是全流程重新运行；统一三策略验收与真实多物理场仍待完成。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C:/Users/24739/Documents/Codex/2026-08-10/new-chat/project_audit_20260910/output/引用路径修正表.csv</a:t>
            </a:r>
            <a:endParaRPr/>
          </a:p>
          <a:p xmlns:a="http://schemas.openxmlformats.org/drawingml/2006/main">
            <a:r>
              <a:t>C:/Users/24739/Documents/Codex/2026-08-10/new-chat/project_audit_20260910/output/历史哈希清单核查.csv</a:t>
            </a:r>
          </a:p>
          <a:p xmlns:a="http://schemas.openxmlformats.org/drawingml/2006/main">
            <a:r>
              <a:t>C:/Users/24739/Documents/Codex/2026-08-10/new-chat/CTO_virtual_drive_platform_v2_1/results/manifests/evidence_manifest.csv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>【本页结论】ANSYS/COMSOL部分尚未完成，不能用示意图代替真实求解结果。</a:t>
            </a:r>
            <a:endParaRPr/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  <a:endParaRPr/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>【教授可能追问】为什么没有声压图？</a:t>
            </a:r>
            <a:endParaRPr/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  <a:endParaRPr/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524000" cy="47625"/>
          </a:xfrm>
          <a:prstGeom prst="rect">
            <a:avLst/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">
            <a:extLst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noGrp="1"/>
          </p:cNvSpPr>
          <p:nvPr/>
        </p:nvSpPr>
        <p:spPr>
          <a:xfrm>
            <a:off x="2324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noGrp="1"/>
          </p:cNvSpPr>
          <p:nvPr/>
        </p:nvSpPr>
        <p:spPr>
          <a:xfrm>
            <a:off x="8610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noGrp="1"/>
          </p:cNvSpPr>
          <p:nvPr/>
        </p:nvSpPr>
        <p:spPr>
          <a:xfrm>
            <a:off x="2914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noGrp="1"/>
          </p:cNvSpPr>
          <p:nvPr/>
        </p:nvSpPr>
        <p:spPr>
          <a:xfrm>
            <a:off x="3009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noGrp="1"/>
          </p:cNvSpPr>
          <p:nvPr/>
        </p:nvSpPr>
        <p:spPr>
          <a:xfrm>
            <a:off x="5010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noGrp="1"/>
          </p:cNvSpPr>
          <p:nvPr/>
        </p:nvSpPr>
        <p:spPr>
          <a:xfrm>
            <a:off x="5105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noGrp="1"/>
          </p:cNvSpPr>
          <p:nvPr/>
        </p:nvSpPr>
        <p:spPr>
          <a:xfrm>
            <a:off x="7105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noGrp="1"/>
          </p:cNvSpPr>
          <p:nvPr/>
        </p:nvSpPr>
        <p:spPr>
          <a:xfrm>
            <a:off x="7200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1809750" cy="876300"/>
          </a:xfrm>
          <a:prstGeom prst="roundRect">
            <a:avLst>
              <a:gd name="adj" fmla="val 6522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noGrp="1"/>
          </p:cNvSpPr>
          <p:nvPr/>
        </p:nvSpPr>
        <p:spPr>
          <a:xfrm>
            <a:off x="9296400" y="2314575"/>
            <a:ext cx="161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noGrp="1"/>
          </p:cNvSpPr>
          <p:nvPr/>
        </p:nvSpPr>
        <p:spPr>
          <a:xfrm>
            <a:off x="5905500" y="1238250"/>
            <a:ext cx="5600700" cy="4476750"/>
          </a:xfrm>
          <a:prstGeom prst="rect">
            <a:avLst/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noGrp="1"/>
          </p:cNvSpPr>
          <p:nvPr/>
        </p:nvSpPr>
        <p:spPr>
          <a:xfrm>
            <a:off x="8696325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noGrp="1"/>
          </p:cNvSpPr>
          <p:nvPr/>
        </p:nvSpPr>
        <p:spPr>
          <a:xfrm>
            <a:off x="8696325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noGrp="1"/>
          </p:cNvSpPr>
          <p:nvPr/>
        </p:nvSpPr>
        <p:spPr>
          <a:xfrm>
            <a:off x="6362700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noGrp="1"/>
          </p:cNvSpPr>
          <p:nvPr/>
        </p:nvSpPr>
        <p:spPr>
          <a:xfrm>
            <a:off x="8696325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4">
            <a:extLst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rcRect t="4704" b="4704"/>
          <a:stretch>
            <a:fillRect/>
          </a:stretch>
        </p:blipFill>
        <p:spPr>
          <a:xfrm>
            <a:off x="685800" y="1162050"/>
            <a:ext cx="7810500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noGrp="1"/>
          </p:cNvSpPr>
          <p:nvPr/>
        </p:nvSpPr>
        <p:spPr>
          <a:xfrm>
            <a:off x="8915400" y="1295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noGrp="1"/>
          </p:cNvSpPr>
          <p:nvPr/>
        </p:nvSpPr>
        <p:spPr>
          <a:xfrm>
            <a:off x="8915400" y="1695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noGrp="1"/>
          </p:cNvSpPr>
          <p:nvPr/>
        </p:nvSpPr>
        <p:spPr>
          <a:xfrm>
            <a:off x="89154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76375"/>
            <a:ext cx="7029450" cy="470973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8096250" y="1666875"/>
            <a:ext cx="3333750" cy="1190625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8191500" y="1771650"/>
            <a:ext cx="31432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96250" y="3057525"/>
            <a:ext cx="3333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8096250" y="5600700"/>
            <a:ext cx="33337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noGrp="1"/>
          </p:cNvSpPr>
          <p:nvPr/>
        </p:nvSpPr>
        <p:spPr>
          <a:xfrm>
            <a:off x="8096250" y="4543425"/>
            <a:ext cx="3333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7791450" y="1200150"/>
            <a:ext cx="3714750" cy="39814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7981950" y="13525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001000" y="47053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85800" y="1200150"/>
          <a:ext cx="6858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="685800" y="3486150"/>
          <a:ext cx="685800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="7905750" y="1971675"/>
          <a:ext cx="3486150" cy="257175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anchor="ctr">
                    <a:solidFill>
                      <a:srgbClr val="18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6">
            <a:extLst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352550"/>
          <a:ext cx="8096251" cy="4190998"/>
        </p:xfrm>
        <a:graphic>
          <a:graphicData uri="http://schemas.openxmlformats.org/drawingml/2006/table">
            <a:tbl>
              <a:tblPr firstRow="1"/>
              <a:tblGrid>
                <a:gridCol w="257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noGrp="1"/>
          </p:cNvSpPr>
          <p:nvPr/>
        </p:nvSpPr>
        <p:spPr>
          <a:xfrm>
            <a:off x="9201150" y="2000250"/>
            <a:ext cx="209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819150"/>
          </a:xfrm>
          <a:prstGeom prst="roundRect">
            <a:avLst>
              <a:gd name="adj" fmla="val 697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noGrp="1"/>
          </p:cNvSpPr>
          <p:nvPr/>
        </p:nvSpPr>
        <p:spPr>
          <a:xfrm>
            <a:off x="9391650" y="45910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7550" y="1066800"/>
            <a:ext cx="6682149" cy="5219700"/>
          </a:xfrm>
          <a:prstGeom prst="rect">
            <a:avLst/>
          </a:prstGeom>
        </p:spPr>
      </p:pic>
      <p:sp>
        <p:nvSpPr>
          <p:cNvPr id="12" name="cm-summary-title">
            <a:extLst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noGrp="1"/>
          </p:cNvSpPr>
          <p:nvPr/>
        </p:nvSpPr>
        <p:spPr>
          <a:xfrm>
            <a:off x="8020050" y="12573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noGrp="1"/>
          </p:cNvSpPr>
          <p:nvPr/>
        </p:nvSpPr>
        <p:spPr>
          <a:xfrm>
            <a:off x="8058150" y="19526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noGrp="1"/>
          </p:cNvSpPr>
          <p:nvPr/>
        </p:nvSpPr>
        <p:spPr>
          <a:xfrm>
            <a:off x="8058150" y="28670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noGrp="1"/>
          </p:cNvSpPr>
          <p:nvPr/>
        </p:nvSpPr>
        <p:spPr>
          <a:xfrm>
            <a:off x="8058150" y="3781425"/>
            <a:ext cx="3009900" cy="609600"/>
          </a:xfrm>
          <a:prstGeom prst="roundRect">
            <a:avLst>
              <a:gd name="adj" fmla="val 125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noGrp="1"/>
          </p:cNvSpPr>
          <p:nvPr/>
        </p:nvSpPr>
        <p:spPr>
          <a:xfrm>
            <a:off x="8020050" y="4953000"/>
            <a:ext cx="30861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7">
            <a:extLst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762000" y="1066800"/>
            <a:ext cx="6829425" cy="5238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noGrp="1"/>
          </p:cNvSpPr>
          <p:nvPr/>
        </p:nvSpPr>
        <p:spPr>
          <a:xfrm>
            <a:off x="9772650" y="21907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noGrp="1"/>
          </p:cNvSpPr>
          <p:nvPr/>
        </p:nvSpPr>
        <p:spPr>
          <a:xfrm>
            <a:off x="8629650" y="4057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noGrp="1"/>
          </p:cNvSpPr>
          <p:nvPr/>
        </p:nvSpPr>
        <p:spPr>
          <a:xfrm>
            <a:off x="9772650" y="40576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noGrp="1"/>
          </p:cNvSpPr>
          <p:nvPr/>
        </p:nvSpPr>
        <p:spPr>
          <a:xfrm>
            <a:off x="8705850" y="51244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476375"/>
            <a:ext cx="8035803" cy="19526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4708" y="3667125"/>
            <a:ext cx="7884184" cy="1952625"/>
          </a:xfrm>
          <a:prstGeom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00150"/>
            <a:ext cx="58578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基准场景：最大功率点 ≈ 最小反射点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两图共同扫频范围：0.84–0.96 MHz（线性轴）；步长0.5 kHz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9">
            <a:extLst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429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noGrp="1"/>
          </p:cNvSpPr>
          <p:nvPr/>
        </p:nvSpPr>
        <p:spPr>
          <a:xfrm>
            <a:off x="7981950" y="5086350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101点，152ms代理时间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84709"/>
            <a:ext cx="9851600" cy="343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历史保护示例：保存样本受限，不代表采样间隙无越限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假设BVD模型，非实测    历史固定／扫频／P&amp;O示例 a734eca013；非正式三策略验收表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历史主线时序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后续修正见扩展页</a:t>
            </a: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125" y="1190707"/>
            <a:ext cx="8982075" cy="4822344"/>
          </a:xfrm>
          <a:prstGeom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已接入电压、电流保护，但完整约束验收尚未闭合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    旧主线与E01/E02实验分支分开审计；未声称硬件安全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扩展P&amp;O试验，非实测    第三轮 cdde9dab61；第12/24页为旧批次，不能拼成同一运行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257311"/>
            <a:ext cx="7715250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扩展比较：尾段误差为零，仍存在全过程电能损失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扩展方法比较，非实测    旧批次 a734eca013；与第23页后续无PI候选分开评价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49" y="1647825"/>
            <a:ext cx="4219527" cy="3214878"/>
          </a:xfrm>
          <a:prstGeom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13">
            <a:extLst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noGrp="1"/>
          </p:cNvSpPr>
          <p:nvPr/>
        </p:nvSpPr>
        <p:spPr>
          <a:xfrm>
            <a:off x="224790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noGrp="1"/>
          </p:cNvSpPr>
          <p:nvPr/>
        </p:nvSpPr>
        <p:spPr>
          <a:xfrm>
            <a:off x="58864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7241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noGrp="1"/>
          </p:cNvSpPr>
          <p:nvPr/>
        </p:nvSpPr>
        <p:spPr>
          <a:xfrm>
            <a:off x="8877300" y="2209800"/>
            <a:ext cx="1981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电学建模与控制原型已有证据，计划书验收尚未全部完成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    不能把静态扫描齐全、实验分支通过或接口PASS等同于全部验收完成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已有证据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v2.1匹配与双线核对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34个场景静态登记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低／中／高组合静态验证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选频、保护与控制原型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本月仍需补齐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固定／扫频／相位统一验收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完整单因素与组合闭环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逐点保护正式集成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功率与反射验收合同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采样间隙与全程电能评估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后续外部验证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实测阻抗与BVD辨识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电压／电流／功率标定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结构声场与网格收敛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水听器声场验证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不作治疗或安全外推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备份：用户工作要求与假设模型／控制参数分别登记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5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备份：Rm派生Qm已修正；静态覆盖不等于闭环覆盖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本次只修正派生字段与描述，非新LTspice仿真    完整同口径闭环覆盖仍待补齐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1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 = 695.7 / 615.4 / 533.3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Lm、Cm未改；34场景×2001频点回归，电学响应数组修正前后完全一致。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计划策略三：相位闭环已实现，但固定相位不保证功率最优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假设BVD模型；历史相位增益试验    固定目标不随扰动场景重新标定；统一验收仍待完成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3899" y="1257300"/>
            <a:ext cx="6142802" cy="4762500"/>
          </a:xfrm>
          <a:prstGeom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基准功率峰相位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 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历史增益5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方向由局部dφ/df决定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1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50、100 Hz/°各有1段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相位误差小但功率较低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P_Rm &lt; 0.95 P*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15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左图：K=5 Hz/°历史时序；右侧错误锁定计数来自全增益表。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正文三策略恢复计划书组合，统一验收仍是未完成项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计划书正式组合：固定频率／周期扫频／相位闭环    本次未运行新的统一闭环验收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648950" cy="2714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57375"/>
                <a:gridCol w="2333625"/>
                <a:gridCol w="2095500"/>
                <a:gridCol w="2266950"/>
                <a:gridCol w="209550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计划书策略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已有控制实现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已有时序证据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统一正式指标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本次状态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 MHz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离散局部寻峰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相位误差闭环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输入相位跟踪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增益试验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历史补充表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窗口／判据待统一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必须统一：源与模型、扰动日程、状态资格、功率参考、连续验收及扫描时间成本。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相位闭环表现不佳也是结果；扫描辅助P&amp;O作为第四种扩展方法，不替代计划策略。</a:t>
            </a:r>
          </a:p>
        </p:txBody>
      </p:sp>
      <p:sp>
        <p:nvSpPr>
          <p:cNvPr id="13" name="formal-status-subtitle">
            <a:extLst xmlns:a="http://schemas.openxmlformats.org/drawingml/2006/main">
              <a:ext uri="{FF2B5EF4-FFF2-40B4-BE49-F238E27FC236}">
                <a16:creationId xmlns:a16="http://schemas.microsoft.com/office/drawing/2014/main" id="{3AC9E0A2-2920-4F31-A500-B02D23B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已有相位表明确标注 NOT_FORMAL_RANKING；本页仅报告实现进展，正式排名待补齐。</a:t>
            </a:r>
          </a:p>
        </p:txBody>
      </p:sp>
      <p:sp>
        <p:nvSpPr>
          <p:cNvPr id="14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03828901-02FA-47F7-8CFC-D948FB9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52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覆盖缺口：34个静态登记场景，旧主控制序列仅含其中7个不同场景。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备份：已有真实历史GUI证据，须标明日期与覆盖场景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4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GUI副本cir/raw/log与当时记录哈希一致；本次没有重新运行或截取LTspice界面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历史基准：2026-08-15｜LTspice 26.0.2.1；非全部当前场景截图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备份：正式比较需冻结以下口径，尚未统一重跑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备份：修复引用并保留版本证据，不覆盖历史运行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10处失效引用已定位支撑材料；涉及9页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新修订清单与历史 evidence_manifest.csv 分开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旧清单154项：151一致，0丢失，3项修改；旧哈希不代表新文件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2">
            <a:extLst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4286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19050" cy="419100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4381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noGrp="1"/>
          </p:cNvSpPr>
          <p:nvPr/>
        </p:nvSpPr>
        <p:spPr>
          <a:xfrm>
            <a:off x="1562100" y="5619750"/>
            <a:ext cx="9048750" cy="476250"/>
          </a:xfrm>
          <a:prstGeom prst="roundRect">
            <a:avLst>
              <a:gd name="adj" fmla="val 12000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noGrp="1"/>
          </p:cNvSpPr>
          <p:nvPr/>
        </p:nvSpPr>
        <p:spPr>
          <a:xfrm>
            <a:off x="1885950" y="57150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DocSecurity>0</DocSecurity>
  <PresentationFormat>宽屏</PresentationFormat>
  <Paragraphs>1139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2026-09-04T14:36:59Z</dcterms:created>
  <dcterms:modified xsi:type="dcterms:W3CDTF">2026-09-09T17:20:53Z</dcterms:modified>
</cp:coreProperties>
</file>