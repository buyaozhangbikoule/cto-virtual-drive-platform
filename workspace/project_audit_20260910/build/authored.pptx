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3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a00bf5420246ad" /><Relationship Type="http://schemas.openxmlformats.org/officeDocument/2006/relationships/extended-properties" Target="/docProps/app.xml" Id="R42ac39e1ecd94250" /><Relationship Type="http://schemas.openxmlformats.org/officeDocument/2006/relationships/officeDocument" Target="/ppt/presentation.xml" Id="R74ea2d7c9dbe4a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84eb7eb086418c"/>
  </p:sldMasterIdLst>
  <p:notesMasterIdLst>
    <p:notesMasterId xmlns:r="http://schemas.openxmlformats.org/officeDocument/2006/relationships" r:id="Rb131a536fc514b0c"/>
  </p:notesMasterIdLst>
  <p:sldIdLst>
    <p:sldId xmlns:r="http://schemas.openxmlformats.org/officeDocument/2006/relationships" id="256" r:id="R76bb73e705c1448e"/>
    <p:sldId xmlns:r="http://schemas.openxmlformats.org/officeDocument/2006/relationships" id="257" r:id="R54934b866c3b4d31"/>
    <p:sldId xmlns:r="http://schemas.openxmlformats.org/officeDocument/2006/relationships" id="258" r:id="R21328716b8fd46f4"/>
    <p:sldId xmlns:r="http://schemas.openxmlformats.org/officeDocument/2006/relationships" id="259" r:id="R8fa33883f7214a38"/>
    <p:sldId xmlns:r="http://schemas.openxmlformats.org/officeDocument/2006/relationships" id="260" r:id="R425b81ce5b014be1"/>
    <p:sldId xmlns:r="http://schemas.openxmlformats.org/officeDocument/2006/relationships" id="261" r:id="R5fb903ce1848490b"/>
    <p:sldId xmlns:r="http://schemas.openxmlformats.org/officeDocument/2006/relationships" id="262" r:id="R5f42f7d5410e4445"/>
    <p:sldId xmlns:r="http://schemas.openxmlformats.org/officeDocument/2006/relationships" id="263" r:id="R8f5916ee9ca94e9c"/>
    <p:sldId xmlns:r="http://schemas.openxmlformats.org/officeDocument/2006/relationships" id="264" r:id="Rdd786f358cf14b4e"/>
    <p:sldId xmlns:r="http://schemas.openxmlformats.org/officeDocument/2006/relationships" id="265" r:id="R613ab107415748d9"/>
    <p:sldId xmlns:r="http://schemas.openxmlformats.org/officeDocument/2006/relationships" id="266" r:id="R75795165134b4223"/>
    <p:sldId xmlns:r="http://schemas.openxmlformats.org/officeDocument/2006/relationships" id="267" r:id="R5d31e84262a24e41"/>
    <p:sldId xmlns:r="http://schemas.openxmlformats.org/officeDocument/2006/relationships" id="268" r:id="R1c1be280e9564945"/>
    <p:sldId xmlns:r="http://schemas.openxmlformats.org/officeDocument/2006/relationships" id="269" r:id="R0584edad1e744644"/>
    <p:sldId xmlns:r="http://schemas.openxmlformats.org/officeDocument/2006/relationships" id="270" r:id="R46ad5f57a1044ea2"/>
    <p:sldId xmlns:r="http://schemas.openxmlformats.org/officeDocument/2006/relationships" id="271" r:id="R9edf3085ea7b484e"/>
    <p:sldId xmlns:r="http://schemas.openxmlformats.org/officeDocument/2006/relationships" id="272" r:id="R4d5f800ba89a419d"/>
    <p:sldId xmlns:r="http://schemas.openxmlformats.org/officeDocument/2006/relationships" id="273" r:id="Rac3a498fb6bd4331"/>
    <p:sldId xmlns:r="http://schemas.openxmlformats.org/officeDocument/2006/relationships" id="274" r:id="R583e3bfaa5414b35"/>
    <p:sldId xmlns:r="http://schemas.openxmlformats.org/officeDocument/2006/relationships" id="275" r:id="R73b07baf7c8f4417"/>
    <p:sldId xmlns:r="http://schemas.openxmlformats.org/officeDocument/2006/relationships" id="276" r:id="R32d3a9ff9edb471e"/>
    <p:sldId xmlns:r="http://schemas.openxmlformats.org/officeDocument/2006/relationships" id="277" r:id="Rcbaf79842c8b459c"/>
    <p:sldId xmlns:r="http://schemas.openxmlformats.org/officeDocument/2006/relationships" id="278" r:id="R306f1250cd1c4836"/>
    <p:sldId xmlns:r="http://schemas.openxmlformats.org/officeDocument/2006/relationships" id="279" r:id="Re7654ab066ee4441"/>
    <p:sldId xmlns:r="http://schemas.openxmlformats.org/officeDocument/2006/relationships" id="280" r:id="Raaff68979ef04416"/>
    <p:sldId xmlns:r="http://schemas.openxmlformats.org/officeDocument/2006/relationships" id="281" r:id="Re5240f2f20da4a36"/>
    <p:sldId xmlns:r="http://schemas.openxmlformats.org/officeDocument/2006/relationships" id="282" r:id="R8f1ee3e4a4dd4d80"/>
    <p:sldId xmlns:r="http://schemas.openxmlformats.org/officeDocument/2006/relationships" id="283" r:id="R529a86f1ed944a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77d1f64b5b4f92" /><Relationship Type="http://schemas.openxmlformats.org/officeDocument/2006/relationships/slideMaster" Target="/ppt/slideMasters/slideMaster1.xml" Id="R9184eb7eb086418c" /><Relationship Type="http://schemas.openxmlformats.org/officeDocument/2006/relationships/notesMaster" Target="/ppt/notesMasters/notesMaster1.xml" Id="Rb131a536fc514b0c" /><Relationship Type="http://schemas.openxmlformats.org/officeDocument/2006/relationships/presProps" Target="/ppt/presProps.xml" Id="R4c33fef5e3ad487b" /><Relationship Type="http://schemas.openxmlformats.org/officeDocument/2006/relationships/viewProps" Target="/ppt/viewProps.xml" Id="R43cea75366c94a49" /><Relationship Type="http://schemas.openxmlformats.org/officeDocument/2006/relationships/tableStyles" Target="/ppt/tableStyles.xml" Id="R47a9928f1255411e" /><Relationship Type="http://schemas.openxmlformats.org/officeDocument/2006/relationships/slide" Target="/ppt/slides/slide1.xml" Id="R76bb73e705c1448e" /><Relationship Type="http://schemas.openxmlformats.org/officeDocument/2006/relationships/slide" Target="/ppt/slides/slide2.xml" Id="R54934b866c3b4d31" /><Relationship Type="http://schemas.openxmlformats.org/officeDocument/2006/relationships/slide" Target="/ppt/slides/slide3.xml" Id="R21328716b8fd46f4" /><Relationship Type="http://schemas.openxmlformats.org/officeDocument/2006/relationships/slide" Target="/ppt/slides/slide4.xml" Id="R8fa33883f7214a38" /><Relationship Type="http://schemas.openxmlformats.org/officeDocument/2006/relationships/slide" Target="/ppt/slides/slide5.xml" Id="R425b81ce5b014be1" /><Relationship Type="http://schemas.openxmlformats.org/officeDocument/2006/relationships/slide" Target="/ppt/slides/slide6.xml" Id="R5fb903ce1848490b" /><Relationship Type="http://schemas.openxmlformats.org/officeDocument/2006/relationships/slide" Target="/ppt/slides/slide7.xml" Id="R5f42f7d5410e4445" /><Relationship Type="http://schemas.openxmlformats.org/officeDocument/2006/relationships/slide" Target="/ppt/slides/slide8.xml" Id="R8f5916ee9ca94e9c" /><Relationship Type="http://schemas.openxmlformats.org/officeDocument/2006/relationships/slide" Target="/ppt/slides/slide9.xml" Id="Rdd786f358cf14b4e" /><Relationship Type="http://schemas.openxmlformats.org/officeDocument/2006/relationships/slide" Target="/ppt/slides/slide10.xml" Id="R613ab107415748d9" /><Relationship Type="http://schemas.openxmlformats.org/officeDocument/2006/relationships/slide" Target="/ppt/slides/slide11.xml" Id="R75795165134b4223" /><Relationship Type="http://schemas.openxmlformats.org/officeDocument/2006/relationships/slide" Target="/ppt/slides/slide12.xml" Id="R5d31e84262a24e41" /><Relationship Type="http://schemas.openxmlformats.org/officeDocument/2006/relationships/slide" Target="/ppt/slides/slide13.xml" Id="R1c1be280e9564945" /><Relationship Type="http://schemas.openxmlformats.org/officeDocument/2006/relationships/slide" Target="/ppt/slides/slide14.xml" Id="R0584edad1e744644" /><Relationship Type="http://schemas.openxmlformats.org/officeDocument/2006/relationships/slide" Target="/ppt/slides/slide15.xml" Id="R46ad5f57a1044ea2" /><Relationship Type="http://schemas.openxmlformats.org/officeDocument/2006/relationships/slide" Target="/ppt/slides/slide16.xml" Id="R9edf3085ea7b484e" /><Relationship Type="http://schemas.openxmlformats.org/officeDocument/2006/relationships/slide" Target="/ppt/slides/slide17.xml" Id="R4d5f800ba89a419d" /><Relationship Type="http://schemas.openxmlformats.org/officeDocument/2006/relationships/slide" Target="/ppt/slides/slide18.xml" Id="Rac3a498fb6bd4331" /><Relationship Type="http://schemas.openxmlformats.org/officeDocument/2006/relationships/slide" Target="/ppt/slides/slide19.xml" Id="R583e3bfaa5414b35" /><Relationship Type="http://schemas.openxmlformats.org/officeDocument/2006/relationships/slide" Target="/ppt/slides/slide20.xml" Id="R73b07baf7c8f4417" /><Relationship Type="http://schemas.openxmlformats.org/officeDocument/2006/relationships/slide" Target="/ppt/slides/slide21.xml" Id="R32d3a9ff9edb471e" /><Relationship Type="http://schemas.openxmlformats.org/officeDocument/2006/relationships/slide" Target="/ppt/slides/slide22.xml" Id="Rcbaf79842c8b459c" /><Relationship Type="http://schemas.openxmlformats.org/officeDocument/2006/relationships/slide" Target="/ppt/slides/slide23.xml" Id="R306f1250cd1c4836" /><Relationship Type="http://schemas.openxmlformats.org/officeDocument/2006/relationships/slide" Target="/ppt/slides/slide24.xml" Id="Re7654ab066ee4441" /><Relationship Type="http://schemas.openxmlformats.org/officeDocument/2006/relationships/slide" Target="/ppt/slides/slide25.xml" Id="Raaff68979ef04416" /><Relationship Type="http://schemas.openxmlformats.org/officeDocument/2006/relationships/slide" Target="/ppt/slides/slide26.xml" Id="Re5240f2f20da4a36" /><Relationship Type="http://schemas.openxmlformats.org/officeDocument/2006/relationships/slide" Target="/ppt/slides/slide27.xml" Id="R8f1ee3e4a4dd4d80" /><Relationship Type="http://schemas.openxmlformats.org/officeDocument/2006/relationships/slide" Target="/ppt/slides/slide28.xml" Id="R529a86f1ed944a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4009bff7e44d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d161c26ce34003" /><Relationship Type="http://schemas.openxmlformats.org/officeDocument/2006/relationships/notesMaster" Target="/ppt/notesMasters/notesMaster1.xml" Id="Re0f22475d82149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3f86dcd8b34b96" /><Relationship Type="http://schemas.openxmlformats.org/officeDocument/2006/relationships/notesMaster" Target="/ppt/notesMasters/notesMaster1.xml" Id="Rbef2957c11a347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a0b1ead02348b7" /><Relationship Type="http://schemas.openxmlformats.org/officeDocument/2006/relationships/notesMaster" Target="/ppt/notesMasters/notesMaster1.xml" Id="R9fa246669e414c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767eb356154ddf" /><Relationship Type="http://schemas.openxmlformats.org/officeDocument/2006/relationships/notesMaster" Target="/ppt/notesMasters/notesMaster1.xml" Id="R28a63fbb002941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06914ce8ab4828" /><Relationship Type="http://schemas.openxmlformats.org/officeDocument/2006/relationships/notesMaster" Target="/ppt/notesMasters/notesMaster1.xml" Id="R4162b34a46f84e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46826c246d4fb0" /><Relationship Type="http://schemas.openxmlformats.org/officeDocument/2006/relationships/notesMaster" Target="/ppt/notesMasters/notesMaster1.xml" Id="R67848f0af70547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ad15443b624fd4" /><Relationship Type="http://schemas.openxmlformats.org/officeDocument/2006/relationships/notesMaster" Target="/ppt/notesMasters/notesMaster1.xml" Id="R4fce37271fb848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0cd5394dd04c0a" /><Relationship Type="http://schemas.openxmlformats.org/officeDocument/2006/relationships/notesMaster" Target="/ppt/notesMasters/notesMaster1.xml" Id="Rcc522bc585a147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94fb837b2f4096" /><Relationship Type="http://schemas.openxmlformats.org/officeDocument/2006/relationships/notesMaster" Target="/ppt/notesMasters/notesMaster1.xml" Id="R3e22f79001274e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77bb212ce644dc" /><Relationship Type="http://schemas.openxmlformats.org/officeDocument/2006/relationships/notesMaster" Target="/ppt/notesMasters/notesMaster1.xml" Id="Rbfde03c2715e4f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dafca04a9d4eba" /><Relationship Type="http://schemas.openxmlformats.org/officeDocument/2006/relationships/notesMaster" Target="/ppt/notesMasters/notesMaster1.xml" Id="Rb4bd6a37f0fa40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9e2c43fc22459e" /><Relationship Type="http://schemas.openxmlformats.org/officeDocument/2006/relationships/notesMaster" Target="/ppt/notesMasters/notesMaster1.xml" Id="R9f28c2e18d784c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29319497a34849" /><Relationship Type="http://schemas.openxmlformats.org/officeDocument/2006/relationships/notesMaster" Target="/ppt/notesMasters/notesMaster1.xml" Id="R37ab2138c66349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a59fb10f44406c" /><Relationship Type="http://schemas.openxmlformats.org/officeDocument/2006/relationships/notesMaster" Target="/ppt/notesMasters/notesMaster1.xml" Id="R6de0e355fa704e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f65ef1b52a4534" /><Relationship Type="http://schemas.openxmlformats.org/officeDocument/2006/relationships/notesMaster" Target="/ppt/notesMasters/notesMaster1.xml" Id="R7724f6553c7943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2e800b09cd4f1b" /><Relationship Type="http://schemas.openxmlformats.org/officeDocument/2006/relationships/notesMaster" Target="/ppt/notesMasters/notesMaster1.xml" Id="R16f79aea72aa45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bed108574064aad" /><Relationship Type="http://schemas.openxmlformats.org/officeDocument/2006/relationships/notesMaster" Target="/ppt/notesMasters/notesMaster1.xml" Id="R9963cbefe0754b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4143acdbd44f71" /><Relationship Type="http://schemas.openxmlformats.org/officeDocument/2006/relationships/notesMaster" Target="/ppt/notesMasters/notesMaster1.xml" Id="Rf384dd8380ec4c1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90a742d6806455c" /><Relationship Type="http://schemas.openxmlformats.org/officeDocument/2006/relationships/notesMaster" Target="/ppt/notesMasters/notesMaster1.xml" Id="R06957baa165f40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25f3b43846b458e" /><Relationship Type="http://schemas.openxmlformats.org/officeDocument/2006/relationships/notesMaster" Target="/ppt/notesMasters/notesMaster1.xml" Id="R377d3667e0ef4c1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4ec17096c7b472e" /><Relationship Type="http://schemas.openxmlformats.org/officeDocument/2006/relationships/notesMaster" Target="/ppt/notesMasters/notesMaster1.xml" Id="R6d32a36979784ea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a21aa8d04894187" /><Relationship Type="http://schemas.openxmlformats.org/officeDocument/2006/relationships/notesMaster" Target="/ppt/notesMasters/notesMaster1.xml" Id="R5d2c591e50ac44d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e920484847b4690" /><Relationship Type="http://schemas.openxmlformats.org/officeDocument/2006/relationships/notesMaster" Target="/ppt/notesMasters/notesMaster1.xml" Id="R562e2329124c4dc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554a8bb484849f7" /><Relationship Type="http://schemas.openxmlformats.org/officeDocument/2006/relationships/notesMaster" Target="/ppt/notesMasters/notesMaster1.xml" Id="Ra359af48aec342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8e4094448244964" /><Relationship Type="http://schemas.openxmlformats.org/officeDocument/2006/relationships/notesMaster" Target="/ppt/notesMasters/notesMaster1.xml" Id="R89703810f0e141b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37828e294ba4b34" /><Relationship Type="http://schemas.openxmlformats.org/officeDocument/2006/relationships/notesMaster" Target="/ppt/notesMasters/notesMaster1.xml" Id="R8e51872b5da3450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24048bb4518452b" /><Relationship Type="http://schemas.openxmlformats.org/officeDocument/2006/relationships/notesMaster" Target="/ppt/notesMasters/notesMaster1.xml" Id="R082cda02ce6c49b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c10841094d9407d" /><Relationship Type="http://schemas.openxmlformats.org/officeDocument/2006/relationships/notesMaster" Target="/ppt/notesMasters/notesMaster1.xml" Id="Ra98ed18e9e0b49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【建议时长】20 秒</a:t>
            </a:r>
          </a:p>
          <a:p xmlns:a="http://schemas.openxmlformats.org/drawingml/2006/main">
            <a:r>
              <a:t>【本页结论】本月已有假设BVD电学建模、匹配、扰动与控制原型证据；原计划统一三策略验收尚待完成，不是实物或临床验证。</a:t>
            </a:r>
            <a:endParaRPr/>
          </a:p>
          <a:p xmlns:a="http://schemas.openxmlformats.org/drawingml/2006/main">
            <a:r>
              <a:t>【逐字讲稿】各位老师好，我汇报的题目是CTO超声换能器虚拟阻抗建模与自适应驱动控制。第一月工作的核心不是宣称已经得到真实换能器性能，而是建立一条可复现、可审计的虚拟电学链路：从BVD等效电路、L型匹配、参数扰动，到选频、保护和控制策略比较。全篇数值均按文献参考值、假设基线值或扫描变量分类；结构声场、实物换能器和临床结论不在本月证据范围内。</a:t>
            </a:r>
          </a:p>
          <a:p xmlns:a="http://schemas.openxmlformats.org/drawingml/2006/main">
            <a:r>
              <a:t>【看图顺序】先报题目，再主动声明模型边界，最后给出本月主线。</a:t>
            </a:r>
            <a:endParaRPr/>
          </a:p>
          <a:p xmlns:a="http://schemas.openxmlformats.org/drawingml/2006/main">
            <a:r>
              <a:t>【口径与限制】“CTO”只是应用背景；当前结论仅属于特定小信号线性电学模型。</a:t>
            </a:r>
          </a:p>
          <a:p xmlns:a="http://schemas.openxmlformats.org/drawingml/2006/main">
            <a:r>
              <a:t>【教授可能追问】你现在做的是器械设计、软件平台，还是理论模型？</a:t>
            </a:r>
            <a:endParaRPr/>
          </a:p>
          <a:p xmlns:a="http://schemas.openxmlformats.org/drawingml/2006/main">
            <a:r>
              <a:t>【建议回答】当前是可调参数的虚拟电学仿真与控制原型平台。它能生成可复现数据和控制比较，但尚不是完整功放、结构声场模型或临床器械。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  <a:endParaRPr/>
          </a:p>
          <a:p xmlns:a="http://schemas.openxmlformats.org/drawingml/2006/main">
            <a:r>
              <a:t>- D:/微信文件/WeChat Files/wxid_f86c1kdajuft12/FileStorage/File/2026-08/CTO超声换能器虚拟阻抗建模与自适应驱动控制_第一月计划书.docx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>【本页结论】研究问题是负载等效参数漂移后，如何重新找到受约束的高功率工作点。</a:t>
            </a:r>
            <a:endParaRPr/>
          </a:p>
          <a:p xmlns:a="http://schemas.openxmlformats.org/drawingml/2006/main">
            <a:r>
              <a:t>【逐字讲稿】项目从一个具体问题出发：换能器等效谐振频率、静态电容或机械损耗变化后，固定0.9 MHz可能偏离当前场景的安全功率峰。为此我把问题拆成五段：BVD给出负载频响；L型网络完成基线窄带匹配；扰动模块改变单一或组合参数；虚拟测量计算阻抗、相位和功率；控制器在0.8到1.0 MHz内选频，并由保护状态机限制幅度。这里优化目标是当前场景的电学有功功率代理，同时满足电压和电流约束。</a:t>
            </a:r>
          </a:p>
          <a:p xmlns:a="http://schemas.openxmlformats.org/drawingml/2006/main">
            <a:r>
              <a:t>【看图顺序】沿流程箭头从左到右讲；强调“先模型、后扰动、再控制”。</a:t>
            </a:r>
            <a:endParaRPr/>
          </a:p>
          <a:p xmlns:a="http://schemas.openxmlformats.org/drawingml/2006/main">
            <a:r>
              <a:t>【口径与限制】最大化的是模型内电学功率代理，不是声功率或治疗效果。</a:t>
            </a:r>
          </a:p>
          <a:p xmlns:a="http://schemas.openxmlformats.org/drawingml/2006/main">
            <a:r>
              <a:t>【教授可能追问】为什么不直接用相位等于零作为谐振点？</a:t>
            </a:r>
            <a:endParaRPr/>
          </a:p>
          <a:p xmlns:a="http://schemas.openxmlformats.org/drawingml/2006/main">
            <a:r>
              <a:t>【建议回答】因为匹配网络改变了测量端口，而且最小相位、最小反射和最大功率对应不同目标函数；后续扫频结果显示它们不总是重合。</a:t>
            </a:r>
          </a:p>
          <a:p xmlns:a="http://schemas.openxmlformats.org/drawingml/2006/main">
            <a:r>
              <a:t>【模糊推测】真实负载变化可能表现为BVD参数漂移；具体病变或介质变化与各BVD参数的定量映射尚无实测标定。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  <a:endParaRPr/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>【本页结论】先消除旧参数的物理冲突，再把v2.1参数明确降格为假设基线。</a:t>
            </a:r>
            <a:endParaRPr/>
          </a:p>
          <a:p xmlns:a="http://schemas.openxmlformats.org/drawingml/2006/main">
            <a:r>
              <a:t>【逐字讲稿】这一页是模型自洽性审计。100 Vpp正弦电压对应35.36 V RMS。如果换能器在0.9 MHz正好处于串联谐振且运动支路电阻只有100欧姆，那么电流约353.6 mA RMS、耗散约12.5 W，这与约5 mA和0.1到0.17 W完全冲突。因此不能同时保留这些条件。v2.1采用反向约束：在100 Vpp、约5 mA的假设工作点附近令端口阻抗约7.07 kΩ，并得到Rm约7.353 kΩ等一组假设参数。它们只用于验证流程和控制逻辑，不能写成真实器件参数。</a:t>
            </a:r>
          </a:p>
          <a:p xmlns:a="http://schemas.openxmlformats.org/drawingml/2006/main">
            <a:r>
              <a:t>【看图顺序】先读左侧三行换算，再指出矛盾，最后读右侧v2.1假设基线。</a:t>
            </a:r>
            <a:endParaRPr/>
          </a:p>
          <a:p xmlns:a="http://schemas.openxmlformats.org/drawingml/2006/main">
            <a:r>
              <a:t>【口径与限制】功率上限0.1768 VA来自视在功率；实际有功功率还要乘功率因数。</a:t>
            </a:r>
          </a:p>
          <a:p xmlns:a="http://schemas.openxmlformats.org/drawingml/2006/main">
            <a:r>
              <a:t>【教授可能追问】为什么把Rm设到千欧量级，是否符合真实换能器？</a:t>
            </a:r>
            <a:endParaRPr/>
          </a:p>
          <a:p xmlns:a="http://schemas.openxmlformats.org/drawingml/2006/main">
            <a:r>
              <a:t>【建议回答】它是满足本次电压、电流量级约束的数学假设，不声称符合真实器件。下一阶段必须用阻抗分析仪数据拟合BVD参数。</a:t>
            </a:r>
          </a:p>
          <a:p xmlns:a="http://schemas.openxmlformats.org/drawingml/2006/main">
            <a:r>
              <a:t>【模糊推测】无；本页是单位换算和模型内代数一致性。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  <a:endParaRPr/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>【本页结论】解析模型与LTspice网表在同一拓扑和参数下实现一致。</a:t>
            </a:r>
            <a:endParaRPr/>
          </a:p>
          <a:p xmlns:a="http://schemas.openxmlformats.org/drawingml/2006/main">
            <a:r>
              <a:t>【逐字讲稿】阶段一先做裸BVD验证，频率范围0.5到1.5 MHz，共100001个点，对应10 Hz网格。Python按复阻抗公式直接计算，LTspice用AC小信号网表求解。两条曲线在图上重合，最大阻抗幅值相对误差约1.36乘10的负7次方，峰位差小于一个10 Hz网格。这个结果证明两套实现对同一电路的计算一致；它只验证代码和网表，没有验证假设参数代表真实换能器。</a:t>
            </a:r>
          </a:p>
          <a:p xmlns:a="http://schemas.openxmlformats.org/drawingml/2006/main">
            <a:r>
              <a:t>【看图顺序】先说明扫描设置，再看曲线重合，最后读误差框和结论边界。</a:t>
            </a:r>
            <a:endParaRPr/>
          </a:p>
          <a:p xmlns:a="http://schemas.openxmlformats.org/drawingml/2006/main">
            <a:r>
              <a:t>【口径与限制】峰位差“小于10 Hz”受离散网格限制，不能解读为器件频率精度。</a:t>
            </a:r>
          </a:p>
          <a:p xmlns:a="http://schemas.openxmlformats.org/drawingml/2006/main">
            <a:r>
              <a:t>【教授可能追问】为什么误差这么小，是否存在同源公式自证？</a:t>
            </a:r>
            <a:endParaRPr/>
          </a:p>
          <a:p xmlns:a="http://schemas.openxmlformats.org/drawingml/2006/main">
            <a:r>
              <a:t>【建议回答】Python与LTspice是独立求解路径，但拓扑与参数来自同一配置。极小误差说明实现一致，仍需实测数据做外部有效性验证。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  <a:endParaRPr/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>【本页结论】在0.9000 MHz、同一校准戴维南源和50 Ω源阻抗条件下，v2.1有损L型匹配使P_Rm达到未匹配时的约32.8倍。</a:t>
            </a:r>
            <a:endParaRPr/>
          </a:p>
          <a:p xmlns:a="http://schemas.openxmlformats.org/drawingml/2006/main">
            <a:r>
              <a:t>【逐字讲稿】这一页比较匹配网络本身带来的变化。全部曲线使用同一个冻结戴维南源，源电压约6.217 V RMS，源阻抗50欧姆。这里的6.217 V是理想源的有效值，100 Vpp则是加入有损匹配后在0.9 MHz得到的换能器端电压，二者测量位置和单位都不同。上图灰色虚线表示未匹配，橙色实线表示v2.1有损匹配，蓝色点线是理想无额外寄生损耗的匹配参考。在相同的0.9000 MHz处，P_Rm从5.186毫瓦提高到170.0毫瓦，约为原来的32.8倍。下图显示匹配网络输入端的反射代理，其定义使用50欧姆实参考阻抗。当前曲线来自已保存的LTspice频域结果，按线性模型的源幅度平方关系换算到统一的校准源条件。P_Rm表示BVD机械支路电阻的有功耗散，不能直接等同于声功率。</a:t>
            </a:r>
          </a:p>
          <a:p xmlns:a="http://schemas.openxmlformats.org/drawingml/2006/main">
            <a:r>
              <a:t>【看图顺序】先读源条件。上图在0.9000 MHz比较未匹配与有损匹配的功率。再看下图输入反射代理。最后区分源电压和换能器端电压。</a:t>
            </a:r>
            <a:endParaRPr/>
          </a:p>
          <a:p xmlns:a="http://schemas.openxmlformats.org/drawingml/2006/main">
            <a:r>
              <a:t>【数值口径】计算使用Vs=6.217360894531728 V RMS，Rs=50 Ω，显示时将Vs取为6.217。已保存的1 V RMS源数据统一乘Vs²=38.65557649285237得到当前功率。未匹配5.186363126 mW，有损匹配169.999953760 mW，比值32.778258990。归一化的0.134168562 mW和4.397811886 mW仅用于换算说明，不与当前工作点交叉比较。</a:t>
            </a:r>
          </a:p>
          <a:p xmlns:a="http://schemas.openxmlformats.org/drawingml/2006/main">
            <a:r>
              <a:t>【电压位置】本页100 Vpp、约5 mA RMS仅描述有损匹配在0.9000 MHz的换能器端工作点，不表示全频段端电压恒定，也不是戴维南源电压。全部曲线冻结同一源参数，没有逐频调整源幅度。</a:t>
            </a:r>
            <a:endParaRPr/>
          </a:p>
          <a:p xmlns:a="http://schemas.openxmlformats.org/drawingml/2006/main">
            <a:r>
              <a:t>【反射代理】Gamma=abs((Zin-50)/(Zin+50))，Zin为源电阻之后、匹配网络输入端阻抗。线性模型下该代理不随整体源幅度缩放而变化。它不是反射功率的瓦特值。</a:t>
            </a:r>
          </a:p>
          <a:p xmlns:a="http://schemas.openxmlformats.org/drawingml/2006/main">
            <a:r>
              <a:t>【参数与限制】Lmatch约106.726 μH，Cmatch约283.599 pF，实际有损网络另含ESR。此处使用假设BVD模型参数，非实测。32.8倍是该工作点的P_Rm比值，不能解释为电声效率增益或临床效应。</a:t>
            </a:r>
            <a:endParaRPr/>
          </a:p>
          <a:p xmlns:a="http://schemas.openxmlformats.org/drawingml/2006/main">
            <a:r>
              <a:t>【教授可能追问】为什么1 V RMS仿真结果能换算到约6.217 V RMS？</a:t>
            </a:r>
          </a:p>
          <a:p xmlns:a="http://schemas.openxmlformats.org/drawingml/2006/main">
            <a:r>
              <a:t>【建议回答】当前电路为线性AC模型，全部电压和电流相量随源幅度成比例，复功率随源幅度平方变化。对所有电路统一使用同一个幅度系数，阻抗、相位和反射代理不变。170 mW对应校准后的源条件，不能标成1 V RMS源条件的直接结果。</a:t>
            </a:r>
            <a:endParaRPr/>
          </a:p>
          <a:p xmlns:a="http://schemas.openxmlformats.org/drawingml/2006/main">
            <a:r>
              <a:t>【模糊推测】本页不对P_Rm与实际声功率的关系作定量推测。该关系尚需机电声耦合模型和实验标定验证。</a:t>
            </a:r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>C:/Users/24739/Documents/Codex/2026-08-10/new-chat/outputs/v2_self_consistent_rebuild/stage2_matching/stage2_匹配前后特征汇总.csv</a:t>
            </a:r>
            <a:endParaRPr/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>【本页结论】匹配指标必须明确测点：本页讨论戴维南源看到的匹配网络输入阻抗Zin。</a:t>
            </a:r>
            <a:endParaRPr/>
          </a:p>
          <a:p xmlns:a="http://schemas.openxmlformats.org/drawingml/2006/main">
            <a:r>
              <a:t>【逐字讲稿】这一页专门统一阻抗和相位测点。匹配前，源看到的网络输入阻抗约为6800减j1939欧姆。理想匹配在0.9 MHz附近接近50欧姆；加入电感损耗后得到56.686减j1.067欧姆，也就是56.70欧姆、相位约负1.08度。这里的相位是匹配网络输入相位arg Zin，不是换能器BVD端口相位。两者中间隔着匹配网络，所以数值可以明显不同。后面的相位闭环试验也使用arg Zin，并以基准安全功率峰处的负1.0782度为目标。</a:t>
            </a:r>
          </a:p>
          <a:p xmlns:a="http://schemas.openxmlformats.org/drawingml/2006/main">
            <a:r>
              <a:t>【看图顺序】先指出测点位置，再比较匹配前、理想匹配和有损匹配三个复阻抗。</a:t>
            </a:r>
            <a:endParaRPr/>
          </a:p>
          <a:p xmlns:a="http://schemas.openxmlformats.org/drawingml/2006/main">
            <a:r>
              <a:t>【口径与限制】50欧姆是本次假设的戴维南源阻抗，待真实驱动链路确认。</a:t>
            </a:r>
          </a:p>
          <a:p xmlns:a="http://schemas.openxmlformats.org/drawingml/2006/main">
            <a:r>
              <a:t>【教授可能追问】为什么换能器端口相位约负16度，而这里接近零？</a:t>
            </a:r>
            <a:endParaRPr/>
          </a:p>
          <a:p xmlns:a="http://schemas.openxmlformats.org/drawingml/2006/main">
            <a:r>
              <a:t>【建议回答】匹配电感和电容补偿了负载的虚部；源侧Zin相位接近零不意味着换能器自身端口阻抗相位也接近零。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C:/Users/24739/Documents/Codex/2026-08-10/new-chat/CTO_virtual_drive_platform_v2_1/evidence/ltspice/stage2/stage2_audit.json</a:t>
            </a:r>
            <a:endParaRPr/>
          </a:p>
          <a:p xmlns:a="http://schemas.openxmlformats.org/drawingml/2006/main">
            <a:r>
              <a:t>- C:/Users/24739/Documents/Codex/2026-08-10/new-chat/outputs/v2_self_consistent_rebuild/active_stage3_5/model_v2_1.py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>【本页结论】单因素扫描把“谁引起峰移、谁改变峰形”从组合失配中分离出来。</a:t>
            </a:r>
            <a:endParaRPr/>
          </a:p>
          <a:p xmlns:a="http://schemas.openxmlformats.org/drawingml/2006/main">
            <a:r>
              <a:t>【逐字讲稿】这张三层柱图分别给出峰值频率偏移、峰高变化和半高宽变化。最明显的峰位变化来自串联谐振频率下降：fs减5%使冻结源功率峰约下移45.2 kHz。Rm增加50%时峰位基本不变，但峰高下降约6.36%、半高宽增加约26.5%。匹配电感和电感Q变化主要改变峰高与峰宽，并可能造成小量峰移。C0在本次范围内对功率峰影响很小，所以柱几乎贴近零；这不是没有计算，而是曲线高度重合。</a:t>
            </a:r>
          </a:p>
          <a:p xmlns:a="http://schemas.openxmlformats.org/drawingml/2006/main">
            <a:r>
              <a:t>【看图顺序】从上到下：峰位、峰高、峰宽；每层只点出影响最大的两个因素。</a:t>
            </a:r>
            <a:endParaRPr/>
          </a:p>
          <a:p xmlns:a="http://schemas.openxmlformats.org/drawingml/2006/main">
            <a:r>
              <a:t>【口径与限制】所有百分比都相对于v2.1基线，并在同一冻结源和匹配网络下计算。</a:t>
            </a:r>
          </a:p>
          <a:p xmlns:a="http://schemas.openxmlformats.org/drawingml/2006/main">
            <a:r>
              <a:t>【教授可能追问】为什么图里有的因素没有明显柱形？</a:t>
            </a:r>
            <a:endParaRPr/>
          </a:p>
          <a:p xmlns:a="http://schemas.openxmlformats.org/drawingml/2006/main">
            <a:r>
              <a:t>【建议回答】数值接近零或被纵轴量程压缩。精确值在趋势表和场景CSV中，不能把视觉上看不见误认为没有仿真。</a:t>
            </a:r>
          </a:p>
          <a:p xmlns:a="http://schemas.openxmlformats.org/drawingml/2006/main">
            <a:r>
              <a:t>【模糊推测】真实器件中C0影响可能更强，取决于其实际量级、匹配拓扑和寄生参数；本页不能外推。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C:/Users/24739/Documents/Codex/2026-08-10/new-chat/CTO_virtual_drive_platform_v2_1/results/tables/stage3_disturbance/stage3_trend_table.csv</a:t>
            </a:r>
            <a:endParaRPr/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  <a:p xmlns:a="http://schemas.openxmlformats.org/drawingml/2006/main">
            <a:r>
              <a:t>【2026-09-10派生字段修正】Rm-only固定Lm、Cm，Qm随Rm增大下降。此前登记仍为800属于派生字段错误。三档已改为695.6522、615.3846、533.3333；回归确认曲线与功率未改变，不需用暗改Lm来保持Qm。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>【本页结论】Cm-only正式扫描显示峰位按1/√Cm规律下移，但派生fs与Qm会同步变化。</a:t>
            </a:r>
            <a:endParaRPr/>
          </a:p>
          <a:p xmlns:a="http://schemas.openxmlformats.org/drawingml/2006/main">
            <a:r>
              <a:t>【逐字讲稿】这里补齐机械支路电容Cm的独立元件扫描。基线峰为0.9000 MHz、170.0 mW；Cm增加5%、10%和20%后，峰位分别约为0.8781、0.8579和0.8214 MHz，峰高分别约164.3、144.3和96.4 mW。总峰移约负78.6 kHz，峰高下降约43.3%。方向与串联谐振频率反比于Cm平方根一致。需要特别说明：这是原始元件层面的Cm-only；因为Lm和Rm被冻结，派生的fs和Qm并不保持不变。未保护的全频a=1扫描还存在Vpp超过160 V的区间，所以安全控制不能直接照搬离线曲线。</a:t>
            </a:r>
          </a:p>
          <a:p xmlns:a="http://schemas.openxmlformats.org/drawingml/2006/main">
            <a:r>
              <a:t>【看图顺序】先沿不同颜色找峰位置，再读右侧峰移和峰高摘要，最后说明下方电压电流限制。</a:t>
            </a:r>
            <a:endParaRPr/>
          </a:p>
          <a:p xmlns:a="http://schemas.openxmlformats.org/drawingml/2006/main">
            <a:r>
              <a:t>【口径与限制】峰值频率按0.1 kHz扫描分辨率保留4位MHz；更高小数不代表更高测量精度。</a:t>
            </a:r>
          </a:p>
          <a:p xmlns:a="http://schemas.openxmlformats.org/drawingml/2006/main">
            <a:r>
              <a:t>【教授可能追问】Cm-only为什么不等于只改变谐振频率？</a:t>
            </a:r>
            <a:endParaRPr/>
          </a:p>
          <a:p xmlns:a="http://schemas.openxmlformats.org/drawingml/2006/main">
            <a:r>
              <a:t>【建议回答】元件只改Cm，但fs=1/(2π√LmCm)、Qm=ωsLm/Rm，因此派生量会变化。若要纯fs扰动，应按约束联合重算Lm和Cm。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C:/Users/24739/Documents/Codex/2026-08-10/new-chat/CTO_virtual_drive_platform_v2_1/results/tables/stage3_disturbance/stage3_cm_only_power_safety_summary.csv</a:t>
            </a:r>
            <a:endParaRPr/>
          </a:p>
          <a:p xmlns:a="http://schemas.openxmlformats.org/drawingml/2006/main">
            <a:r>
              <a:t>- C:/Users/24739/Documents/Codex/2026-08-10/new-chat/CTO_virtual_drive_platform_v2_1/figures/stage3_disturbance/cm_only/stage3_07_cm_only_power_and_electrical_limits.png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>【本页结论】高Qm提高频率选择性，但并不自动代表系统整体更优。</a:t>
            </a:r>
            <a:endParaRPr/>
          </a:p>
          <a:p xmlns:a="http://schemas.openxmlformats.org/drawingml/2006/main">
            <a:r>
              <a:t>【逐字讲稿】Qm敏感性采用500、800、1000三档，并保持fs、Rm和C0不变，通过重新计算Lm和Cm实现。三档峰高都约为170 mW，但半高宽从3.451 kHz缩小到2.144和1.713 kHz。也就是说，高Qm使功率峰更尖，对扫频步长、频率噪声和控制驻留时间提出更严格要求。这里不能把高Q简单解释为系统更好，因为窄峰可能降低扰动后的捕获鲁棒性。</a:t>
            </a:r>
          </a:p>
          <a:p xmlns:a="http://schemas.openxmlformats.org/drawingml/2006/main">
            <a:r>
              <a:t>【看图顺序】先看上方功率峰变窄，再看下方阻抗细节，最后读右侧FWHM数值。</a:t>
            </a:r>
            <a:endParaRPr/>
          </a:p>
          <a:p xmlns:a="http://schemas.openxmlformats.org/drawingml/2006/main">
            <a:r>
              <a:t>【口径与限制】三档是敏感性变体，不是三个实测器件。</a:t>
            </a:r>
          </a:p>
          <a:p xmlns:a="http://schemas.openxmlformats.org/drawingml/2006/main">
            <a:r>
              <a:t>【教授可能追问】为什么峰高基本不变、峰宽却变化？</a:t>
            </a:r>
            <a:endParaRPr/>
          </a:p>
          <a:p xmlns:a="http://schemas.openxmlformats.org/drawingml/2006/main">
            <a:r>
              <a:t>【建议回答】本扫描固定了基准峰处的关键阻性量和谐振频率，Qm主要改变频率选择性，因此峰宽变化更明显。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C:/Users/24739/Documents/Codex/2026-08-10/new-chat/CTO_virtual_drive_platform_v2_1/results/tables/stage3_disturbance/stage3_Qm_500_800_1000_summary.csv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>【本页结论】最大功率、最小绝对相位和最小反射代理是三个不同优化问题。</a:t>
            </a:r>
            <a:endParaRPr/>
          </a:p>
          <a:p xmlns:a="http://schemas.openxmlformats.org/drawingml/2006/main">
            <a:r>
              <a:t>【逐字讲稿】在每个场景中我先做0.84到0.96 MHz的离线局部扫频，并分别寻找三个特征点。基准场景下，最大功率和最小反射都在约0.900 MHz，而最小绝对输入相位在约0.907 MHz。fs减5%场景在0.5 kHz网格上，最大功率为0.8550 MHz，但最小相位仍在0.9045 MHz，相差49.5 kHz。这里0.8550是粗网格选点；更高分辨率复算得到0.8548 MHz，两者不矛盾。因此相位闭环若以0度为目标，可能锁到低功率点。</a:t>
            </a:r>
          </a:p>
          <a:p xmlns:a="http://schemas.openxmlformats.org/drawingml/2006/main">
            <a:r>
              <a:t>【看图顺序】先看基准三点是否重合，再看扰动场景三点分离，最后读49.5 kHz差值。</a:t>
            </a:r>
            <a:endParaRPr/>
          </a:p>
          <a:p xmlns:a="http://schemas.openxmlformats.org/drawingml/2006/main">
            <a:r>
              <a:t>【口径与限制】图中的相位是匹配网络输入相位；反射量是50欧姆参考下的代理值，不是方向耦合器实测反射功率。</a:t>
            </a:r>
          </a:p>
          <a:p xmlns:a="http://schemas.openxmlformats.org/drawingml/2006/main">
            <a:r>
              <a:t>【教授可能追问】既然相位不可靠，为什么还保留相位控制？</a:t>
            </a:r>
            <a:endParaRPr/>
          </a:p>
          <a:p xmlns:a="http://schemas.openxmlformats.org/drawingml/2006/main">
            <a:r>
              <a:t>【建议回答】相位误差闭环是计划书规定的第三种正式比较方法。历史实现采用基准功率峰相位目标与局部斜率符号；它可能锁到较低功率点，这也是需要报告的结果。P&amp;O保留为第四种扩展方法，未统一评价前不宣称哪种总体更优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  <a:endParaRPr/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  <a:p xmlns:a="http://schemas.openxmlformats.org/drawingml/2006/main">
            <a:r>
              <a:t>【原图范围】两张图是原共享频率轴四联图的前两面板，原面板本身未重复标注横轴数值；本次补充共同0.84–0.96 MHz线性频率范围与0.5 kHz步长。图像像素不改动。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>【本页结论】采用宽窗口粗捕获、窄窗口细化，比固定单一网格更合理。</a:t>
            </a:r>
            <a:endParaRPr/>
          </a:p>
          <a:p xmlns:a="http://schemas.openxmlformats.org/drawingml/2006/main">
            <a:r>
              <a:t>【逐字讲稿】我比较了0.1、0.5、1和2 kHz步长，以及正负20、50和100 kHz窗口。窗口太窄时，真实峰落在窗外，步长再细也没有意义；窗口扩大后，点数和代理扫描时间增加。图中的时间按每点1.5 ms驻留计算，是算法比较用假设，不是硬件测得。当前代表性设置推荐正负50 kHz、1 kHz步长，共101点、约152 ms代理时间；但汇总表显示它并不能保证覆盖所有极端场景，正负100 kHz才覆盖本次完整场景集。因此控制器采用异常后较宽粗扫，再在候选峰附近缩窗细化。</a:t>
            </a:r>
          </a:p>
          <a:p xmlns:a="http://schemas.openxmlformats.org/drawingml/2006/main">
            <a:r>
              <a:t>【看图顺序】先看窗口是否漏峰，再看步长带来的误差，最后看扫描点数与时间。</a:t>
            </a:r>
            <a:endParaRPr/>
          </a:p>
          <a:p xmlns:a="http://schemas.openxmlformats.org/drawingml/2006/main">
            <a:r>
              <a:t>【口径与限制】1.5 ms每点是【假设控制参数】，真实扫描时间要由测量稳定时间和硬件通信延迟决定。</a:t>
            </a:r>
          </a:p>
          <a:p xmlns:a="http://schemas.openxmlformats.org/drawingml/2006/main">
            <a:r>
              <a:t>【教授可能追问】为什么最终不是直接用0.1 kHz、正负100 kHz？</a:t>
            </a:r>
            <a:endParaRPr/>
          </a:p>
          <a:p xmlns:a="http://schemas.openxmlformats.org/drawingml/2006/main">
            <a:r>
              <a:t>【建议回答】那样精度高但点数和时间开销大。分级扫描先保证捕获，再局部细化，能在覆盖率与代价之间折中。</a:t>
            </a:r>
          </a:p>
          <a:p xmlns:a="http://schemas.openxmlformats.org/drawingml/2006/main">
            <a:r>
              <a:t>【模糊推测】真实硬件的最优驻留时间可能显著不同，需用测量噪声和响应时间重新整定。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C:/Users/24739/Documents/Codex/2026-08-10/new-chat/CTO_virtual_drive_platform_v2_1/results/tables/stage3_selection/stage3_window_step_aggregate.csv</a:t>
            </a:r>
            <a:endParaRPr/>
          </a:p>
          <a:p xmlns:a="http://schemas.openxmlformats.org/drawingml/2006/main">
            <a:r>
              <a:t>- C:/Users/24739/Documents/Codex/2026-08-10/new-chat/CTO_virtual_drive_platform_v2_1/results/tables/stage3_selection/stage3_window_step_aggregate.csv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【建议时长】约65秒</a:t>
            </a:r>
          </a:p>
          <a:p xmlns:a="http://schemas.openxmlformats.org/drawingml/2006/main">
            <a:r>
              <a:t>【本页结论】fs−5%扰动后，三种策略均先发生保护动作。两种自适应策略随后低幅重扫并在新频率渐升幅度。</a:t>
            </a:r>
            <a:endParaRPr/>
          </a:p>
          <a:p xmlns:a="http://schemas.openxmlformats.org/drawingml/2006/main">
            <a:r>
              <a:t>【逐字讲稿】本页与当前第24页使用同一旧批次保存控制数据，重点看2.4到3.2秒的fs减5%扰动段。图中灰、蓝、红分别是固定频率、周期扫频和扫描辅助P&amp;O。上、中、下三图分别是换能器端电压、端口电流和源幅度命令a。扰动后，保护逻辑判断原驱动幅度不再满足模型约束，进入硬停机，幅度命令归零。之后是低幅保持和渐升。固定频率策略停留在0.9 MHz，最终受软限幅约束。两种自适应策略在软限幅稳定后，以a等于0.40顺序扫描，再在选中的新频率恢复幅度。扫描期间的电压、电流变化全部保留，不能把这些变化都解释为负载再次漂移。</a:t>
            </a:r>
          </a:p>
          <a:p xmlns:a="http://schemas.openxmlformats.org/drawingml/2006/main">
            <a:r>
              <a:t>【状态说明】左侧是本段保护过程的简化示意，不是完整状态转移图。HARD_TRIP硬保持约60 ms，RECOVERY_HOLD约100 ms，RAMP_UP每个控制步增加0.05幅度命令。SOFT_FOLDBACK稳定100 ms后允许低幅扫描。NORMAL表示控制器正常工作，不等于已通过连续稳态验收。</a:t>
            </a:r>
            <a:endParaRPr/>
          </a:p>
          <a:p xmlns:a="http://schemas.openxmlformats.org/drawingml/2006/main">
            <a:r>
              <a:t>【频率冻结口径】普通跟踪在硬停机、恢复保持和初始调幅过程中暂停。保护稳定后可以进行低幅扫描，因此不能说整段保护期间频率始终不变。</a:t>
            </a:r>
          </a:p>
          <a:p xmlns:a="http://schemas.openxmlformats.org/drawingml/2006/main">
            <a:r>
              <a:t>【读图提示】控制记录按time_s和duration_s作采样保持绘图，包含CONTROL、SCAN和P&amp;O参考/试探样本。淡色带标出本扰动段两次扫描的时间区间。不是示波器捕获的连续波形，也不重建采样间瞬态。</a:t>
            </a:r>
            <a:endParaRPr/>
          </a:p>
          <a:p xmlns:a="http://schemas.openxmlformats.org/drawingml/2006/main">
            <a:r>
              <a:t>【电压、电流边界】电压160 Vpp为用户给定的仿真硬边界。电流6 mA RMS硬限以及130 Vpp、5.5 mA RMS软限均为假设控制阈值。幅度a是戴维南源相对冻结基线的比例，不是端口电压本身。</a:t>
            </a:r>
          </a:p>
          <a:p xmlns:a="http://schemas.openxmlformats.org/drawingml/2006/main">
            <a:r>
              <a:t>【教授可能追问】为什么存在HARD_TRIP记录，但图中没有超过160 Vpp或6 mA？</a:t>
            </a:r>
            <a:endParaRPr/>
          </a:p>
          <a:p xmlns:a="http://schemas.openxmlformats.org/drawingml/2006/main">
            <a:r>
              <a:t>【建议回答】模型先评估当前幅度在扰动后的可允许范围，再保存保护处理后的输出。因此保护触发次数与保存样本硬越限次数是不同指标。图中没有越限，不能证明真实系统在采样和执行延迟期间没有过冲。</a:t>
            </a:r>
          </a:p>
          <a:p xmlns:a="http://schemas.openxmlformats.org/drawingml/2006/main">
            <a:r>
              <a:t>【模糊推测】本页没有对真实硬件保护速度或安全性作推测。阈值和时序常数是仿真假设。</a:t>
            </a:r>
            <a:endParaRPr/>
          </a:p>
          <a:p xmlns:a="http://schemas.openxmlformats.org/drawingml/2006/main">
            <a:r>
              <a:t>【数据来源】三页读取同一份已保存控制时序及其逐段、综合验收表。控制时序SHA256：a734eca013d415f7a875c2785068745cd80ad811d7284e893bbcd1e974c5f0a0。</a:t>
            </a:r>
          </a:p>
          <a:p xmlns:a="http://schemas.openxmlformats.org/drawingml/2006/main">
            <a:r>
              <a:t>【研究边界】假设BVD线性电学模型，离散准稳态仿真。无实测换能器、硬件闭环或声场安全性证明。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C:/Users/24739/Documents/Codex/2026-08-10/new-chat/ppt_control_fix_20260906/build/data/stage5_per_segment_metrics.csv</a:t>
            </a:r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C:/Users/24739/Documents/Codex/2026-08-10/new-chat/ppt_control_fix_20260906/build/data/stage4_5_audit.json</a:t>
            </a:r>
          </a:p>
          <a:p xmlns:a="http://schemas.openxmlformats.org/drawingml/2006/main">
            <a:r>
              <a:t>C:/Users/24739/Documents/Codex/2026-08-10/new-chat/ppt_control_fix_20260906/build/data/run_stage4_5_control.py</a:t>
            </a:r>
            <a:endParaRPr/>
          </a:p>
          <a:p xmlns:a="http://schemas.openxmlformats.org/drawingml/2006/main">
            <a:r>
              <a:t>【版本纠偏】本图保留旧批次a734eca013的固定／扫频／P&amp;O时序，只说明历史保护动作，不作为计划书固定／扫频／相位的正式比较。后续E01/E02已经在隔离实验中逐扫描点调用保护并同步幅度；尚不能把这一改进描述成正式主线已全部集成。</a:t>
            </a:r>
          </a:p>
          <a:p xmlns:a="http://schemas.openxmlformats.org/drawingml/2006/main">
            <a:r>
              <a:t>【计划书组合】本页属于历史示例或第四种P&amp;O扩展，正文正式三策略仍为固定／扫频／相位；不能以本页结果替代统一验收。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【逐字讲稿】当前控制并非只找峰，已经接入频率、电压、电流和幅度约束。但这里必须区分约束机制存在与硬安全已经证明。历史主线1795条保存记录中，电压最高130 Vpp、电流最高约5.124 mA，保存样本硬越限为零；这些是已知模型预览与保护处理后的准稳态结果，不等于采样间隙或实际瞬态永远不越限。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【实现缺口】旧主线扫描点与普通控制样本的保护调用仍不完全一致。E01/E02后续隔离实验已经修正这一点，但仍需正式集成与三策略回归。第23页后续候选的保持指令重放仍检出188.2 Vpp，因此不能宣称硬限完成。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约束合同】功率相对上限的分母及数值未冻结；反射代理目前用于检测，不是独立硬限。线性网络固定频率下，降幅不改变Zin和Gamma，不能把降幅等同于恢复匹配。若加入反射上限却无可行频点，需预先定义降额待机或停机，不得无限重扫后称为受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【答疑】独立PI不是必须；当前目标是最大功率，调频与安全降额是可研究的架构。无积分器时，积分饱和为不适用。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【模糊推测内容】补齐接口与延迟模型可能改善鲁棒性，效果尚待同条件仿真，不是本页已验证结论。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  <a:endParaRPr/>
          </a:p>
          <a:p xmlns:a="http://schemas.openxmlformats.org/drawingml/2006/main">
            <a:r>
              <a:t>C:/Users/24739/Documents/Codex/2026-08-10/new-chat/CTO_virtual_drive_platform_v2_1/results/audits/constrained_control_audit.json</a:t>
            </a:r>
          </a:p>
          <a:p xmlns:a="http://schemas.openxmlformats.org/drawingml/2006/main">
            <a:r>
              <a:t>C:/Users/24739/Documents/Codex/2026-08-10/new-chat/control_feasibility_20260907/run_experiments.py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【建议讲解时间】约90秒</a:t>
            </a:r>
          </a:p>
          <a:p xmlns:a="http://schemas.openxmlformats.org/drawingml/2006/main">
            <a:r>
              <a:t>【版本关系】本页更新为第三轮固定无PI候选的后续实验。完整版中的第12、24页仍保留此前同一次运行的历史对照，不能与本页拼成同一次运行的综合成绩。</a:t>
            </a:r>
            <a:endParaRPr/>
          </a:p>
          <a:p xmlns:a="http://schemas.openxmlformats.org/drawingml/2006/main">
            <a:r>
              <a:t>【讲稿】前面的版本已经找到了新的功率峰，但没有留下足够的连续合格样本。本页展示时序修正后的一个简单候选，采用扫描辅助P&amp;O，不加独立PI。等待参数为500毫秒，P&amp;O试探幅度上限0.9，重捕获扫描仍为0.4。图中保留全部保护、扫描和恢复动作。fs降低5%后，控制器在2.962秒出现首次合格NORMAL样本，在3.142秒确认第10个合格样本，本段最长连续12个，所以这一次满足原稳态窗口标准。</a:t>
            </a:r>
          </a:p>
          <a:p xmlns:a="http://schemas.openxmlformats.org/drawingml/2006/main">
            <a:r>
              <a:t>【讲稿续】但本段能量捕获率只有45.4%，因为前面的保护、搜索和恢复占用了输出时间。下面的电压图把负载切换发生在采样之间时，旧指令继续保持的区间也算进来，重放峰值188.2 Vpp，超过160 Vpp约1毫秒。这个结果说明稳态窗口通过了，但电学能量损失和硬限问题还没有解决。下一步固定这个候选，分别处理恢复余量与采样间隙风险，不继续叠加更多算法。</a:t>
            </a:r>
            <a:endParaRPr/>
          </a:p>
          <a:p xmlns:a="http://schemas.openxmlformats.org/drawingml/2006/main">
            <a:r>
              <a:t>【冻结条件】本段保持2.4至3.2秒，即0.8秒。门槛保持功率捕获率至少98%，CONTROL、NORMAL、频率未冻结、连续10个合格样本，相邻CONTROL间隔不超过30毫秒。硬限160 Vpp/6 mA RMS、异常检测与原保护保持时间不修改。6 mA RMS为本项目假设硬限，160 Vpp来自用户要求。</a:t>
            </a:r>
          </a:p>
          <a:p xmlns:a="http://schemas.openxmlformats.org/drawingml/2006/main">
            <a:r>
              <a:t>【指标定义】742毫秒是3.142减2.4，是第10个样本的确认延迟。10个20毫秒等间隔样本的首末跨度为180毫秒。本段最长连续12个，不表示全程保持高功率。</a:t>
            </a:r>
            <a:endParaRPr/>
          </a:p>
          <a:p xmlns:a="http://schemas.openxmlformats.org/drawingml/2006/main">
            <a:r>
              <a:t>【能量定义】本段能量捕获率为实际P_Rm在整个0.8秒区间的积分，除以本段安全最优P_Rm乘0.8秒。分母约140.2 mW，尾段100%不代表恢复到基准170.0 mW。积分包含所有保护、扫描、试探与恢复，也包含重放越限区间，不能称为完全安全的收益或源到负载效率。</a:t>
            </a:r>
          </a:p>
          <a:p xmlns:a="http://schemas.openxmlformats.org/drawingml/2006/main">
            <a:r>
              <a:t>【候选】B0_T500_A90_R2，第三轮0.8秒/段。T500是等待参数，不是实际两次试探起点间隔。R2是在原调度条件外，要求恢复后的正常等待和10个稳定样本，不读取离线最佳功率作为触发答案。该候选全序列稳态7/7不是全序列硬安全通过。</a:t>
            </a:r>
            <a:endParaRPr/>
          </a:p>
          <a:p xmlns:a="http://schemas.openxmlformats.org/drawingml/2006/main">
            <a:r>
              <a:t>【真实性与限制】本次只读取已经保存的数据、重建保持指令及更新PPT，没有重新运行控制器或LTspice。图为假设线性BVD离散准稳态结果，不是示波器、LTspice瞬态或实测器件波形。模型重放不能预测真实储能振铃，当前保护还利用准确模型预估。</a:t>
            </a:r>
          </a:p>
          <a:p xmlns:a="http://schemas.openxmlformats.org/drawingml/2006/main">
            <a:r>
              <a:t>【模糊推测内容】下一轮通过安全裕量或恢复时序调整能否消除越限、提高能量尚未验证，本页没有把这些计划写成已实现结果。</a:t>
            </a:r>
            <a:endParaRPr/>
          </a:p>
          <a:p xmlns:a="http://schemas.openxmlformats.org/drawingml/2006/main">
            <a:r>
              <a:t>【数据出处】时序SHA256：cdde9dab61a50f443c783d25f5fb87014214290ad71c1f9950de99ad5bb560a9。</a:t>
            </a:r>
          </a:p>
          <a:p xmlns:a="http://schemas.openxmlformats.org/drawingml/2006/main">
            <a:r>
              <a:t>C:\Users\24739\Documents\Codex\2026-08-10\new-chat\po_scheduling_20260909\results\B0_T500_A90_R2_dwell_0.8s\timeline.csv</a:t>
            </a:r>
            <a:endParaRPr/>
          </a:p>
          <a:p xmlns:a="http://schemas.openxmlformats.org/drawingml/2006/main">
            <a:r>
              <a:t>C:\Users\24739\Documents\Codex\2026-08-10\new-chat\po_scheduling_20260909\results\B0_T500_A90_R2_dwell_0.8s\config.json</a:t>
            </a:r>
          </a:p>
          <a:p xmlns:a="http://schemas.openxmlformats.org/drawingml/2006/main">
            <a:r>
              <a:t>C:\Users\24739\Documents\Codex\2026-08-10\new-chat\po_scheduling_20260909\results\B0_T500_A90_R2_dwell_0.8s\acceptance_and_energy.csv</a:t>
            </a:r>
            <a:endParaRPr/>
          </a:p>
          <a:p xmlns:a="http://schemas.openxmlformats.org/drawingml/2006/main">
            <a:r>
              <a:t>【计划书组合】本页属于历史示例或第四种P&amp;O扩展，正文正式三策略仍为固定／扫频／相位；不能以本页结果替代统一验收。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【建议讲解时间】约90秒</a:t>
            </a:r>
          </a:p>
          <a:p xmlns:a="http://schemas.openxmlformats.org/drawingml/2006/main">
            <a:r>
              <a:t>【版本关系】本页对原控制批次做评价口径修正，与第12页使用同一旧批次。第23页是第三轮后续无PI候选，本页三策略总表不是该候选的综合结果。</a:t>
            </a:r>
            <a:endParaRPr/>
          </a:p>
          <a:p xmlns:a="http://schemas.openxmlformats.org/drawingml/2006/main">
            <a:r>
              <a:t>【讲稿】前面提到周期扫频和扫描辅助P&amp;O的尾段误差是零，这个零有严格的样本范围。原指标优先选择每个扰动段后四分之一中的NORMAL、频率未冻结控制样本，缺少时采用程序规定的回退样本，再对7段求均值。因此，它没有完整计入前面的扫描、试探和保护恢复损失，也不表示连续稳态验收通过。</a:t>
            </a:r>
          </a:p>
          <a:p xmlns:a="http://schemas.openxmlformats.org/drawingml/2006/main">
            <a:r>
              <a:t>【讲稿续】为评价时间成本，我对相同0.8到6.4秒区间做了记录功率的采样保持积分，保留所有动作，以实际记录持续时间加权。固定频率加共同保护累积机械支路有功电能0.588焦耳，周期扫频0.474焦耳，扫描辅助P&amp;O 0.525焦耳。统一除以该扰动日程的安全最优电能约0.77568焦耳，对应75.8%、61.1%和67.7%。这表明在当前短扰动段和扫描设置下，重新寻峰与保护恢复的时间代价不可忽略。尾段达到最优，不保证累计电能最优。</a:t>
            </a:r>
            <a:endParaRPr/>
          </a:p>
          <a:p xmlns:a="http://schemas.openxmlformats.org/drawingml/2006/main">
            <a:r>
              <a:t>【结论边界】本批次固定频率的记录积分电能较高，但仍有较大的尾段误差和3个未通过段。周期扫频有2个未通过段，扫描辅助P&amp;O有3个。不能仅按一个指标宣布总体优劣，更不能把排序外推到其他模型、扰动持续时间或真实器件。</a:t>
            </a:r>
          </a:p>
          <a:p xmlns:a="http://schemas.openxmlformats.org/drawingml/2006/main">
            <a:r>
              <a:t>【积分方法】每条记录按[t_k,t_k+duration_k)保持p_rm_W，与[0.8,6.4)相交后的持续时间相乘再求和。三策略均覆盖5.6秒，记录区间无重叠和缺口。包含CONTROL、SCAN及P&amp;O参考与试探、保护降幅和停机记录。此处没有重新计算采样间隙内负载改变后的物理响应，不是第23页的保持指令跨扰动重放，不能用于证明硬限安全。</a:t>
            </a:r>
            <a:endParaRPr/>
          </a:p>
          <a:p xmlns:a="http://schemas.openxmlformats.org/drawingml/2006/main">
            <a:r>
              <a:t>【统一分母】按同一绝对扰动日程，7段各0.8秒：E_safe,opt = Σ_j P_safe,max,j ×0.8 = 0.775677342963 J。不能分别按各策略采样时刻的场景标签累加分母，否则会得到略有不同的比较基准。该比值既不是源到负载电学效率，也不是声学效率。</a:t>
            </a:r>
          </a:p>
          <a:p xmlns:a="http://schemas.openxmlformats.org/drawingml/2006/main">
            <a:r>
              <a:t>【尾段误差回退规则】优先使用该段末25%内的NORMAL且频率未冻结CONTROL样本；若为空，取该段最后5个符合上述状态的CONTROL样本；仍为空，取最后5个CONTROL样本。每段计算100×(1−平均功率捕获率)，再对初始基准之后的7段等权平均。0.00%为显示精度下的尾段指标。</a:t>
            </a:r>
            <a:endParaRPr/>
          </a:p>
          <a:p xmlns:a="http://schemas.openxmlformats.org/drawingml/2006/main">
            <a:r>
              <a:t>【原恢复指标备查】固定345.7 ms，周期扫频409.0 ms，P&amp;O 458.9 ms。旧指标为成功段合格序列起点延迟，未通过段计800 ms后求均值；不是第10个样本的验收确认延迟。旧表保存样本硬越限均为0，不证明采样间隙没有越限。</a:t>
            </a:r>
          </a:p>
          <a:p xmlns:a="http://schemas.openxmlformats.org/drawingml/2006/main">
            <a:r>
              <a:t>【真实性】本次读取已有离散时序并积分、绘图，没有运行新控制仿真或LTspice。机械支路有功电能是等效电阻Rm中的电学积分量，不等于实测机械输出、声能或临床剂量。</a:t>
            </a:r>
            <a:endParaRPr/>
          </a:p>
          <a:p xmlns:a="http://schemas.openxmlformats.org/drawingml/2006/main">
            <a:r>
              <a:t>【模糊推测内容】通过缩短扫描或优化保护恢复可以改善电能捕获率，属于后续待验证设计；本页未把该推测写成已验证改进。</a:t>
            </a:r>
          </a:p>
          <a:p xmlns:a="http://schemas.openxmlformats.org/drawingml/2006/main">
            <a:r>
              <a:t>【时序SHA256】a734eca013d415f7a875c2785068745cd80ad811d7284e893bbcd1e974c5f0a0</a:t>
            </a:r>
            <a:endParaRPr/>
          </a:p>
          <a:p xmlns:a="http://schemas.openxmlformats.org/drawingml/2006/main">
            <a:r>
              <a:t>C:\Users\24739\Documents\Codex\2026-08-10\new-chat\ppt_control_fix_20260906\build\data/stage4_control_timeline.csv  SHA256=a734eca013d415f7a875c2785068745cd80ad811d7284e893bbcd1e974c5f0a0</a:t>
            </a:r>
          </a:p>
          <a:p xmlns:a="http://schemas.openxmlformats.org/drawingml/2006/main">
            <a:r>
              <a:t>C:\Users\24739\Documents\Codex\2026-08-10\new-chat\ppt_control_fix_20260906\build\data/stage5_integrated_strategy_table.csv  SHA256=1daf082bbc1d2c8757415a277c4f7954e26d1f0561d6c949b73ac315b880bb58</a:t>
            </a:r>
            <a:endParaRPr/>
          </a:p>
          <a:p xmlns:a="http://schemas.openxmlformats.org/drawingml/2006/main">
            <a:r>
              <a:t>C:\Users\24739\Documents\Codex\2026-08-10\new-chat\ppt_control_fix_20260906\build\data/stage5_per_segment_metrics.csv  SHA256=8ff0000b1a5df21e1ca1d7edd5eb382fc9e61bd3c39c67238f1e19be7436f2e4</a:t>
            </a:r>
          </a:p>
          <a:p xmlns:a="http://schemas.openxmlformats.org/drawingml/2006/main">
            <a:r>
              <a:t>【计划书组合】本页属于历史示例或第四种P&amp;O扩展，正文正式三策略仍为固定／扫频／相位；不能以本页结果替代统一验收。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>【本页结论】已完成电路到FEM的数据字段和相量约定，声学结果仍明确为空。</a:t>
            </a:r>
            <a:endParaRPr/>
          </a:p>
          <a:p xmlns:a="http://schemas.openxmlformats.org/drawingml/2006/main">
            <a:r>
              <a:t>【逐字讲稿】本月没有运行COMSOL，因此这里不展示声压云图，而是先定义可复现接口。平台从电学场景导出安全工作点、频率以及复端口电压，统一采用RMS和exp正jωt相量约定；预测电流仅作接口校核。EA_IF_V1.0目前包含基准和低中高组合4条记录，字段审计通过。相对声学效率、靶区声压代理和壁面声压代理全部标为NOT_AVAILABLE。接口PASS只表示字段、单位和内部关系一致，不表示已经得到声场结果。</a:t>
            </a:r>
          </a:p>
          <a:p xmlns:a="http://schemas.openxmlformats.org/drawingml/2006/main">
            <a:r>
              <a:t>【看图顺序】按左到右数据流讲，读出相量约定，再强调两个NOT_AVAILABLE框。</a:t>
            </a:r>
            <a:endParaRPr/>
          </a:p>
          <a:p xmlns:a="http://schemas.openxmlformats.org/drawingml/2006/main">
            <a:r>
              <a:t>【口径与限制】FEM输入最终还要与COMSOL/ANSYS中的电极边界、材料极化和谐波约定逐项对齐。</a:t>
            </a:r>
          </a:p>
          <a:p xmlns:a="http://schemas.openxmlformats.org/drawingml/2006/main">
            <a:r>
              <a:t>【教授可能追问】既然没有COMSOL，这一页的价值是什么？</a:t>
            </a:r>
            <a:endParaRPr/>
          </a:p>
          <a:p xmlns:a="http://schemas.openxmlformats.org/drawingml/2006/main">
            <a:r>
              <a:t>【建议回答】先固定接口能避免后续电学量、峰值/RMS和相位符号混乱，并使声场团队可直接读取同一场景工作点。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C:/Users/24739/Documents/Codex/2026-08-10/new-chat/CTO_virtual_drive_platform_v2_1/results/interfaces/electro_acoustic_v1/electro_acoustic_interface_audit.json</a:t>
            </a:r>
            <a:endParaRPr/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>【本页结论】文献用于证明研究问题合理，不用于伪造未测的器件参数。</a:t>
            </a:r>
            <a:endParaRPr/>
          </a:p>
          <a:p xmlns:a="http://schemas.openxmlformats.org/drawingml/2006/main">
            <a:r>
              <a:t>【逐字讲稿】文献部分只承担边界性论证：组织或负载的非均匀性、纤维化和钙化可能改变声传播和换能器负载状态；工程上可以把这种变化抽象成谐振频率、损耗和匹配条件的扰动，用于鲁棒性测试。但目前没有证据把某一种病变直接换算成C0增加多少或Rm增加多少。因此PPT把直接文献事实、工程建模假设和待验证关系分开，不做病变到BVD的一一映射。</a:t>
            </a:r>
          </a:p>
          <a:p xmlns:a="http://schemas.openxmlformats.org/drawingml/2006/main">
            <a:r>
              <a:t>【看图顺序】按“文献支持—工程抽象—尚不能证明”三层讲。</a:t>
            </a:r>
            <a:endParaRPr/>
          </a:p>
          <a:p xmlns:a="http://schemas.openxmlformats.org/drawingml/2006/main">
            <a:r>
              <a:t>【口径与限制】不要在口头汇报中说“钙化导致Rm增加50%”之类定量句子。</a:t>
            </a:r>
          </a:p>
          <a:p xmlns:a="http://schemas.openxmlformats.org/drawingml/2006/main">
            <a:r>
              <a:t>【教授可能追问】扰动幅度的医学依据是什么？</a:t>
            </a:r>
            <a:endParaRPr/>
          </a:p>
          <a:p xmlns:a="http://schemas.openxmlformats.org/drawingml/2006/main">
            <a:r>
              <a:t>【建议回答】当前幅度是扫描变量，用于覆盖控制器压力测试范围，不是从病变分级直接换算。真实映射需负载实验和阻抗测量。</a:t>
            </a:r>
          </a:p>
          <a:p xmlns:a="http://schemas.openxmlformats.org/drawingml/2006/main">
            <a:r>
              <a:t>【模糊推测】病变或介质变化可能通过机电负载改变等效BVD参数；具体方向和幅度尚待实验。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D:/微信文件/WeChat Files/wxid_f86c1kdajuft12/FileStorage/File/2026-08/前视超声治疗.pdf</a:t>
            </a:r>
            <a:endParaRPr/>
          </a:p>
          <a:p xmlns:a="http://schemas.openxmlformats.org/drawingml/2006/main">
            <a:r>
              <a:t>- D:/微信文件/WeChat Files/wxid_f86c1kdajuft12/FileStorage/File/2026-08/High intensity focused ultrasound  Physical principles and devices.pdf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总结时需要收窄“已完成”的范围。电学建模、匹配交叉验证、单因素与组合静态扫描、控制原型以及电声接口已有证据。Rm派生Qm的登记错误本次已经修正，确认没有改变电学响应。但原计划固定、扫频、相位的统一验收、完整闭环场景、正式集成逐点保护及功率反射合同仍未完成；采样间隙越限也尚未解决。只有这些内部验收补齐之后，才能进一步讨论模型外部有效性。实测阻抗、功率标定、结构声场和水听器属于后续验证，不能用这些尚未开展的工作掩盖当前代码与评价缺口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【答疑】当前项目可汇报为“可复现的电学仿真平台及控制原型，原计划统一验收尚待收尾”，不能写全部完成。结论只限特定BVD与扰动范围内的电学稳定性。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【模糊推测内容】无；本页为完成状态核查。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  <a:endParaRPr/>
          </a:p>
          <a:p xmlns:a="http://schemas.openxmlformats.org/drawingml/2006/main">
            <a:r>
              <a:t>C:/Users/24739/Documents/Codex/2026-08-10/new-chat/project_audit_20260910/output/Rm派生Qm修正验证.json</a:t>
            </a:r>
          </a:p>
          <a:p xmlns:a="http://schemas.openxmlformats.org/drawingml/2006/main">
            <a:r>
              <a:t>C:/Users/24739/Documents/Codex/2026-08-10/new-chat/project_audit_20260910/output/静态与闭环覆盖核查.csv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>【本页结论】参数来源被强制分为文献参考、假设基线和扫描变量。</a:t>
            </a:r>
            <a:endParaRPr/>
          </a:p>
          <a:p xmlns:a="http://schemas.openxmlformats.org/drawingml/2006/main">
            <a:r>
              <a:t>【逐字讲稿】如果老师追问参数来源，我展示这张登记表。每一个电路数值都标注来源类别。v2.1的BVD和匹配值是为模型自洽而设的假设基线；扰动比例和控制阈值是扫描变量或假设控制参数；文献只用于说明建模框架和现象背景。没有实测来源的数值不会写成真实器件参数。</a:t>
            </a:r>
          </a:p>
          <a:p xmlns:a="http://schemas.openxmlformats.org/drawingml/2006/main">
            <a:r>
              <a:t>【看图顺序】按来源类别列解释，不逐项念完整表格。</a:t>
            </a:r>
            <a:endParaRPr/>
          </a:p>
          <a:p xmlns:a="http://schemas.openxmlformats.org/drawingml/2006/main">
            <a:r>
              <a:t>【口径与限制】“已登记”不等于“已验证”。</a:t>
            </a:r>
          </a:p>
          <a:p xmlns:a="http://schemas.openxmlformats.org/drawingml/2006/main">
            <a:r>
              <a:t>【教授可能追问】哪些参数最需要实测？</a:t>
            </a:r>
            <a:endParaRPr/>
          </a:p>
          <a:p xmlns:a="http://schemas.openxmlformats.org/drawingml/2006/main">
            <a:r>
              <a:t>【建议回答】优先是复阻抗随频率曲线、源等效阻抗和允许电流；它们决定BVD拟合、匹配和保护阈值。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  <a:endParaRPr/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  <a:p xmlns:a="http://schemas.openxmlformats.org/drawingml/2006/main">
            <a:r>
              <a:t>【来源细分】0.8–1.0 MHz、起点0.9 MHz、约100 Vpp与160 Vpp边界来自用户。约5 mA是用户给定量级，解释为RMS是仿真假设。6 mA硬限、130 Vpp/5.5 mA软阈值、50 Ω戴维南源与控制增益周期属于假设，不是器件额定值。160 Vpp不能写成助手任意提出的阈值。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>【本页结论】单因素用于归因，组合扰动用于压力测试；完整覆盖及同口径评价仍需补齐。</a:t>
            </a:r>
            <a:endParaRPr/>
          </a:p>
          <a:p xmlns:a="http://schemas.openxmlformats.org/drawingml/2006/main">
            <a:r>
              <a:t>【逐字讲稿】左侧是各单因素最高档，右侧是历史固定／扫频／P&amp;O主批次共同使用的代表性扰动序列。单因素扫描回答峰位、峰高和峰宽分别由谁主导；组合场景检验多参数同时失配时控制器能否恢复。右下角基线明确是匹配网络后端的换能器端口量：约7.071 kΩ、相位负15.916度、P_Rm约0.170 W、电流约5 mA RMS、端口约100 Vpp。它不是源侧Zin；源侧Zin见第6页。</a:t>
            </a:r>
          </a:p>
          <a:p xmlns:a="http://schemas.openxmlformats.org/drawingml/2006/main">
            <a:r>
              <a:t>【看图顺序】先左侧单因素，再右上统一序列，最后核对右下测点口径。</a:t>
            </a:r>
            <a:endParaRPr/>
          </a:p>
          <a:p xmlns:a="http://schemas.openxmlformats.org/drawingml/2006/main">
            <a:r>
              <a:t>【口径与限制】组合扰动等级是人为压力测试组合，不代表临床低中高等级。</a:t>
            </a:r>
          </a:p>
          <a:p xmlns:a="http://schemas.openxmlformats.org/drawingml/2006/main">
            <a:r>
              <a:t>【教授可能追问】为什么组合扰动不能替代单因素？</a:t>
            </a:r>
            <a:endParaRPr/>
          </a:p>
          <a:p xmlns:a="http://schemas.openxmlformats.org/drawingml/2006/main">
            <a:r>
              <a:t>【建议回答】组合只能说明系统失配，无法归因。先做单因素才能解释组合结果，并据此设计检测阈值和扫频范围。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  <a:endParaRPr/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  <a:p xmlns:a="http://schemas.openxmlformats.org/drawingml/2006/main">
            <a:r>
              <a:t>【派生量修正】Rm仅增加15%、30%、50%时，Qm由800分别变为695.6522、615.3846、533.3333。只修正登记和生成代码；Lm、Cm不变，34场景×2001频点电学数组完全一致。组合场景按其登记的联合构造重算Lm/Cm并保留Qm800，不是简单叠加原始元件单因素变体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>【本页结论】三档组合场景均有真实LTspice批处理证据，最大Zin误差远低于5%。</a:t>
            </a:r>
            <a:endParaRPr/>
          </a:p>
          <a:p xmlns:a="http://schemas.openxmlformats.org/drawingml/2006/main">
            <a:r>
              <a:t>【逐字讲稿】低、中、高组合分别在2001个频点进行LTspice与Python对照，最大输入阻抗相对误差约0.01461%、0.00751%和0.00295%，均低于5%验收线。每档保留cir、raw、log和SHA-256。这显著降低了两套静态求解实现存在主要差异的可能性，但仍不能验证假设电路参数的真实性。</a:t>
            </a:r>
          </a:p>
          <a:p xmlns:a="http://schemas.openxmlformats.org/drawingml/2006/main">
            <a:r>
              <a:t>【看图顺序】读三行误差和PASS，再指向运行证据行。</a:t>
            </a:r>
            <a:endParaRPr/>
          </a:p>
          <a:p xmlns:a="http://schemas.openxmlformats.org/drawingml/2006/main">
            <a:r>
              <a:t>【口径与限制】误差百分数是数值实现一致性，不是模型预测误差。</a:t>
            </a:r>
          </a:p>
          <a:p xmlns:a="http://schemas.openxmlformats.org/drawingml/2006/main">
            <a:r>
              <a:t>【教授可能追问】有没有只展示图片、没有原始仿真的风险？</a:t>
            </a:r>
            <a:endParaRPr/>
          </a:p>
          <a:p xmlns:a="http://schemas.openxmlformats.org/drawingml/2006/main">
            <a:r>
              <a:t>【建议回答】三档都保留LTspice的RAW和Log，并用哈希登记；PNG只是后处理展示。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C:/Users/24739/Documents/Codex/2026-08-10/new-chat/CTO_virtual_drive_platform_v2_1/results/tables/stage3_disturbance/stage3_LTspice_cross_validation.csv</a:t>
            </a:r>
            <a:endParaRPr/>
          </a:p>
          <a:p xmlns:a="http://schemas.openxmlformats.org/drawingml/2006/main">
            <a:r>
              <a:t>- C:/Users/24739/Documents/Codex/2026-08-10/new-chat/CTO_virtual_drive_platform_v2_1/results/tables/stage3_disturbance/stage3_audit.json</a:t>
            </a:r>
          </a:p>
          <a:p xmlns:a="http://schemas.openxmlformats.org/drawingml/2006/main">
            <a:r>
              <a:t>【覆盖边界】此页是静态LTspice交叉验证，不能代表低中高组合均已通过相位在内的统一闭环验收。本次没有重跑这些LTspice场景。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>【本页结论】特征点名称必须连同测点、目标函数和参考阻抗一起报告。</a:t>
            </a:r>
            <a:endParaRPr/>
          </a:p>
          <a:p xmlns:a="http://schemas.openxmlformats.org/drawingml/2006/main">
            <a:r>
              <a:t>【逐字讲稿】本页离线选频的最大功率频率是在冻结源曲线上使P_Rm最大的频点；正式控制还必须考虑电压电流与允许幅度约束，两者不能混用；最小相位频率定义为匹配网络输入相位绝对值最小；最小反射频率定义为相对50欧姆参考阻抗的Gamma代理最小。三者数学目标不同，只有在特定场景中可能重合。因此后续报告不能笼统写“谐振频率”，而要说清是串联谐振、反谐振、相位零点、最小阻抗点还是安全功率峰。</a:t>
            </a:r>
          </a:p>
          <a:p xmlns:a="http://schemas.openxmlformats.org/drawingml/2006/main">
            <a:r>
              <a:t>【看图顺序】逐行讲三个argmin/argmax定义，最后总结命名规范。</a:t>
            </a:r>
            <a:endParaRPr/>
          </a:p>
          <a:p xmlns:a="http://schemas.openxmlformats.org/drawingml/2006/main">
            <a:r>
              <a:t>【口径与限制】反射代理基于简化50欧姆参考，不等于完整功放的实测反射。</a:t>
            </a:r>
          </a:p>
          <a:p xmlns:a="http://schemas.openxmlformats.org/drawingml/2006/main">
            <a:r>
              <a:t>【教授可能追问】项目最终以哪个频率作为控制目标？</a:t>
            </a:r>
            <a:endParaRPr/>
          </a:p>
          <a:p xmlns:a="http://schemas.openxmlformats.org/drawingml/2006/main">
            <a:r>
              <a:t>【建议回答】正式控制目标是当前场景受约束的最大P_Rm频率；相位和反射主要用于状态监测、异常触发和对照。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>【本页结论】相位控制目标是基准安全功率峰处的arg Zin，并用局部斜率决定频率更新方向。</a:t>
            </a:r>
            <a:endParaRPr/>
          </a:p>
          <a:p xmlns:a="http://schemas.openxmlformats.org/drawingml/2006/main">
            <a:r>
              <a:t>【逐字讲稿】这里修正两个常见问题。第一，相位变量是匹配网络输入相位phi_in等于arg Zin，也就是arg(V_input/I_source)，不是换能器端口Vport/Iport。第二，目标不是零度，而是基准受约束最大功率点处的负1.0782度。更新量还乘局部dphi/df的符号，因为相位曲线在不同频段斜率可能不同。左图展示增益5 Hz每度的历史时序；50和100 Hz每度各出现1个错误锁定段，即相位误差已小但P_Rm仍低于0.95P星。</a:t>
            </a:r>
          </a:p>
          <a:p xmlns:a="http://schemas.openxmlformats.org/drawingml/2006/main">
            <a:r>
              <a:t>【看图顺序】先读相位定义和测点，再看目标值，最后看增益消融与错误锁定提示。</a:t>
            </a:r>
            <a:endParaRPr/>
          </a:p>
          <a:p xmlns:a="http://schemas.openxmlformats.org/drawingml/2006/main">
            <a:r>
              <a:t>【口径与限制】相位目标来自假设基线场景，负载大幅变化后未必仍对应最大功率。</a:t>
            </a:r>
          </a:p>
          <a:p xmlns:a="http://schemas.openxmlformats.org/drawingml/2006/main">
            <a:r>
              <a:t>【教授可能追问】为什么需要sign(dphi/df)？</a:t>
            </a:r>
            <a:endParaRPr/>
          </a:p>
          <a:p xmlns:a="http://schemas.openxmlformats.org/drawingml/2006/main">
            <a:r>
              <a:t>【建议回答】同一相位误差在正斜率和负斜率区间需要相反的频率修正方向；不乘斜率符号可能把频率推离目标。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C:/Users/24739/Documents/Codex/2026-08-10/new-chat/CTO_virtual_drive_platform_v2_1/results/phase_ablation/phase_gain_sweep_summary.csv</a:t>
            </a:r>
            <a:endParaRPr/>
          </a:p>
          <a:p xmlns:a="http://schemas.openxmlformats.org/drawingml/2006/main">
            <a:r>
              <a:t>- C:/Users/24739/Documents/Codex/2026-08-10/new-chat/CTO_virtual_drive_platform_v2_1/results/phase_ablation/phase_ablation_audit.json</a:t>
            </a:r>
          </a:p>
          <a:p xmlns:a="http://schemas.openxmlformats.org/drawingml/2006/main">
            <a:r>
              <a:t>【正文身份】这是计划书第三种策略的历史方法证据，不是以P&amp;O代替相位的理由。三策略正式同口径排名待完成。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【本页结论】恢复计划书三种方法，诚实区分“算法已经实现”与“统一验收已经完成”。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项目正式比较应是固定频率、周期扫频和相位误差闭环。三者都有既有实现或历史时序证据，但目前相位补充表的窗口和部分判据与另外两种策略不完全一致，文件也明确标为不用于正式排名。因此本页不再摆出貌似可比的误差和恢复时间排序，而是列出真实进展。下一步需要统一源、模型、扰动日程、保护接口和评价器，再对完整场景重跑。相位性能不佳同样是有效结果，不必换成P&amp;O才汇报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【历史数据保留】原补充CSV仍保存固定30.14%、周期扫频0%、相位K5约39.91%的描述性尾段误差。它们不构成此次新正式排名；旧文件未删除或改写。原相位排名柱图从正文移除，避免与本页进度表混淆；源PPT保留。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【覆盖】静态登记34场景，旧主控制序列8段、7个不同场景；低中组合、Lm-only、Cm-only等完整闭环仍缺。不能从静态LTspice一致性推断闭环全覆盖。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【教授可能追问】那本月三策略比较算完成了吗？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【建议回答】实现与代表性试验已有基础，按原计划同口径、全场景的正式验收还没有完成。这一项明确列为本月未完成工作，P&amp;O作为第四种扩展，不替代它。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【模糊推测内容】无；本页是文件和程序状态审计，不预测最终策略排名。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C:/Users/24739/Documents/Codex/2026-08-10/new-chat/CTO_virtual_drive_platform_v2_1/results/tables/stage4_5/plan_fixed_periodic_phase_integrated.csv</a:t>
            </a:r>
            <a:endParaRPr/>
          </a:p>
          <a:p xmlns:a="http://schemas.openxmlformats.org/drawingml/2006/main">
            <a:r>
              <a:t>C:/Users/24739/Documents/Codex/2026-08-10/new-chat/project_audit_20260910/output/静态与闭环覆盖核查.csv</a:t>
            </a:r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【建议时长】答疑约35秒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不是没有真实GUI截图，而是已有历史基准截图。元数据记录采集于2026年8月15日，LTspice版本26.0.2.1。本次复核相应GUI副本cir、raw、log，三份哈希均与当时记录一致。这些截图只能说明对应基准场景的历史运行痕迹，不能充当全部当前参数和所有控制版本的新界面证明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【证据边界】GUI辅助展示；数值复核依靠网表、RAW、日志与独立解析误差。哈希证明与登记版本的一致性，不证明物理真实性或求解必然正确。本次未新开LTspice，未生成新GUI截图。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C:/Users/24739/Documents/Codex/2026-08-10/new-chat/outputs/v2_self_consistent_rebuild/active_stage3_5/ltspice_gui_evidence/LTspice_GUI_evidence_metadata.json</a:t>
            </a:r>
            <a:endParaRPr/>
          </a:p>
          <a:p xmlns:a="http://schemas.openxmlformats.org/drawingml/2006/main">
            <a:r>
              <a:t>C:/Users/24739/Documents/Codex/2026-08-10/new-chat/project_audit_20260910/output/历史GUI证据核查.json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【建议时长】答疑约50秒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【本页身份】这是待统一实施的正式评价合同，不是声称当前三个策略已经采用完全相同评价器。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正式重跑首先固定评价口径。安全最优P星必须使用同场景、同幅度权限和同约束，仅供离线评价，不能泄漏给控制器。保持原98%门槛与连续10个NORMAL、频率未冻结的控制样本。恢复同时报告合格序列起点与第10个样本的确认时刻；段内不满足就写未通过。没有合格稳态窗口时写NA，不能以回退样本伪装稳态通过。旧数据的描述性尾段统计保留在扩展页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过程指标】同一时间区间积分，纳入扫描、试探与保护恢复。分别统计保存样本和保持区间的电压电流极值、越限与频率饱和；不将已知模型的预览保护称为硬件无延迟保证。功率相对上限与反射上限仍需明确限制对象、分母、阈值及无可行点处置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【参数来源】160 Vpp为用户给定边界；130 Vpp、5.5/6 mA和98%连续10样本属于本次假设控制／验收参数。独立PI非必须；没有积分器时，积分饱和不适用。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【模糊推测内容】统一口径后各策略排名可能变化，当前不能预测结论。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【建议时长】答疑约40秒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次追溯以9月9日最新版完整PPT为输入，查到10处失效引用、涉及9页，而不是直接沿用旧版本的12处。已定位用户原始文档及实际存在的审计、汇总文件；错误命名的CSV改引真正支撑说明的JSON或CSV，并不是假装找回不存在的同名文件。修订路径表逐项保留旧路径、替代路径和当前哈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【版本】旧平台证据清单154项中151项一致、0项丢失、3项在本次元数据修正后改变。旧清单不覆盖更新，另存修订清单和原文件备份。旧控制、RAW、截图与原PPT仍保留，不能用新文件冒充旧批次。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【复现边界】本次执行的是Python元数据回归、文件与PPT审核，不是全流程重新运行；统一三策略验收与真实多物理场仍待完成。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C:/Users/24739/Documents/Codex/2026-08-10/new-chat/project_audit_20260910/output/引用路径修正表.csv</a:t>
            </a:r>
            <a:endParaRPr/>
          </a:p>
          <a:p xmlns:a="http://schemas.openxmlformats.org/drawingml/2006/main">
            <a:r>
              <a:t>C:/Users/24739/Documents/Codex/2026-08-10/new-chat/project_audit_20260910/output/历史哈希清单核查.csv</a:t>
            </a:r>
          </a:p>
          <a:p xmlns:a="http://schemas.openxmlformats.org/drawingml/2006/main">
            <a:r>
              <a:t>C:/Users/24739/Documents/Codex/2026-08-10/new-chat/CTO_virtual_drive_platform_v2_1/results/manifests/evidence_manifest.csv</a:t>
            </a:r>
            <a:endParaRPr/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>【本页结论】ANSYS/COMSOL部分尚未完成，不能用示意图代替真实求解结果。</a:t>
            </a:r>
            <a:endParaRPr/>
          </a:p>
          <a:p xmlns:a="http://schemas.openxmlformats.org/drawingml/2006/main">
            <a:r>
              <a:t>【逐字讲稿】结构声场部分当前只能给出需要建立和留痕的清单：软件版本与许可证、完整模型树、几何尺寸、压电材料矩阵与极化方向、电极和机械边界、耦合面与PML、粗中细三档网格、模态列表和关键模态、端口阻抗或导纳、位移幅相、声压云图与轴向曲线、网格收敛表以及Solver Log正常结束页面。只有这些内容真实运行后，才能把电学接口工作点代入并讨论相对声学效率。</a:t>
            </a:r>
          </a:p>
          <a:p xmlns:a="http://schemas.openxmlformats.org/drawingml/2006/main">
            <a:r>
              <a:t>【看图顺序】按建模、网格、求解、结果、收敛和日志六类快速讲。</a:t>
            </a:r>
            <a:endParaRPr/>
          </a:p>
          <a:p xmlns:a="http://schemas.openxmlformats.org/drawingml/2006/main">
            <a:r>
              <a:t>【口径与限制】本页不包含任何真实ANSYS/COMSOL结果；汇报时不得说“已完成声场验证”。</a:t>
            </a:r>
          </a:p>
          <a:p xmlns:a="http://schemas.openxmlformats.org/drawingml/2006/main">
            <a:r>
              <a:t>【教授可能追问】为什么没有声压图？</a:t>
            </a:r>
            <a:endParaRPr/>
          </a:p>
          <a:p xmlns:a="http://schemas.openxmlformats.org/drawingml/2006/main">
            <a:r>
              <a:t>【建议回答】当前没有可信的几何、材料矩阵和边界条件，也没有完成求解。先保留接口和验收清单，比放置不可追溯的示意云图更严谨。</a:t>
            </a:r>
          </a:p>
          <a:p xmlns:a="http://schemas.openxmlformats.org/drawingml/2006/main">
            <a:r>
              <a:t>【模糊推测】后续声场峰值可能与电学P_Rm峰不完全重合；必须由耦合模型或查找表验证。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  <a:endParaRPr/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575bb166440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2fa82a8d754cdf" /><Relationship Type="http://schemas.openxmlformats.org/officeDocument/2006/relationships/slideLayout" Target="/ppt/slideLayouts/slideLayout1.xml" Id="R005cc29c0d174d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5cc29c0d174d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3cfa8ec834d61" /><Relationship Type="http://schemas.openxmlformats.org/officeDocument/2006/relationships/notesSlide" Target="/ppt/notesSlides/notesSlide1.xml" Id="Rdc7d2f2a6fad47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1697285f64ef8" /><Relationship Type="http://schemas.openxmlformats.org/officeDocument/2006/relationships/notesSlide" Target="/ppt/notesSlides/notesSlide2.xml" Id="Rd7f1cf7433104a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fc77339594041" /><Relationship Type="http://schemas.openxmlformats.org/officeDocument/2006/relationships/notesSlide" Target="/ppt/notesSlides/notesSlide3.xml" Id="R7ce7727861d847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aa3ae20954745" /><Relationship Type="http://schemas.openxmlformats.org/officeDocument/2006/relationships/image" Target="/ppt/media/image.png" Id="R3b118b2c9e644f5d" /><Relationship Type="http://schemas.openxmlformats.org/officeDocument/2006/relationships/notesSlide" Target="/ppt/notesSlides/notesSlide4.xml" Id="R8a56c8cea55d44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2cadf2d0544aa" /><Relationship Type="http://schemas.openxmlformats.org/officeDocument/2006/relationships/image" Target="/ppt/media/image2.png" Id="R5d4ec6bed0cd4421" /><Relationship Type="http://schemas.openxmlformats.org/officeDocument/2006/relationships/notesSlide" Target="/ppt/notesSlides/notesSlide5.xml" Id="Rd8ae52c6ed9942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828ee61a745da" /><Relationship Type="http://schemas.openxmlformats.org/officeDocument/2006/relationships/chart" Target="/ppt/slides/charts/chart1.xml" Id="R3db852fd18304c28" /><Relationship Type="http://schemas.openxmlformats.org/officeDocument/2006/relationships/chart" Target="/ppt/slides/charts/chart2.xml" Id="Rd392efdd501d46e1" /><Relationship Type="http://schemas.openxmlformats.org/officeDocument/2006/relationships/notesSlide" Target="/ppt/notesSlides/notesSlide6.xml" Id="Rd972978f70c74c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8af26f8644488" /><Relationship Type="http://schemas.openxmlformats.org/officeDocument/2006/relationships/notesSlide" Target="/ppt/notesSlides/notesSlide7.xml" Id="Rf6868ba06b1a48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75a4de6e742cb" /><Relationship Type="http://schemas.openxmlformats.org/officeDocument/2006/relationships/image" Target="/ppt/media/image3.png" Id="R7a560233feec4582" /><Relationship Type="http://schemas.openxmlformats.org/officeDocument/2006/relationships/notesSlide" Target="/ppt/notesSlides/notesSlide8.xml" Id="R5dbfa9efd5fd4e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70e774185452d" /><Relationship Type="http://schemas.openxmlformats.org/officeDocument/2006/relationships/image" Target="/ppt/media/image4.png" Id="R8073e7c59e644ed4" /><Relationship Type="http://schemas.openxmlformats.org/officeDocument/2006/relationships/notesSlide" Target="/ppt/notesSlides/notesSlide9.xml" Id="R1583c9e9c3ad49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ab2fbb9164e5c" /><Relationship Type="http://schemas.openxmlformats.org/officeDocument/2006/relationships/image" Target="/ppt/media/image5.png" Id="R83722b3ec9b44aa3" /><Relationship Type="http://schemas.openxmlformats.org/officeDocument/2006/relationships/image" Target="/ppt/media/image6.png" Id="Rc4bc963e9e094f1d" /><Relationship Type="http://schemas.openxmlformats.org/officeDocument/2006/relationships/notesSlide" Target="/ppt/notesSlides/notesSlide10.xml" Id="R3ef8b16f0d6f4a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6b29154134645" /><Relationship Type="http://schemas.openxmlformats.org/officeDocument/2006/relationships/image" Target="/ppt/media/image7.png" Id="R7a70d41246384197" /><Relationship Type="http://schemas.openxmlformats.org/officeDocument/2006/relationships/notesSlide" Target="/ppt/notesSlides/notesSlide11.xml" Id="Re40f9108f3e649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c05a7cc6247d1" /><Relationship Type="http://schemas.openxmlformats.org/officeDocument/2006/relationships/image" Target="/ppt/media/image8.png" Id="R8d273828820c4ec2" /><Relationship Type="http://schemas.openxmlformats.org/officeDocument/2006/relationships/notesSlide" Target="/ppt/notesSlides/notesSlide12.xml" Id="R7ebbcd0acf2547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c2240b78a472f" /><Relationship Type="http://schemas.openxmlformats.org/officeDocument/2006/relationships/notesSlide" Target="/ppt/notesSlides/notesSlide13.xml" Id="R924fdff4486c43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360b99a98473a" /><Relationship Type="http://schemas.openxmlformats.org/officeDocument/2006/relationships/image" Target="/ppt/media/image9.png" Id="Rc012cc4ff0fa4ab2" /><Relationship Type="http://schemas.openxmlformats.org/officeDocument/2006/relationships/notesSlide" Target="/ppt/notesSlides/notesSlide14.xml" Id="R804d485dd4fe4b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df5caab1043f4" /><Relationship Type="http://schemas.openxmlformats.org/officeDocument/2006/relationships/image" Target="/ppt/media/image10.png" Id="Rc5251d0dc2f04068" /><Relationship Type="http://schemas.openxmlformats.org/officeDocument/2006/relationships/notesSlide" Target="/ppt/notesSlides/notesSlide15.xml" Id="Rc5601ae066b647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e1de918bd4080" /><Relationship Type="http://schemas.openxmlformats.org/officeDocument/2006/relationships/notesSlide" Target="/ppt/notesSlides/notesSlide16.xml" Id="R90ad9eaed69445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1a50781fd40df" /><Relationship Type="http://schemas.openxmlformats.org/officeDocument/2006/relationships/notesSlide" Target="/ppt/notesSlides/notesSlide17.xml" Id="Ra9f8378a43ba45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acc420543440b" /><Relationship Type="http://schemas.openxmlformats.org/officeDocument/2006/relationships/notesSlide" Target="/ppt/notesSlides/notesSlide18.xml" Id="R320f2a15686f4c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330585b5148d4" /><Relationship Type="http://schemas.openxmlformats.org/officeDocument/2006/relationships/notesSlide" Target="/ppt/notesSlides/notesSlide19.xml" Id="R883440b27b18470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25591a8214adc" /><Relationship Type="http://schemas.openxmlformats.org/officeDocument/2006/relationships/notesSlide" Target="/ppt/notesSlides/notesSlide20.xml" Id="R9f6b11210c88485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6dcf05c894ae0" /><Relationship Type="http://schemas.openxmlformats.org/officeDocument/2006/relationships/notesSlide" Target="/ppt/notesSlides/notesSlide21.xml" Id="Rda095e08749b420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ee004a7cb4efc" /><Relationship Type="http://schemas.openxmlformats.org/officeDocument/2006/relationships/notesSlide" Target="/ppt/notesSlides/notesSlide22.xml" Id="R07ad2416e6a043a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4cbdab6ce4f3b" /><Relationship Type="http://schemas.openxmlformats.org/officeDocument/2006/relationships/image" Target="/ppt/media/image11.png" Id="R61e7e9154c7b4ac9" /><Relationship Type="http://schemas.openxmlformats.org/officeDocument/2006/relationships/notesSlide" Target="/ppt/notesSlides/notesSlide23.xml" Id="R3849d979c6ee41f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61a5aa3f34344" /><Relationship Type="http://schemas.openxmlformats.org/officeDocument/2006/relationships/chart" Target="/ppt/slides/charts/chart3.xml" Id="R801eecf5a5d647ec" /><Relationship Type="http://schemas.openxmlformats.org/officeDocument/2006/relationships/notesSlide" Target="/ppt/notesSlides/notesSlide24.xml" Id="Rc7e3b35b61234c8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fc3de079f436d" /><Relationship Type="http://schemas.openxmlformats.org/officeDocument/2006/relationships/image" Target="/ppt/media/image12.png" Id="Rd5435053d3514670" /><Relationship Type="http://schemas.openxmlformats.org/officeDocument/2006/relationships/image" Target="/ppt/media/image13.png" Id="Re0d97fec00604f20" /><Relationship Type="http://schemas.openxmlformats.org/officeDocument/2006/relationships/notesSlide" Target="/ppt/notesSlides/notesSlide25.xml" Id="Ra834c1e7a9794eb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0b51a5d1848b2" /><Relationship Type="http://schemas.openxmlformats.org/officeDocument/2006/relationships/notesSlide" Target="/ppt/notesSlides/notesSlide26.xml" Id="Rf651db5b57c448f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ed17217a24279" /><Relationship Type="http://schemas.openxmlformats.org/officeDocument/2006/relationships/notesSlide" Target="/ppt/notesSlides/notesSlide27.xml" Id="R5d20504dd1b0452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878cf335d45b6" /><Relationship Type="http://schemas.openxmlformats.org/officeDocument/2006/relationships/notesSlide" Target="/ppt/notesSlides/notesSlide28.xml" Id="R29169a67c854423c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第一月工作汇报（补充审计版）  |  2026.09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18b2c9e644f5d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同一源条件下，L型匹配使0.9 MHz的有功功率达到约32.8倍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2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ec6bed0cd4421"/>
          <a:stretch xmlns:a="http://schemas.openxmlformats.org/drawingml/2006/main"/>
        </p:blipFill>
        <p:spPr>
          <a:xfrm xmlns:a="http://schemas.openxmlformats.org/drawingml/2006/main">
            <a:off x="685800" y="1476375"/>
            <a:ext cx="7029450" cy="4709732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33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3143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Lmatch ≈ 106.726 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Cmatch ≈ 283.599 pF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0.9000 MHz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未匹配 5.186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有损匹配 170.0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比值约32.8倍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结果限于假设BVD电学模型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32.8倍不代表电声效率增益</a:t>
            </a:r>
          </a:p>
        </p:txBody>
      </p:sp>
      <p:sp>
        <p:nvSpPr>
          <p:cNvPr id="14" name="source-condition-corrected">
            <a:extLst xmlns:a="http://schemas.openxmlformats.org/drawingml/2006/main">
              <a:ext uri="{FF2B5EF4-FFF2-40B4-BE49-F238E27FC236}">
                <a16:creationId xmlns:a16="http://schemas.microsoft.com/office/drawing/2014/main" id="{56D8F644-A1A0-4D70-82B5-B6E7D66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冻结戴维南源：6.217 V RMS，Rs = 50 Ω，全部曲线使用相同源参数</a:t>
            </a:r>
          </a:p>
        </p:txBody>
      </p:sp>
      <p:sp>
        <p:nvSpPr>
          <p:cNvPr id="15" name="port-operating-point">
            <a:extLst xmlns:a="http://schemas.openxmlformats.org/drawingml/2006/main">
              <a:ext uri="{FF2B5EF4-FFF2-40B4-BE49-F238E27FC236}">
                <a16:creationId xmlns:a16="http://schemas.microsoft.com/office/drawing/2014/main" id="{E1B3DFEF-CD48-45BD-97A5-1D4229E2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43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有损匹配工作点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换能器端约100 Vpp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电流约5 mA RMS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b852fd18304c28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92efdd501d46e1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机械支路电容 Cm 增大使功率峰下移并降低峰高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60233feec4582"/>
          <a:stretch xmlns:a="http://schemas.openxmlformats.org/drawingml/2006/main"/>
        </p:blipFill>
        <p:spPr>
          <a:xfrm xmlns:a="http://schemas.openxmlformats.org/drawingml/2006/main">
            <a:off x="897550" y="1066800"/>
            <a:ext cx="6682149" cy="5219700"/>
          </a:xfrm>
          <a:prstGeom xmlns:a="http://schemas.openxmlformats.org/drawingml/2006/main" prst="rect">
            <a:avLst/>
          </a:prstGeom>
        </p:spPr>
      </p:pic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关键结论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峰位总移 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086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Cm-only是原始元件单因素；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派生 fs、Qm 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3e7c59e644ed4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4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22b3ec9b44aa3"/>
          <a:stretch xmlns:a="http://schemas.openxmlformats.org/drawingml/2006/main"/>
        </p:blipFill>
        <p:spPr>
          <a:xfrm xmlns:a="http://schemas.openxmlformats.org/drawingml/2006/main">
            <a:off x="857250" y="1476375"/>
            <a:ext cx="8035766" cy="1952625"/>
          </a:xfrm>
          <a:prstGeom xmlns:a="http://schemas.openxmlformats.org/drawingml/2006/main" prst="rect">
            <a:avLst/>
          </a:prstGeom>
        </p:spPr>
      </p:pic>
      <p:pic>
        <p:nvPicPr>
          <p:cNvPr id="25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c963e9e094f1d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00150"/>
            <a:ext cx="585787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基准场景：最大功率点 ≈ 最小反射点</a:t>
            </a:r>
          </a:p>
        </p:txBody>
      </p:sp>
      <p:sp>
        <p:nvSpPr>
          <p:cNvPr id="18" name="criteria-shared-frequency-axis">
            <a:extLst xmlns:a="http://schemas.openxmlformats.org/drawingml/2006/main">
              <a:ext uri="{FF2B5EF4-FFF2-40B4-BE49-F238E27FC236}">
                <a16:creationId xmlns:a16="http://schemas.microsoft.com/office/drawing/2014/main" id="{E169939C-6D82-43A5-8EB5-68470AD6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两图共同扫频范围：0.84–0.96 MHz（线性轴）；步长0.5 kHz</a:t>
            </a:r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kHz步长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101点，152ms代理时间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0d412463841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284709"/>
            <a:ext cx="9851600" cy="34390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历史保护示例：保存样本受限，不代表采样间隙无越限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假设BVD模型，非实测    历史固定／扫频／P&amp;O示例 a734eca013；非正式三策略验收表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2114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3067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019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972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硬停机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HARD_TRIP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恢复保持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幅度渐升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RAMP_UP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软限幅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FOLDBACK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43525"/>
            <a:ext cx="1733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历史主线时序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后续修正见扩展页</a:t>
            </a:r>
          </a:p>
        </p:txBody>
      </p:sp>
      <p:pic>
        <p:nvPicPr>
          <p:cNvPr id="43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73828820c4ec2"/>
          <a:stretch xmlns:a="http://schemas.openxmlformats.org/drawingml/2006/main"/>
        </p:blipFill>
        <p:spPr>
          <a:xfrm xmlns:a="http://schemas.openxmlformats.org/drawingml/2006/main">
            <a:off x="2524125" y="1190707"/>
            <a:ext cx="8982075" cy="4822344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86475"/>
            <a:ext cx="887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软阈值：130 Vpp / 5.5 mA RMS    硬边界：160 Vpp / 6 mA RMS</a:t>
            </a:r>
          </a:p>
        </p:txBody>
      </p:sp>
      <p:sp>
        <p:nvSpPr>
          <p:cNvPr id="23" name="state-diagram-label">
            <a:extLst xmlns:a="http://schemas.openxmlformats.org/drawingml/2006/main">
              <a:ext uri="{FF2B5EF4-FFF2-40B4-BE49-F238E27FC236}">
                <a16:creationId xmlns:a16="http://schemas.microsoft.com/office/drawing/2014/main" id="{80B4654E-FE7E-414C-BC06-8FA3046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62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保护过程示意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已接入电压、电流保护，但完整约束验收尚未闭合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    旧主线与E01/E02实验分支分开审计；未声称硬件安全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历史保存样本审计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1795条记录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峰值Vpp = 130 V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峰值电流 = 5.124 mA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保存样本硬越限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功率相对上限待定义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反射代理未设独立上限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逐点保护待正式集成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采样间隙风险未解决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保护后准稳态样本受限 ≠ 延迟、保持区间和实际瞬态绝不越限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时序修正已使部分版本通过谐振漂移段的连续稳态验收，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但全过程能量损失及采样间隙越限尚未解决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扩展P&amp;O试验，非实测    第三轮 cdde9dab61；第12/24页为旧批次，不能拼成同一运行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19062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后续实验：固定无PI候选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62100"/>
            <a:ext cx="2914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P&amp;O等待500 ms，试探幅度≤0.9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恢复门槛R2，重扫幅度仍≤0.4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本段：fs−5%，2.4–3.2 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574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本段连续稳态：通过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5750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首次合格：2.962 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验收确认：3.142 s（延迟742 ms）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连续合格12个，门槛10个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尾段频率：0.8548 MHz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052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能量损失与硬限：未解决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本段能量捕获率：45.4%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间隙重放峰值：188.2 Vpp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高于160 Vpp累计约1.0 ms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3149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验收冻结：0.8 s/段，功率≥98%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NORMAL且频率未冻结，连续10样本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保留异常检测及原保护保持时间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硬边界：160 Vpp / 6 mA RMS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2cc4ff0fa4ab2"/>
          <a:stretch xmlns:a="http://schemas.openxmlformats.org/drawingml/2006/main"/>
        </p:blipFill>
        <p:spPr>
          <a:xfrm xmlns:a="http://schemas.openxmlformats.org/drawingml/2006/main">
            <a:off x="685800" y="1257311"/>
            <a:ext cx="7715250" cy="49922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扩展比较：尾段误差为零，仍存在全过程电能损失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扩展方法比较，非实测    旧批次 a734eca013；与第23页后续无PI候选分开评价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graphicFrame>
        <p:nvGraphicFramePr>
          <p:cNvPr id="27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尾段误差*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累积电能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(J)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相对最优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电能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未通过段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(共7段)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固定频率</a:t>
                      </a:r>
                    </a:p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＋共同保护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75.8%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0.474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61.1%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67.7%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0%仅描述筛选后的尾段样本，不代表全程无损失或连续验收通过。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当前短扰动段下，扫描、试探和保护恢复的时间成本不可忽略。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本结果不能证明周期扫频总体最优，也不能外推固定频率普遍更好。</a:t>
            </a:r>
          </a:p>
        </p:txBody>
      </p:sp>
      <p:sp>
        <p:nvSpPr>
          <p:cNvPr id="13" name="comparison-window">
            <a:extLst xmlns:a="http://schemas.openxmlformats.org/drawingml/2006/main">
              <a:ext uri="{FF2B5EF4-FFF2-40B4-BE49-F238E27FC236}">
                <a16:creationId xmlns:a16="http://schemas.microsoft.com/office/drawing/2014/main" id="{9F960EF8-CACB-4898-AE30-EC140A6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同一旧批次，0.8–6.4 s，共7个0.8 s扰动段，三种策略均接入共同保护</a:t>
            </a:r>
          </a:p>
        </p:txBody>
      </p:sp>
      <p:pic>
        <p:nvPicPr>
          <p:cNvPr id="31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51d0dc2f04068"/>
          <a:stretch xmlns:a="http://schemas.openxmlformats.org/drawingml/2006/main"/>
        </p:blipFill>
        <p:spPr>
          <a:xfrm xmlns:a="http://schemas.openxmlformats.org/drawingml/2006/main">
            <a:off x="7286649" y="1647825"/>
            <a:ext cx="4219527" cy="3214878"/>
          </a:xfrm>
          <a:prstGeom xmlns:a="http://schemas.openxmlformats.org/drawingml/2006/main" prst="rect">
            <a:avLst/>
          </a:prstGeom>
        </p:spPr>
      </p:pic>
      <p:sp>
        <p:nvSpPr>
          <p:cNvPr id="17" name="energy-title">
            <a:extLst xmlns:a="http://schemas.openxmlformats.org/drawingml/2006/main">
              <a:ext uri="{FF2B5EF4-FFF2-40B4-BE49-F238E27FC236}">
                <a16:creationId xmlns:a16="http://schemas.microsoft.com/office/drawing/2014/main" id="{8E16FA23-4876-47BB-8B9C-0D1E0FED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543050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全过程电能捕获率</a:t>
            </a:r>
          </a:p>
        </p:txBody>
      </p:sp>
      <p:sp>
        <p:nvSpPr>
          <p:cNvPr id="18" name="energy-definition">
            <a:extLst xmlns:a="http://schemas.openxmlformats.org/drawingml/2006/main">
              <a:ext uri="{FF2B5EF4-FFF2-40B4-BE49-F238E27FC236}">
                <a16:creationId xmlns:a16="http://schemas.microsoft.com/office/drawing/2014/main" id="{C2AA05DE-82F4-48EE-962E-00644B12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采样保持积分：E_Rm = Σ P_Rm,k · Δt_k    共同安全最优电能 = 0.77568 J</a:t>
            </a:r>
          </a:p>
        </p:txBody>
      </p:sp>
      <p:sp>
        <p:nvSpPr>
          <p:cNvPr id="19" name="energy-method">
            <a:extLst xmlns:a="http://schemas.openxmlformats.org/drawingml/2006/main">
              <a:ext uri="{FF2B5EF4-FFF2-40B4-BE49-F238E27FC236}">
                <a16:creationId xmlns:a16="http://schemas.microsoft.com/office/drawing/2014/main" id="{5B1AC439-060D-49DE-B7C5-B5E62FA1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已有离散数据复算，包含扫描、试探和保护记录，非新仿真、非声学效率。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电—声接口已标准化：COMSOL未运行，但输入合同已就绪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安全工作点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声学查找表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ηacoustic(f)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相对声压代理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target / wall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EA_IF_V1.0｜基准+低/中/高组合4条记录｜接口审计 PASS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接口一致不等于声场结果；复端口电压作为FEM激励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电学建模与控制原型已有证据，计划书验收尚未全部完成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    不能把静态扫描齐全、实验分支通过或接口PASS等同于全部验收完成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已有证据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v2.1匹配与双线核对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34个场景静态登记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低／中／高组合静态验证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选频、保护与控制原型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电—声接口EA_IF_V1.0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本月仍需补齐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固定／扫频／相位统一验收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完整单因素与组合闭环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逐点保护正式集成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功率与反射验收合同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采样间隙与全程电能评估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后续外部验证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实测阻抗与BVD辨识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电压／电流／功率标定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结构声场与网格收敛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水听器声场验证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不作治疗或安全外推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备份：用户工作要求与假设模型／控制参数分别登记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5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电流目标／硬限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约5 / 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用户量级；RMS与6为假设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按假设fs、Qm、Rm反推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戴维南源Rs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假设源阻抗，非完整功放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hreshold-classification">
            <a:extLst xmlns:a="http://schemas.openxmlformats.org/drawingml/2006/main">
              <a:ext uri="{FF2B5EF4-FFF2-40B4-BE49-F238E27FC236}">
                <a16:creationId xmlns:a16="http://schemas.microsoft.com/office/drawing/2014/main" id="{45890C11-80A8-48B0-AAA3-4B3F6044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245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130 Vpp / 5.5 mA为假设软阈值；160 Vpp是用户给定边界，不是实测器件额定值。</a:t>
            </a:r>
          </a:p>
        </p:txBody>
      </p:sp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备份：Rm派生Qm已修正；静态覆盖不等于闭环覆盖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本次只修正派生字段与描述，非新LTspice仿真    完整同口径闭环覆盖仍待补齐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1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历史代表性控制序列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  <p:sp>
        <p:nvSpPr>
          <p:cNvPr id="14" name="rm-qm-correction">
            <a:extLst xmlns:a="http://schemas.openxmlformats.org/drawingml/2006/main">
              <a:ext uri="{FF2B5EF4-FFF2-40B4-BE49-F238E27FC236}">
                <a16:creationId xmlns:a16="http://schemas.microsoft.com/office/drawing/2014/main" id="{B3EA6390-7245-4735-994C-043DBB2D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Rm-only：+15% / +30% / +50% → Qm = 695.7 / 615.4 / 533.3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Lm、Cm未改；34场景×2001频点回归，电学响应数组修正前后完全一致。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备份：低中高组合均通过LTspice/Python交叉验证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真实LTspice/Python交叉验证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0.01461%｜PASS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0.00751%｜PASS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0.00295%｜PASS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三档误差均远低于5%验收线；这排除了主要实现差异，但不能验证假设参数是真实器件参数。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min |arg Zin|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计划策略三：相位闭环已实现，但固定相位不保证功率最优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假设BVD模型；历史相位增益试验    固定目标不随扰动场景重新标定；统一验收仍待完成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pic>
        <p:nvPicPr>
          <p:cNvPr id="20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7e9154c7b4ac9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测点：匹配网络输入端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φin = arg(Zin)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050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基准功率峰相位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目标 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历史增益5 / 50 / 100 Hz/°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方向由局部dφ/df决定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2819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50、100 Hz/°各有1段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相位误差小但功率较低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P_Rm &lt; 0.95 P*</a:t>
            </a:r>
          </a:p>
        </p:txBody>
      </p:sp>
      <p:sp>
        <p:nvSpPr>
          <p:cNvPr id="14" name="phase-plot-scope">
            <a:extLst xmlns:a="http://schemas.openxmlformats.org/drawingml/2006/main">
              <a:ext uri="{FF2B5EF4-FFF2-40B4-BE49-F238E27FC236}">
                <a16:creationId xmlns:a16="http://schemas.microsoft.com/office/drawing/2014/main" id="{EFCC20EA-0C0D-4ACD-B8E6-25645537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15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左图：K=5 Hz/°历史时序；右侧错误锁定计数来自全增益表。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正文三策略恢复计划书组合，统一验收仍是未完成项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计划书正式组合：固定频率／周期扫频／相位闭环    本次未运行新的统一闭环验收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graphicFrame>
        <p:nvGraphicFramePr>
          <p:cNvPr id="20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648950" cy="271462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857375"/>
                <a:gridCol w="2333625"/>
                <a:gridCol w="2095500"/>
                <a:gridCol w="2266950"/>
                <a:gridCol w="2095500"/>
              </a:tblGrid>
              <a:tr h="6905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计划书策略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已有控制实现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已有时序证据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统一正式指标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本次状态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固定频率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 MHz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共同保护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代表扰动段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待同口径重评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不作新排名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离散局部寻峰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共同保护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代表扰动段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待同口径重评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不作新排名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相位误差闭环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输入相位跟踪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增益试验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历史补充表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窗口／判据待统一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不作新排名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1eecf5a5d647ec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387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必须统一：源与模型、扰动日程、状态资格、功率参考、连续验收及扫描时间成本。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相位闭环表现不佳也是结果；扫描辅助P&amp;O作为第四种扩展方法，不替代计划策略。</a:t>
            </a:r>
          </a:p>
        </p:txBody>
      </p:sp>
      <p:sp>
        <p:nvSpPr>
          <p:cNvPr id="13" name="formal-status-subtitle">
            <a:extLst xmlns:a="http://schemas.openxmlformats.org/drawingml/2006/main">
              <a:ext uri="{FF2B5EF4-FFF2-40B4-BE49-F238E27FC236}">
                <a16:creationId xmlns:a16="http://schemas.microsoft.com/office/drawing/2014/main" id="{3AC9E0A2-2920-4F31-A500-B02D23BA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已有相位表明确标注 NOT_FORMAL_RANKING；本页仅报告实现进展，正式排名待补齐。</a:t>
            </a:r>
          </a:p>
        </p:txBody>
      </p:sp>
      <p:sp>
        <p:nvSpPr>
          <p:cNvPr id="14" name="coverage-note">
            <a:extLst xmlns:a="http://schemas.openxmlformats.org/drawingml/2006/main">
              <a:ext uri="{FF2B5EF4-FFF2-40B4-BE49-F238E27FC236}">
                <a16:creationId xmlns:a16="http://schemas.microsoft.com/office/drawing/2014/main" id="{03828901-02FA-47F7-8CFC-D948FB9E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052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覆盖缺口：34个静态登记场景，旧主控制序列仅含其中7个不同场景。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备份：已有真实历史GUI证据，须标明日期与覆盖场景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GUI副本cir/raw/log与当时记录哈希一致；本次没有重新运行或截取LTspice界面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35053d3514670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97fec00604f20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24500"/>
            <a:ext cx="971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历史基准：2026-08-15｜LTspice 26.0.2.1；非全部当前场景截图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备份：正式比较需冻结以下口径，尚未统一重跑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拟统一的正式口径（不是新仿真结果）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安全最优P*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同场景、同幅度权限与约束；仅作离线评价参考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稳态窗口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98%以上、NORMAL且频率未冻结、连续10控制样本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恢复与缺失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报告序列起点及第10样本确认；未通过单列，稳态记NA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全程电能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相同时间区间积分，计入扫描、试探与保护降幅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安全与饱和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分开报告保存样本、保持区间；电压／电流／频率边界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功率／反射合同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明确上限对象、参考分母、阈值及无可行点处置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38800"/>
            <a:ext cx="1019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不降低98%门槛、不延长原0.8 s扰动段、不取消异常检测、不提高160 Vpp边界。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独立PI不是必需项；无积分控制时，“积分饱和”标为不适用。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备份：修复引用并保留版本证据，不覆盖历史运行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10处失效引用已定位支撑材料；涉及9页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72000"/>
            <a:ext cx="847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新修订清单与历史 evidence_manifest.csv 分开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旧清单154项：151一致，0丢失，3项修改；旧哈希不代表新文件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2026-09-10T10:05:42.3270000Z</dcterms:created>
  <dcterms:modified xsi:type="dcterms:W3CDTF">2026-09-10T10:05:42.3270000Z</dcterms:modified>
</coreProperties>
</file>