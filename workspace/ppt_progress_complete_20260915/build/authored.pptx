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05dc76c4f9d4df0" /><Relationship Type="http://schemas.openxmlformats.org/officeDocument/2006/relationships/extended-properties" Target="/docProps/app.xml" Id="Rd7826cbb1f2542cb" /><Relationship Type="http://schemas.openxmlformats.org/officeDocument/2006/relationships/officeDocument" Target="/ppt/presentation.xml" Id="R26bef6626c7247c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7a1087ae9a34e67"/>
  </p:sldMasterIdLst>
  <p:notesMasterIdLst>
    <p:notesMasterId xmlns:r="http://schemas.openxmlformats.org/officeDocument/2006/relationships" r:id="R8e7cecf2355d4bea"/>
  </p:notesMasterIdLst>
  <p:sldIdLst>
    <p:sldId xmlns:r="http://schemas.openxmlformats.org/officeDocument/2006/relationships" id="256" r:id="R2b3bf578d1a24af4"/>
    <p:sldId xmlns:r="http://schemas.openxmlformats.org/officeDocument/2006/relationships" id="257" r:id="R4684ee6e14d44727"/>
    <p:sldId xmlns:r="http://schemas.openxmlformats.org/officeDocument/2006/relationships" id="258" r:id="Rd2cc5d016093460b"/>
    <p:sldId xmlns:r="http://schemas.openxmlformats.org/officeDocument/2006/relationships" id="259" r:id="R543f59b9dbac4c78"/>
    <p:sldId xmlns:r="http://schemas.openxmlformats.org/officeDocument/2006/relationships" id="260" r:id="Rdf1c1162860d4525"/>
    <p:sldId xmlns:r="http://schemas.openxmlformats.org/officeDocument/2006/relationships" id="261" r:id="Rb382f013802d49a6"/>
    <p:sldId xmlns:r="http://schemas.openxmlformats.org/officeDocument/2006/relationships" id="262" r:id="Rcc6502139bdc48f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2739a7cdb484c63" /><Relationship Type="http://schemas.openxmlformats.org/officeDocument/2006/relationships/slideMaster" Target="/ppt/slideMasters/slideMaster1.xml" Id="Re7a1087ae9a34e67" /><Relationship Type="http://schemas.openxmlformats.org/officeDocument/2006/relationships/notesMaster" Target="/ppt/notesMasters/notesMaster1.xml" Id="R8e7cecf2355d4bea" /><Relationship Type="http://schemas.openxmlformats.org/officeDocument/2006/relationships/presProps" Target="/ppt/presProps.xml" Id="R4598560a15134c6b" /><Relationship Type="http://schemas.openxmlformats.org/officeDocument/2006/relationships/tableStyles" Target="/ppt/tableStyles.xml" Id="R72f002e3825b443b" /><Relationship Type="http://schemas.openxmlformats.org/officeDocument/2006/relationships/slide" Target="/ppt/slides/slide1.xml" Id="R2b3bf578d1a24af4" /><Relationship Type="http://schemas.openxmlformats.org/officeDocument/2006/relationships/slide" Target="/ppt/slides/slide2.xml" Id="R4684ee6e14d44727" /><Relationship Type="http://schemas.openxmlformats.org/officeDocument/2006/relationships/slide" Target="/ppt/slides/slide3.xml" Id="Rd2cc5d016093460b" /><Relationship Type="http://schemas.openxmlformats.org/officeDocument/2006/relationships/slide" Target="/ppt/slides/slide4.xml" Id="R543f59b9dbac4c78" /><Relationship Type="http://schemas.openxmlformats.org/officeDocument/2006/relationships/slide" Target="/ppt/slides/slide5.xml" Id="Rdf1c1162860d4525" /><Relationship Type="http://schemas.openxmlformats.org/officeDocument/2006/relationships/slide" Target="/ppt/slides/slide6.xml" Id="Rb382f013802d49a6" /><Relationship Type="http://schemas.openxmlformats.org/officeDocument/2006/relationships/slide" Target="/ppt/slides/slide7.xml" Id="Rcc6502139bdc48f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c1afb9c7925451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25a6f62402c4109" /><Relationship Type="http://schemas.openxmlformats.org/officeDocument/2006/relationships/notesMaster" Target="/ppt/notesMasters/notesMaster1.xml" Id="R6ecd184872974a8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3af1f15ebf14317" /><Relationship Type="http://schemas.openxmlformats.org/officeDocument/2006/relationships/notesMaster" Target="/ppt/notesMasters/notesMaster1.xml" Id="Rb0110d20e6a4410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dbb7605400e443f" /><Relationship Type="http://schemas.openxmlformats.org/officeDocument/2006/relationships/notesMaster" Target="/ppt/notesMasters/notesMaster1.xml" Id="R70fc97a16cc24e0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7a7d9b5a9204e05" /><Relationship Type="http://schemas.openxmlformats.org/officeDocument/2006/relationships/notesMaster" Target="/ppt/notesMasters/notesMaster1.xml" Id="R3ad4f13c575e4a8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3c95ee3e8e64a98" /><Relationship Type="http://schemas.openxmlformats.org/officeDocument/2006/relationships/notesMaster" Target="/ppt/notesMasters/notesMaster1.xml" Id="R278664bec9cf476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7a34a2824044450" /><Relationship Type="http://schemas.openxmlformats.org/officeDocument/2006/relationships/notesMaster" Target="/ppt/notesMasters/notesMaster1.xml" Id="Red109d2a3d2147b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65557ee685c4312" /><Relationship Type="http://schemas.openxmlformats.org/officeDocument/2006/relationships/notesMaster" Target="/ppt/notesMasters/notesMaster1.xml" Id="Re3a110e97f7b4cb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【建议时长】50秒</a:t>
            </a:r>
          </a:p>
          <a:p xmlns:a="http://schemas.openxmlformats.org/drawingml/2006/main">
            <a:r>
              <a:t>【本页结论】脚本已经组织成可操作的网页原型，具备电学计算、登记结果浏览和真实LTspice验证入口。</a:t>
            </a:r>
          </a:p>
          <a:p xmlns:a="http://schemas.openxmlformats.org/drawingml/2006/main">
            <a:r>
              <a:t>【讲稿】这页是实际网页截图。左侧可以修改单场景的BVD与匹配参数，主区显示当前功率峰位、机械支路有功功率，以及源功率、端口功率和电学功率分配比例。下方还分别报告谐振特征点，并提供登记场景的峰值趋势与完整频响。当前单场景随滑块重算，登记场景图反映已经冻结的正式数据，两者不能混淆。网页也有真实LTspice AC验证按钮和独立反馈验证页。这里展示的是软件原型，不代表实测设备或全部控制验收完成。</a:t>
            </a:r>
          </a:p>
          <a:p xmlns:a="http://schemas.openxmlformats.org/drawingml/2006/main">
            <a:r>
              <a:t>【看图】先指左侧参数，再指主区0.9000 MHz、170.0 mW和46.92%，最后说明验证入口。</a:t>
            </a:r>
          </a:p>
          <a:p xmlns:a="http://schemas.openxmlformats.org/drawingml/2006/main">
            <a:r>
              <a:t>【单位口径】P_source为戴维南理想源提供的有功功率。η_elec=P_port/P_source；图中输入相位arg(Zin)不等于端口V/I相位。原网页部分指标标签有省略号，完整字段以代码与导出表为准，未通过改写截图掩盖。</a:t>
            </a:r>
          </a:p>
          <a:p xmlns:a="http://schemas.openxmlformats.org/drawingml/2006/main">
            <a:r>
              <a:t>【证据】C:\Users\24739\Documents\Codex\2026-08-10\new-chat/CTO_virtual_drive_platform_v2_1/streamlit_app.py</a:t>
            </a:r>
          </a:p>
          <a:p xmlns:a="http://schemas.openxmlformats.org/drawingml/2006/main">
            <a:r>
              <a:t>C:\Users\24739\Documents\Codex\2026-08-10\new-chat/CTO_virtual_drive_platform_v2_1/pages/03_LTspice闭环验证.py</a:t>
            </a:r>
          </a:p>
          <a:p xmlns:a="http://schemas.openxmlformats.org/drawingml/2006/main">
            <a:r>
              <a:t>C:\Users\24739\Documents\Codex\2026-08-10\new-chat\ppt_progress_complete_20260915\build/assets/platform_home.jpg</a:t>
            </a:r>
          </a:p>
          <a:p xmlns:a="http://schemas.openxmlformats.org/drawingml/2006/main">
            <a:r>
              <a:t>【边界】本次仅打开网页并读取历史结果，没有点击AC求解或新建反馈会话。所有器件参数是假设，非实测。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【建议时长】75秒</a:t>
            </a:r>
          </a:p>
          <a:p xmlns:a="http://schemas.openxmlformats.org/drawingml/2006/main">
            <a:r>
              <a:t>【本页结论】对历史P&amp;O的一段指令完成真实LTspice瞬态求解，所选稳态尾段与解析预测接近。</a:t>
            </a:r>
          </a:p>
          <a:p xmlns:a="http://schemas.openxmlformats.org/drawingml/2006/main">
            <a:r>
              <a:t>【讲稿】前面主要是离散准稳态控制。为检查真实电路求解的瞬态响应，我们把历史P&amp;O在2.838至3.059秒这一小段的频率、幅度指令送入LTspice。左图是实际软件窗口，上两栏是以辅助节点编码的指令，下两栏是LTspice求解的电流、电压载波。右表选取LTspice时间223至224毫秒的稳定尾段，对应0.8548 MHz和幅度1。机械支路有功功率为139.3401毫瓦，解析预测140.2304毫瓦，相对差异约0.635%。此前50纳秒步长未通过，缩小至2纳秒后才得到此结果，失败记录没有删除。该误差只属于这一统计窗口，不能作为全部瞬态的误差上界。</a:t>
            </a:r>
          </a:p>
          <a:p xmlns:a="http://schemas.openxmlformats.org/drawingml/2006/main">
            <a:r>
              <a:t>【时间映射】原时序=LT时间+2.835 s；新增3 ms建立段不进入正式片段统计。固定fs−5%负载，没有重放2.4 s的负载突变，也没有完整0.8 s段或另外两策略。</a:t>
            </a:r>
          </a:p>
          <a:p xmlns:a="http://schemas.openxmlformats.org/drawingml/2006/main">
            <a:r>
              <a:t>【关键限制】这是开环指令重放，LTspice结果不改变本段后续指令。不是闭环验收、实测、硬件安全或声学验证。图上约7 mA是瞬时峰值，不与6 mA RMS直接比较。50μs统计窗口最大129.994 Vpp和4.9296 mA RMS，无超限窗口不等于连续时间硬保护证明。</a:t>
            </a:r>
          </a:p>
          <a:p xmlns:a="http://schemas.openxmlformats.org/drawingml/2006/main">
            <a:r>
              <a:t>【数值方法】最大步长2 ns，关闭压缩；112000514点、RAW约3.136 GB、批处理约691.6 s。幅度边沿1 ns为假设。日志内部solver elapsed与外部进程耗时不同。</a:t>
            </a:r>
          </a:p>
          <a:p xmlns:a="http://schemas.openxmlformats.org/drawingml/2006/main">
            <a:r>
              <a:t>【证据】C:\Users\24739\Documents\Codex\2026-08-10\new-chat/ltspice_transient_replay_20260911_continue/运行与核查报告.md</a:t>
            </a:r>
          </a:p>
          <a:p xmlns:a="http://schemas.openxmlformats.org/drawingml/2006/main">
            <a:r>
              <a:t>C:\Users\24739\Documents\Codex\2026-08-10\new-chat/ltspice_transient_replay_20260911_continue/PO_FS_M5_REPLAY_DT2NS.cir</a:t>
            </a:r>
          </a:p>
          <a:p xmlns:a="http://schemas.openxmlformats.org/drawingml/2006/main">
            <a:r>
              <a:t>C:\Users\24739\Documents\Codex\2026-08-10\new-chat/ltspice_transient_replay_20260911_continue/PO_FS_M5_REPLAY_DT2NS.raw</a:t>
            </a:r>
          </a:p>
          <a:p xmlns:a="http://schemas.openxmlformats.org/drawingml/2006/main">
            <a:r>
              <a:t>C:\Users\24739\Documents\Codex\2026-08-10\new-chat/ltspice_transient_replay_20260911_continue/PO_FS_M5_REPLAY_DT2NS.log</a:t>
            </a:r>
          </a:p>
          <a:p xmlns:a="http://schemas.openxmlformats.org/drawingml/2006/main">
            <a:r>
              <a:t>C:\Users\24739\Documents\Codex\2026-08-10\new-chat/ltspice_transient_replay_20260911_continue/baseline_convergence.csv</a:t>
            </a:r>
          </a:p>
          <a:p xmlns:a="http://schemas.openxmlformats.org/drawingml/2006/main">
            <a:r>
              <a:t>C:\Users\24739\Documents\Codex\2026-08-10\new-chat/ltspice_transient_replay_20260911_continue/finer_step_spotchecks.json</a:t>
            </a:r>
          </a:p>
          <a:p xmlns:a="http://schemas.openxmlformats.org/drawingml/2006/main">
            <a:r>
              <a:t>C:\Users\24739\Documents\Codex\2026-08-10\new-chat/ltspice_transient_replay_20260911_continue/GUI_20260912_replay_full.png</a:t>
            </a:r>
          </a:p>
          <a:p xmlns:a="http://schemas.openxmlformats.org/drawingml/2006/main">
            <a:r>
              <a:t>【统计差异】尾表为RAW后处理。日志.meas的功率0.139337 W与RAW139.3401 mW有采样积分末位差异，二者不可无解释地混用。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【建议时长】70秒</a:t>
            </a:r>
          </a:p>
          <a:p xmlns:a="http://schemas.openxmlformats.org/drawingml/2006/main">
            <a:r>
              <a:t>【本页结论】真实RAW结果已影响下一条指令，并由后续LTspice求解实际执行，离线因果反馈链成立。</a:t>
            </a:r>
          </a:p>
          <a:p xmlns:a="http://schemas.openxmlformats.org/drawingml/2006/main">
            <a:r>
              <a:t>【讲稿】这一页与上一页的区别在于，下一条指令不再预先给定，而由本轮LTspice输出决定。我们在固定基准负载、0.4倍幅度下完成五轮求解。第3轮在0.9000 MHz得到27.187毫瓦的端口功率，第4轮试探到0.9005 MHz后降至22.175毫瓦，Python据此反向。第5轮实际回到0.9000 MHz，得到27.186毫瓦。因此，反馈不仅计算出来，还在下一次求解中执行。每轮电路时间为1毫秒，但计算机实际求解要14至27秒，这是一项离线接口验证。</a:t>
            </a:r>
          </a:p>
          <a:p xmlns:a="http://schemas.openxmlformats.org/drawingml/2006/main">
            <a:r>
              <a:t>【方法】每次从相同初态重算截至本轮的完整指令历史，并从新增末区间提取RAW反馈。没有用旧控制CSV替代新指令，也没有从解析扫频表读取最优频率。反馈采用P_port=平均v(t)i(t)，不是前面PRm指标统一重评。相位来自端口V/I基波，亦不同于历史相位闭环argZin。幅度全程a=.4，a不是端口电压比例在任意频率都恒定。</a:t>
            </a:r>
          </a:p>
          <a:p xmlns:a="http://schemas.openxmlformats.org/drawingml/2006/main">
            <a:r>
              <a:t>【范围】固定负载无运行中突变，简单500Hz局部P&amp;O，无全局峰值保证。第5轮生成899500Hz指令没有第6轮执行结果。会话COMPLETE仅表示达到5轮上限，不等于优化收敛。3ms建立段不计反馈，末200μs统计功率、50μs窗口检查保护。保护只能在求解结束后下达后续动作，不能撤销已经发生的越限。</a:t>
            </a:r>
          </a:p>
          <a:p xmlns:a="http://schemas.openxmlformats.org/drawingml/2006/main">
            <a:r>
              <a:t>【证据】C:\Users\24739\Documents\Codex\2026-08-10\new-chat/CTO_virtual_drive_platform_v2_1/results/ltspice_closed_loop/CL_20260914_124949_410d5f9d/session.json</a:t>
            </a:r>
          </a:p>
          <a:p xmlns:a="http://schemas.openxmlformats.org/drawingml/2006/main">
            <a:r>
              <a:t>C:\Users\24739\Documents\Codex\2026-08-10\new-chat/CTO_virtual_drive_platform_v2_1/results/ltspice_closed_loop/CL_20260914_124949_410d5f9d/config.json</a:t>
            </a:r>
          </a:p>
          <a:p xmlns:a="http://schemas.openxmlformats.org/drawingml/2006/main">
            <a:r>
              <a:t>C:\Users\24739\Documents\Codex\2026-08-10\new-chat/CTO_virtual_drive_platform_v2_1/results/ltspice_closed_loop/CL_20260914_124949_410d5f9d/reversal_acceptance.json</a:t>
            </a:r>
          </a:p>
          <a:p xmlns:a="http://schemas.openxmlformats.org/drawingml/2006/main">
            <a:r>
              <a:t>C:\Users\24739\Documents\Codex\2026-08-10\new-chat/CTO_virtual_drive_platform_v2_1/results/ltspice_closed_loop/CL_20260914_124949_410d5f9d/step_003/feedback.json</a:t>
            </a:r>
          </a:p>
          <a:p xmlns:a="http://schemas.openxmlformats.org/drawingml/2006/main">
            <a:r>
              <a:t>C:\Users\24739\Documents\Codex\2026-08-10\new-chat/CTO_virtual_drive_platform_v2_1/results/ltspice_closed_loop/CL_20260914_124949_410d5f9d/step_004/stimulus.json</a:t>
            </a:r>
          </a:p>
          <a:p xmlns:a="http://schemas.openxmlformats.org/drawingml/2006/main">
            <a:r>
              <a:t>各轮circuit.cir/.raw/.log、execution.json，完整链路相邻指令一致。</a:t>
            </a:r>
          </a:p>
          <a:p xmlns:a="http://schemas.openxmlformats.org/drawingml/2006/main">
            <a:r>
              <a:t>【本次工作】读取2026-09-14既有会话，不重新启动LTspice。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【建议时长】55秒</a:t>
            </a:r>
          </a:p>
          <a:p xmlns:a="http://schemas.openxmlformats.org/drawingml/2006/main">
            <a:r>
              <a:t>【讲稿】截至9月15日，我们的完成内容已不只是脚本和几张曲线。已有自洽的BVD匹配模型、34个登记静态场景、可操作网页、控制原型和改进对照研究，并进一步取得真实LTspice瞬态重放及五轮离线反馈证据。但这些工作不能拼成一个“所有任务均通过”的结论。相位控制与固定、扫频仍未统一评价，全部单因素和组合场景还未进入同口径闭环，动态负载反馈和全过程硬限也未证明。结构声场目前只有接口。下一步应先补齐这些定义和验证缺口，而不是增加更多算法名称。</a:t>
            </a:r>
          </a:p>
          <a:p xmlns:a="http://schemas.openxmlformats.org/drawingml/2006/main">
            <a:r>
              <a:t>【已有部分验收的含义】新实验版本在原0.8秒fs漂移段中部分通过连续窗口；历史主时序的未通过结果保留，不用新版本替换其成绩。消融见第26页，后续候选见第27页。</a:t>
            </a:r>
          </a:p>
          <a:p xmlns:a="http://schemas.openxmlformats.org/drawingml/2006/main">
            <a:r>
              <a:t>【工程进度与科学边界】6mA硬限和软阈值是仿真假设，实物阻抗/功率/声场测量尚未做。所有结论只限于假设BVD电学范围。</a:t>
            </a:r>
          </a:p>
          <a:p xmlns:a="http://schemas.openxmlformats.org/drawingml/2006/main">
            <a:r>
              <a:t>【证据】C:\Users\24739\Documents\Codex\2026-08-10\new-chat/CTO_virtual_drive_platform_v2_1/streamlit_app.py</a:t>
            </a:r>
          </a:p>
          <a:p xmlns:a="http://schemas.openxmlformats.org/drawingml/2006/main">
            <a:r>
              <a:t>C:\Users\24739\Documents\Codex\2026-08-10\new-chat/ltspice_transient_replay_20260911_continue/运行与核查报告.md</a:t>
            </a:r>
          </a:p>
          <a:p xmlns:a="http://schemas.openxmlformats.org/drawingml/2006/main">
            <a:r>
              <a:t>C:\Users\24739\Documents\Codex\2026-08-10\new-chat/CTO_virtual_drive_platform_v2_1/results/ltspice_closed_loop/CL_20260914_124949_410d5f9d/reversal_acceptance.json</a:t>
            </a:r>
          </a:p>
          <a:p xmlns:a="http://schemas.openxmlformats.org/drawingml/2006/main">
            <a:r>
              <a:t>C:\Users\24739\Documents\Codex\2026-08-10\new-chat/control_factorial_20260907/deliverables/第二轮控制消融验证报告.md</a:t>
            </a:r>
          </a:p>
          <a:p xmlns:a="http://schemas.openxmlformats.org/drawingml/2006/main">
            <a:r>
              <a:t>C:\Users\24739\Documents\Codex\2026-08-10\new-chat/CTO_virtual_drive_platform_v2_1/results/tables/stage4_5/plan_fixed_periodic_phase_integrated.csv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【建议时长】备份，问到算法改进时讲75秒</a:t>
            </a:r>
          </a:p>
          <a:p xmlns:a="http://schemas.openxmlformats.org/drawingml/2006/main">
            <a:r>
              <a:t>【讲稿】我们并没有只尝试一个复杂控制器。这个批次将相位辅助、独立幅度PI和受约束选频分别开关，完成八种组合，再增加两个去掉相位的局部功率搜索对照。表中全部取原0.8秒每段，且各版本用相同序列。最重要的结果是没有全面胜出的组合。例如P&amp;O的ABC电能比例54.69%高于对照50.33%，但通过段数从4降为3。独立PI也没有稳定提高成绩。C在原登记场景峰位处通常约束不活跃，所以原序列成绩几乎不变；后续负Rm受限场景只是探索性诊断。因而现阶段应处理恢复代价和保护缺口，而不是凭模块数量宣布改进。</a:t>
            </a:r>
          </a:p>
          <a:p xmlns:a="http://schemas.openxmlformats.org/drawingml/2006/main">
            <a:r>
              <a:t>【设计】8组合+2去相位对照，各3策略，0.8/1.6秒两种段时长，共60条准稳态时序。此页只展示原0.8秒的扫频/P&amp;O，固定基线和1.6秒补充在完整报告，不把延长段时长当作原验收通过。</a:t>
            </a:r>
          </a:p>
          <a:p xmlns:a="http://schemas.openxmlformats.org/drawingml/2006/main">
            <a:r>
              <a:t>【A/B/C】A的输入相位只给候选，必须局部功率核验。B在a²坐标PI：Kp=.6、Ki=.8/s为假设。C按(Pport/a²)×a_allow²评分，是软约束局部网格优化，不是CBF或全局动态优化。</a:t>
            </a:r>
          </a:p>
          <a:p xmlns:a="http://schemas.openxmlformats.org/drawingml/2006/main">
            <a:r>
              <a:t>【验收】CONTROL、NORMAL、频率未冻结、捕获≥98%、相邻样本间隔≤30ms、连续10样本。B的NORMAL允许在a_goal&lt;1时成立这一语义扩展已在报告公开，另有去状态标签对照。</a:t>
            </a:r>
          </a:p>
          <a:p xmlns:a="http://schemas.openxmlformats.org/drawingml/2006/main">
            <a:r>
              <a:t>【能量】按保持指令与真实扰动边界积分的准稳态电能，分母为软限最优功率积分；越限风险区间也计入，不能称为安全收益。原统计点无硬越限，但保持指令风险复算发现超160Vpp，不是LTspice瞬态。</a:t>
            </a:r>
          </a:p>
          <a:p xmlns:a="http://schemas.openxmlformats.org/drawingml/2006/main">
            <a:r>
              <a:t>【证据】C:\Users\24739\Documents\Codex\2026-08-10\new-chat/control_factorial_20260907/results/summary.csv</a:t>
            </a:r>
          </a:p>
          <a:p xmlns:a="http://schemas.openxmlformats.org/drawingml/2006/main">
            <a:r>
              <a:t>C:\Users\24739\Documents\Codex\2026-08-10\new-chat/control_factorial_20260907/deliverables/第二轮控制消融验证报告.md</a:t>
            </a:r>
          </a:p>
          <a:p xmlns:a="http://schemas.openxmlformats.org/drawingml/2006/main">
            <a:r>
              <a:t>【研究性质】所有控制参数是假设值，本轮不等于复现某篇论文的完整方法；无器件或声场实验。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【建议时长】备份，查证时讲40秒</a:t>
            </a:r>
          </a:p>
          <a:p xmlns:a="http://schemas.openxmlformats.org/drawingml/2006/main">
            <a:r>
              <a:t>【讲稿】我们已取得完整LTspice波形和Error Log截图，所以不能再说项目只有残缺截图。这里显示9月11日求解、9月12日截取的瞬态日志，能看到版本、求解结束和末窗口.meas。第17页是同一重放RAW的完整波形窗口。原8月15日AC截图仍在历史文件中保留，但它属于另一批次，而且有裁切，不能拿这张瞬态截图当作旧AC场景的证明。</a:t>
            </a:r>
          </a:p>
          <a:p xmlns:a="http://schemas.openxmlformats.org/drawingml/2006/main">
            <a:r>
              <a:t>【数值】Log.meas：96.5473098755Vpp、.00492089171808Arms、.139337367035W，FROM .223 TO .224。RAW后处理PRm139.3401mW有末位积分差异。Log内部elapsed682.287s，外部进程计时691.6s，定义不同。</a:t>
            </a:r>
          </a:p>
          <a:p xmlns:a="http://schemas.openxmlformats.org/drawingml/2006/main">
            <a:r>
              <a:t>【证据】C:\Users\24739\Documents\Codex\2026-08-10\new-chat/ltspice_transient_replay_20260911_continue/GUI_20260912_LTspice_Error_Log.png</a:t>
            </a:r>
          </a:p>
          <a:p xmlns:a="http://schemas.openxmlformats.org/drawingml/2006/main">
            <a:r>
              <a:t>C:\Users\24739\Documents\Codex\2026-08-10\new-chat/ltspice_transient_replay_20260911_continue/GUI_20260912_replay_full.png</a:t>
            </a:r>
          </a:p>
          <a:p xmlns:a="http://schemas.openxmlformats.org/drawingml/2006/main">
            <a:r>
              <a:t>C:\Users\24739\Documents\Codex\2026-08-10\new-chat/ltspice_transient_replay_20260911_continue/GUI_20260912_tail_carrier.png</a:t>
            </a:r>
          </a:p>
          <a:p xmlns:a="http://schemas.openxmlformats.org/drawingml/2006/main">
            <a:r>
              <a:t>C:\Users\24739\Documents\Codex\2026-08-10\new-chat/ltspice_transient_replay_20260911_continue/GUI_20260912_capture_notes.json</a:t>
            </a:r>
          </a:p>
          <a:p xmlns:a="http://schemas.openxmlformats.org/drawingml/2006/main">
            <a:r>
              <a:t>C:\Users\24739\Documents\Codex\2026-08-10\new-chat/ltspice_transient_replay_20260911_continue/PO_FS_M5_REPLAY_DT2NS.log</a:t>
            </a:r>
          </a:p>
          <a:p xmlns:a="http://schemas.openxmlformats.org/drawingml/2006/main">
            <a:r>
              <a:t>【历史原稿保留】C:\Users\24739\Documents\Codex\2026-08-10\new-chat/ppt_control_progress_20260914/output/CTO组会汇报_仅第15页更新_2026-09-15.pptx，原第25页。截图为已留存的真实软件窗口，本次未重新截图LTspice软件，也未启动新求解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【建议时长】备份，追问证据时讲60秒</a:t>
            </a:r>
          </a:p>
          <a:p xmlns:a="http://schemas.openxmlformats.org/drawingml/2006/main">
            <a:r>
              <a:t>【讲稿】这页把证据分层。静态AC交叉验证核对电路求解；历史准稳态时序展示控制和扫描代价；9月7日消融测试用于研究改进来源；9月11日瞬态重放核对一段电路响应；9月14日五轮反馈验证因果指令链。网页截图证明平台操作界面已组织起来。这些批次采用不同窗口和目标，不能混成一次统一实验，也不能互相替代。</a:t>
            </a:r>
          </a:p>
          <a:p xmlns:a="http://schemas.openxmlformats.org/drawingml/2006/main">
            <a:r>
              <a:t>【主要路径】</a:t>
            </a:r>
          </a:p>
          <a:p xmlns:a="http://schemas.openxmlformats.org/drawingml/2006/main">
            <a:r>
              <a:t>静态：C:\Users\24739\Documents\Codex\2026-08-10\new-chat/CTO_virtual_drive_platform_v2_1/evidence/ltspice/stage2/stage2_audit.json</a:t>
            </a:r>
          </a:p>
          <a:p xmlns:a="http://schemas.openxmlformats.org/drawingml/2006/main">
            <a:r>
              <a:t>历史：C:\Users\24739\Documents\Codex\2026-08-10\new-chat/ppt_control_fix_20260906/build/data/stage4_control_timeline.csv</a:t>
            </a:r>
          </a:p>
          <a:p xmlns:a="http://schemas.openxmlformats.org/drawingml/2006/main">
            <a:r>
              <a:t>消融：C:\Users\24739\Documents\Codex\2026-08-10\new-chat/control_factorial_20260907/results/summary.csv</a:t>
            </a:r>
          </a:p>
          <a:p xmlns:a="http://schemas.openxmlformats.org/drawingml/2006/main">
            <a:r>
              <a:t>瞬态：C:\Users\24739\Documents\Codex\2026-08-10\new-chat/ltspice_transient_replay_20260911_continue/source_traceability.json</a:t>
            </a:r>
          </a:p>
          <a:p xmlns:a="http://schemas.openxmlformats.org/drawingml/2006/main">
            <a:r>
              <a:t>C:\Users\24739\Documents\Codex\2026-08-10\new-chat/ltspice_transient_replay_20260911_continue/PO_FS_M5_REPLAY_DT2NS_execution.json</a:t>
            </a:r>
          </a:p>
          <a:p xmlns:a="http://schemas.openxmlformats.org/drawingml/2006/main">
            <a:r>
              <a:t>反馈：C:\Users\24739\Documents\Codex\2026-08-10\new-chat/CTO_virtual_drive_platform_v2_1/results/ltspice_closed_loop/CL_20260914_124949_410d5f9d/reversal_acceptance.json</a:t>
            </a:r>
          </a:p>
          <a:p xmlns:a="http://schemas.openxmlformats.org/drawingml/2006/main">
            <a:r>
              <a:t>平台：C:\Users\24739\Documents\Codex\2026-08-10\new-chat/CTO_virtual_drive_platform_v2_1/streamlit_app.py</a:t>
            </a:r>
          </a:p>
          <a:p xmlns:a="http://schemas.openxmlformats.org/drawingml/2006/main">
            <a:r>
              <a:t>【批次区分】历史主时序sha256 a734eca013d415f7a875c2785068745cd80ad811d7284e893bbcd1e974c5f0a0。后续候选cdde9dab61另列第27页。瞬态RAW sha256 aacc5b49f002f3d5636968686499275533e614d7f9f71cc69ea619aeb1422288。反馈每轮RAW各有独立哈希，见session与execution。</a:t>
            </a:r>
          </a:p>
          <a:p xmlns:a="http://schemas.openxmlformats.org/drawingml/2006/main">
            <a:r>
              <a:t>【本次整理范围】本次PPT更新没有运行新的LTspice或控制仿真。只读取既有结果、截取真实网页、制作可追溯的汇报页面。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1ac5d8ec36c420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b664972d4e64056" /><Relationship Type="http://schemas.openxmlformats.org/officeDocument/2006/relationships/slideLayout" Target="/ppt/slideLayouts/slideLayout1.xml" Id="R94c80b37b9454e8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4c80b37b9454e8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42d557270c4bf3" /><Relationship Type="http://schemas.openxmlformats.org/officeDocument/2006/relationships/image" Target="/ppt/media/image.jpeg" Id="R7ea37a320c404fb7" /><Relationship Type="http://schemas.openxmlformats.org/officeDocument/2006/relationships/notesSlide" Target="/ppt/notesSlides/notesSlide1.xml" Id="Rbedbac7e00654ef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085c417fb6474d" /><Relationship Type="http://schemas.openxmlformats.org/officeDocument/2006/relationships/image" Target="/ppt/media/image2.jpeg" Id="Re16ccf3da0f24cc9" /><Relationship Type="http://schemas.openxmlformats.org/officeDocument/2006/relationships/notesSlide" Target="/ppt/notesSlides/notesSlide2.xml" Id="Rc25b3620f4dd416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7c64f908c74198" /><Relationship Type="http://schemas.openxmlformats.org/officeDocument/2006/relationships/notesSlide" Target="/ppt/notesSlides/notesSlide3.xml" Id="Rfe30500ee334419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9e232152224f2d" /><Relationship Type="http://schemas.openxmlformats.org/officeDocument/2006/relationships/notesSlide" Target="/ppt/notesSlides/notesSlide4.xml" Id="R012ec2d8a7d5491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6fffa2c55547cd" /><Relationship Type="http://schemas.openxmlformats.org/officeDocument/2006/relationships/notesSlide" Target="/ppt/notesSlides/notesSlide5.xml" Id="R675b5ef8fab24d7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f9755e9b674283" /><Relationship Type="http://schemas.openxmlformats.org/officeDocument/2006/relationships/image" Target="/ppt/media/image3.jpeg" Id="R0dd9af92f9464176" /><Relationship Type="http://schemas.openxmlformats.org/officeDocument/2006/relationships/notesSlide" Target="/ppt/notesSlides/notesSlide6.xml" Id="R3eb9c7fff10d4d5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02b37278854087" /><Relationship Type="http://schemas.openxmlformats.org/officeDocument/2006/relationships/notesSlide" Target="/ppt/notesSlides/notesSlide7.xml" Id="R6c3c4328af58493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itle">
            <a:extLst xmlns:a="http://schemas.openxmlformats.org/drawingml/2006/main">
              <a:ext uri="{FF2B5EF4-FFF2-40B4-BE49-F238E27FC236}">
                <a16:creationId xmlns:a16="http://schemas.microsoft.com/office/drawing/2014/main" id="{AF80BC09-0D95-4811-AE03-8715E3CEB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网页平台原型与操作流程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9C8C99-560F-40A3-8067-CCE273BC1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A616E6-41A4-4024-A5F7-B3416FF7C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1DC"/>
          </a:solidFill>
          <a:ln xmlns:a="http://schemas.openxmlformats.org/drawingml/2006/main" w="0">
            <a:noFill/>
          </a:ln>
        </p:spPr>
      </p:sp>
      <p:sp>
        <p:nvSpPr>
          <p:cNvPr id="4" name="scope">
            <a:extLst xmlns:a="http://schemas.openxmlformats.org/drawingml/2006/main">
              <a:ext uri="{FF2B5EF4-FFF2-40B4-BE49-F238E27FC236}">
                <a16:creationId xmlns:a16="http://schemas.microsoft.com/office/drawing/2014/main" id="{11A31217-F94E-4826-BEF9-953E3845B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43675"/>
            <a:ext cx="103822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F6B76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5F6B76"/>
                </a:solidFill>
                <a:latin typeface="Calibri"/>
                <a:ea typeface="Calibri"/>
                <a:cs typeface="Calibri"/>
              </a:rPr>
              <a:t>2026-09-15真实网页截图    假设线性BVD参数，非实测数据    页面功能与物理验收分别报告</a:t>
            </a:r>
          </a:p>
        </p:txBody>
      </p:sp>
      <p:sp>
        <p:nvSpPr>
          <p:cNvPr id="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334050DD-2E30-4E0F-A938-B250E743E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43675"/>
            <a:ext cx="3619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F6B76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5F6B76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6" name="sub">
            <a:extLst xmlns:a="http://schemas.openxmlformats.org/drawingml/2006/main">
              <a:ext uri="{FF2B5EF4-FFF2-40B4-BE49-F238E27FC236}">
                <a16:creationId xmlns:a16="http://schemas.microsoft.com/office/drawing/2014/main" id="{546044B2-6717-4045-92EE-CA7D7501A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33475"/>
            <a:ext cx="108204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F6B76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5F6B76"/>
                </a:solidFill>
                <a:latin typeface="Calibri"/>
                <a:ea typeface="Calibri"/>
                <a:cs typeface="Calibri"/>
              </a:rPr>
              <a:t>单场景交互计算、登记结果浏览与独立LTspice验证入口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ea37a320c404fb7"/>
          <a:stretch xmlns:a="http://schemas.openxmlformats.org/drawingml/2006/main"/>
        </p:blipFill>
        <p:spPr>
          <a:xfrm xmlns:a="http://schemas.openxmlformats.org/drawingml/2006/main">
            <a:off x="685800" y="1581150"/>
            <a:ext cx="7315200" cy="4114800"/>
          </a:xfrm>
          <a:prstGeom xmlns:a="http://schemas.openxmlformats.org/drawingml/2006/main" prst="rect">
            <a:avLst/>
          </a:prstGeom>
        </p:spPr>
      </p:pic>
      <p:sp>
        <p:nvSpPr>
          <p:cNvPr id="8" name="a">
            <a:extLst xmlns:a="http://schemas.openxmlformats.org/drawingml/2006/main">
              <a:ext uri="{FF2B5EF4-FFF2-40B4-BE49-F238E27FC236}">
                <a16:creationId xmlns:a16="http://schemas.microsoft.com/office/drawing/2014/main" id="{5EF93FBF-4F0D-493E-945F-E94921DAC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609725"/>
            <a:ext cx="3162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B70B5"/>
                </a:solidFill>
                <a:latin typeface="Calibri"/>
                <a:ea typeface="Calibri"/>
                <a:cs typeface="Calibri"/>
              </a:defRPr>
            </a:pPr>
            <a:r>
              <a:rPr sz="1875" b="1">
                <a:solidFill>
                  <a:srgbClr val="2B70B5"/>
                </a:solidFill>
                <a:latin typeface="Calibri"/>
                <a:ea typeface="Calibri"/>
                <a:cs typeface="Calibri"/>
              </a:rPr>
              <a:t>① 设定单场景参数</a:t>
            </a:r>
          </a:p>
        </p:txBody>
      </p:sp>
      <p:sp>
        <p:nvSpPr>
          <p:cNvPr id="9" name="ad">
            <a:extLst xmlns:a="http://schemas.openxmlformats.org/drawingml/2006/main">
              <a:ext uri="{FF2B5EF4-FFF2-40B4-BE49-F238E27FC236}">
                <a16:creationId xmlns:a16="http://schemas.microsoft.com/office/drawing/2014/main" id="{3345A406-A7E2-4146-9E2E-974277247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000250"/>
            <a:ext cx="31623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修改C₀、Rₘ、Lₘ、Cₘ等</a:t>
            </a:r>
          </a:p>
          <a:p xmlns:a="http://schemas.openxmlformats.org/drawingml/2006/main">
            <a:pPr>
              <a:defRPr sz="1650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计算当前频响和工作点</a:t>
            </a:r>
          </a:p>
        </p:txBody>
      </p:sp>
      <p:sp>
        <p:nvSpPr>
          <p:cNvPr id="10" name="b">
            <a:extLst xmlns:a="http://schemas.openxmlformats.org/drawingml/2006/main">
              <a:ext uri="{FF2B5EF4-FFF2-40B4-BE49-F238E27FC236}">
                <a16:creationId xmlns:a16="http://schemas.microsoft.com/office/drawing/2014/main" id="{8FB4D950-F2E5-4F66-A2AB-6D1BB06BC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724150"/>
            <a:ext cx="3162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B70B5"/>
                </a:solidFill>
                <a:latin typeface="Calibri"/>
                <a:ea typeface="Calibri"/>
                <a:cs typeface="Calibri"/>
              </a:defRPr>
            </a:pPr>
            <a:r>
              <a:rPr sz="1875" b="1">
                <a:solidFill>
                  <a:srgbClr val="2B70B5"/>
                </a:solidFill>
                <a:latin typeface="Calibri"/>
                <a:ea typeface="Calibri"/>
                <a:cs typeface="Calibri"/>
              </a:rPr>
              <a:t>② 查看电学结果</a:t>
            </a:r>
          </a:p>
        </p:txBody>
      </p:sp>
      <p:sp>
        <p:nvSpPr>
          <p:cNvPr id="11" name="bd">
            <a:extLst xmlns:a="http://schemas.openxmlformats.org/drawingml/2006/main">
              <a:ext uri="{FF2B5EF4-FFF2-40B4-BE49-F238E27FC236}">
                <a16:creationId xmlns:a16="http://schemas.microsoft.com/office/drawing/2014/main" id="{04CEE791-6DF7-484B-8BAD-158085F00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105150"/>
            <a:ext cx="31623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源功率、端口功率、η_elec</a:t>
            </a:r>
          </a:p>
          <a:p xmlns:a="http://schemas.openxmlformats.org/drawingml/2006/main">
            <a:pPr>
              <a:defRPr sz="1650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并列报告多个谐振特征点</a:t>
            </a:r>
          </a:p>
        </p:txBody>
      </p:sp>
      <p:sp>
        <p:nvSpPr>
          <p:cNvPr id="12" name="c">
            <a:extLst xmlns:a="http://schemas.openxmlformats.org/drawingml/2006/main">
              <a:ext uri="{FF2B5EF4-FFF2-40B4-BE49-F238E27FC236}">
                <a16:creationId xmlns:a16="http://schemas.microsoft.com/office/drawing/2014/main" id="{71F68C47-FC0C-44F1-80BF-EA85BC8CB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829050"/>
            <a:ext cx="3162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B70B5"/>
                </a:solidFill>
                <a:latin typeface="Calibri"/>
                <a:ea typeface="Calibri"/>
                <a:cs typeface="Calibri"/>
              </a:defRPr>
            </a:pPr>
            <a:r>
              <a:rPr sz="1875" b="1">
                <a:solidFill>
                  <a:srgbClr val="2B70B5"/>
                </a:solidFill>
                <a:latin typeface="Calibri"/>
                <a:ea typeface="Calibri"/>
                <a:cs typeface="Calibri"/>
              </a:rPr>
              <a:t>③ 浏览与验证</a:t>
            </a:r>
          </a:p>
        </p:txBody>
      </p:sp>
      <p:sp>
        <p:nvSpPr>
          <p:cNvPr id="13" name="cd">
            <a:extLst xmlns:a="http://schemas.openxmlformats.org/drawingml/2006/main">
              <a:ext uri="{FF2B5EF4-FFF2-40B4-BE49-F238E27FC236}">
                <a16:creationId xmlns:a16="http://schemas.microsoft.com/office/drawing/2014/main" id="{461CDA05-4984-4C1B-9BAF-19F71C62F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210050"/>
            <a:ext cx="31623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登记场景、峰值趋势、P(f)</a:t>
            </a:r>
          </a:p>
          <a:p xmlns:a="http://schemas.openxmlformats.org/drawingml/2006/main">
            <a:pPr>
              <a:defRPr sz="1650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调用AC验证，导出RAW证据</a:t>
            </a:r>
          </a:p>
          <a:p xmlns:a="http://schemas.openxmlformats.org/drawingml/2006/main">
            <a:pPr>
              <a:defRPr sz="1650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另页查看LTspice逐轮反馈</a:t>
            </a:r>
          </a:p>
        </p:txBody>
      </p:sp>
      <p:sp>
        <p:nvSpPr>
          <p:cNvPr id="14" name="caption">
            <a:extLst xmlns:a="http://schemas.openxmlformats.org/drawingml/2006/main">
              <a:ext uri="{FF2B5EF4-FFF2-40B4-BE49-F238E27FC236}">
                <a16:creationId xmlns:a16="http://schemas.microsoft.com/office/drawing/2014/main" id="{A0930AE2-FA7B-4E47-B2B6-19A9FAE70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72150"/>
            <a:ext cx="10820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截图基准：0.9000 MHz，P_Rm＝170.0 mW，P_source＝362.3 mW，η_elec＝46.92%</a:t>
            </a:r>
          </a:p>
        </p:txBody>
      </p:sp>
      <p:sp>
        <p:nvSpPr>
          <p:cNvPr id="15" name="limit">
            <a:extLst xmlns:a="http://schemas.openxmlformats.org/drawingml/2006/main">
              <a:ext uri="{FF2B5EF4-FFF2-40B4-BE49-F238E27FC236}">
                <a16:creationId xmlns:a16="http://schemas.microsoft.com/office/drawing/2014/main" id="{5C30D78C-5259-4107-837E-18517D54A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341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F6B76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5F6B76"/>
                </a:solidFill>
                <a:latin typeface="Calibri"/>
                <a:ea typeface="Calibri"/>
                <a:cs typeface="Calibri"/>
              </a:rPr>
              <a:t>单场景滑块与“已登记结果”分区独立。η_elec只表示电学功率分配，不能解释为电声效率。</a:t>
            </a:r>
          </a:p>
        </p:txBody>
      </p:sp>
    </p:spTree>
    <p:extLst>
      <p:ext uri="{BB962C8B-B14F-4D97-AF65-F5344CB8AC3E}">
        <p14:creationId xmlns:p14="http://schemas.microsoft.com/office/powerpoint/2010/main" val="136422742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itle">
            <a:extLst xmlns:a="http://schemas.openxmlformats.org/drawingml/2006/main">
              <a:ext uri="{FF2B5EF4-FFF2-40B4-BE49-F238E27FC236}">
                <a16:creationId xmlns:a16="http://schemas.microsoft.com/office/drawing/2014/main" id="{B1FCD58C-42E6-4C6B-B906-728D6A3F7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真实LTspice瞬态重放：所选尾段与准稳态预测接近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087BDA-DBB3-4C79-96C9-EA1BA3AF3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89B91D-E39C-4829-AA53-23BD58C41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1DC"/>
          </a:solidFill>
          <a:ln xmlns:a="http://schemas.openxmlformats.org/drawingml/2006/main" w="0">
            <a:noFill/>
          </a:ln>
        </p:spPr>
      </p:sp>
      <p:sp>
        <p:nvSpPr>
          <p:cNvPr id="4" name="scope">
            <a:extLst xmlns:a="http://schemas.openxmlformats.org/drawingml/2006/main">
              <a:ext uri="{FF2B5EF4-FFF2-40B4-BE49-F238E27FC236}">
                <a16:creationId xmlns:a16="http://schemas.microsoft.com/office/drawing/2014/main" id="{F7D1B7DC-A549-42BF-A1EC-A24FAB2C3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43675"/>
            <a:ext cx="103822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F6B76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5F6B76"/>
                </a:solidFill>
                <a:latin typeface="Calibri"/>
                <a:ea typeface="Calibri"/>
                <a:cs typeface="Calibri"/>
              </a:rPr>
              <a:t>2026-09-11/12瞬态批次    历史P&amp;O片段开环重放    仅固定fs−5%负载，不代表三策略完整闭环</a:t>
            </a:r>
          </a:p>
        </p:txBody>
      </p:sp>
      <p:sp>
        <p:nvSpPr>
          <p:cNvPr id="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1BBEFFB8-4D55-456F-96A5-5BB46AE66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43675"/>
            <a:ext cx="3619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F6B76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5F6B76"/>
                </a:solidFill>
                <a:latin typeface="Calibri"/>
                <a:ea typeface="Calibri"/>
                <a:cs typeface="Calibri"/>
              </a:rPr>
              <a:t>17</a:t>
            </a:r>
          </a:p>
        </p:txBody>
      </p:sp>
      <p:sp>
        <p:nvSpPr>
          <p:cNvPr id="6" name="sub">
            <a:extLst xmlns:a="http://schemas.openxmlformats.org/drawingml/2006/main">
              <a:ext uri="{FF2B5EF4-FFF2-40B4-BE49-F238E27FC236}">
                <a16:creationId xmlns:a16="http://schemas.microsoft.com/office/drawing/2014/main" id="{2A3DA9CD-C821-4E3C-86AE-4ABE2B32A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10820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F6B76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5F6B76"/>
                </a:solidFill>
                <a:latin typeface="Calibri"/>
                <a:ea typeface="Calibri"/>
                <a:cs typeface="Calibri"/>
              </a:rPr>
              <a:t>重放原时序2.838–3.059 s的61条相交指令记录，保留原持续时间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16ccf3da0f24cc9"/>
          <a:stretch xmlns:a="http://schemas.openxmlformats.org/drawingml/2006/main"/>
        </p:blipFill>
        <p:spPr>
          <a:xfrm xmlns:a="http://schemas.openxmlformats.org/drawingml/2006/main">
            <a:off x="687165" y="1647825"/>
            <a:ext cx="6998144" cy="3600450"/>
          </a:xfrm>
          <a:prstGeom xmlns:a="http://schemas.openxmlformats.org/drawingml/2006/main" prst="rect">
            <a:avLst/>
          </a:prstGeom>
        </p:spPr>
      </p:pic>
      <p:sp>
        <p:nvSpPr>
          <p:cNvPr id="8" name="legend">
            <a:extLst xmlns:a="http://schemas.openxmlformats.org/drawingml/2006/main">
              <a:ext uri="{FF2B5EF4-FFF2-40B4-BE49-F238E27FC236}">
                <a16:creationId xmlns:a16="http://schemas.microsoft.com/office/drawing/2014/main" id="{0A3C4160-310C-4E72-9641-A3E25E0A2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62575"/>
            <a:ext cx="7000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上两栏：频率与幅度命令　下两栏：瞬时电流与电压</a:t>
            </a:r>
          </a:p>
        </p:txBody>
      </p:sp>
      <p:sp>
        <p:nvSpPr>
          <p:cNvPr id="9" name="aux">
            <a:extLst xmlns:a="http://schemas.openxmlformats.org/drawingml/2006/main">
              <a:ext uri="{FF2B5EF4-FFF2-40B4-BE49-F238E27FC236}">
                <a16:creationId xmlns:a16="http://schemas.microsoft.com/office/drawing/2014/main" id="{BFCD61EA-7648-42D2-B5CD-2EBF7B5AE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95950"/>
            <a:ext cx="7000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F6B76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5F6B76"/>
                </a:solidFill>
                <a:latin typeface="Calibri"/>
                <a:ea typeface="Calibri"/>
                <a:cs typeface="Calibri"/>
              </a:rPr>
              <a:t>辅助节点V(f_mhz)以电压数值编码MHz，V(a_cmd)编码无量纲幅度a。</a:t>
            </a:r>
          </a:p>
        </p:txBody>
      </p:sp>
      <p:sp>
        <p:nvSpPr>
          <p:cNvPr id="10" name="tail">
            <a:extLst xmlns:a="http://schemas.openxmlformats.org/drawingml/2006/main">
              <a:ext uri="{FF2B5EF4-FFF2-40B4-BE49-F238E27FC236}">
                <a16:creationId xmlns:a16="http://schemas.microsoft.com/office/drawing/2014/main" id="{83B40D57-D6B6-4FF0-8ADD-1974E16E9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514475"/>
            <a:ext cx="34861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B70B5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2B70B5"/>
                </a:solidFill>
                <a:latin typeface="Calibri"/>
                <a:ea typeface="Calibri"/>
                <a:cs typeface="Calibri"/>
              </a:rPr>
              <a:t>尾段223–224 ms，0.8548 MHz，a＝1</a:t>
            </a:r>
          </a:p>
        </p:txBody>
      </p:sp>
      <p:graphicFrame>
        <p:nvGraphicFramePr>
          <p:cNvPr id="25" name=""/>
          <p:cNvGraphicFramePr/>
          <p:nvPr/>
        </p:nvGraphicFramePr>
        <p:xfrm>
          <a:off xmlns:a="http://schemas.openxmlformats.org/drawingml/2006/main" x="8020050" y="2152650"/>
          <a:ext xmlns:a="http://schemas.openxmlformats.org/drawingml/2006/main" cx="3486150" cy="19621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352550"/>
                <a:gridCol w="1066800"/>
                <a:gridCol w="1066800"/>
              </a:tblGrid>
              <a:tr h="490538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指标</a:t>
                      </a:r>
                    </a:p>
                  </a:txBody>
                  <a:tcPr marL="95250" marR="95250" marT="57150" marB="57150" anchor="ctr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LTspice</a:t>
                      </a:r>
                    </a:p>
                  </a:txBody>
                  <a:tcPr marL="95250" marR="95250" marT="57150" marB="57150" anchor="ctr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Python</a:t>
                      </a:r>
                    </a:p>
                  </a:txBody>
                  <a:tcPr marL="95250" marR="95250" marT="57150" marB="57150" anchor="ctr">
                    <a:solidFill>
                      <a:srgbClr val="17324D"/>
                    </a:solidFill>
                  </a:tcPr>
                </a:tc>
              </a:tr>
              <a:tr h="490538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Vpp / V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96.5473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96.9773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</a:tr>
              <a:tr h="490538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I / mA RMS</a:t>
                      </a:r>
                    </a:p>
                  </a:txBody>
                  <a:tcPr marL="95250" marR="95250" marT="57150" marB="57150" anchor="ctr">
                    <a:solidFill>
                      <a:srgbClr val="EA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4.9209</a:t>
                      </a:r>
                    </a:p>
                  </a:txBody>
                  <a:tcPr marL="95250" marR="95250" marT="57150" marB="57150" anchor="ctr">
                    <a:solidFill>
                      <a:srgbClr val="EA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4.9531</a:t>
                      </a:r>
                    </a:p>
                  </a:txBody>
                  <a:tcPr marL="95250" marR="95250" marT="57150" marB="57150" anchor="ctr">
                    <a:solidFill>
                      <a:srgbClr val="EAF1F5"/>
                    </a:solidFill>
                  </a:tcPr>
                </a:tc>
              </a:tr>
              <a:tr h="490538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P_Rm / mW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139.3401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140.2304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error">
            <a:extLst xmlns:a="http://schemas.openxmlformats.org/drawingml/2006/main">
              <a:ext uri="{FF2B5EF4-FFF2-40B4-BE49-F238E27FC236}">
                <a16:creationId xmlns:a16="http://schemas.microsoft.com/office/drawing/2014/main" id="{3FAA819C-8987-4B91-B1DD-E7603F0A5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295775"/>
            <a:ext cx="3486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B70B5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2B70B5"/>
                </a:solidFill>
                <a:latin typeface="Calibri"/>
                <a:ea typeface="Calibri"/>
                <a:cs typeface="Calibri"/>
              </a:rPr>
              <a:t>所选尾段功率差异 0.635%</a:t>
            </a:r>
          </a:p>
        </p:txBody>
      </p:sp>
      <p:sp>
        <p:nvSpPr>
          <p:cNvPr id="13" name="convergence">
            <a:extLst xmlns:a="http://schemas.openxmlformats.org/drawingml/2006/main">
              <a:ext uri="{FF2B5EF4-FFF2-40B4-BE49-F238E27FC236}">
                <a16:creationId xmlns:a16="http://schemas.microsoft.com/office/drawing/2014/main" id="{C329C68B-C155-495E-A69D-A16C1F2F6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838700"/>
            <a:ext cx="34861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已核查50、10、5、2 ns步长</a:t>
            </a:r>
          </a:p>
          <a:p xmlns:a="http://schemas.openxmlformats.org/drawingml/2006/main">
            <a:pPr>
              <a:defRPr sz="1575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50 ns结果未通过，保留失败记录</a:t>
            </a:r>
          </a:p>
          <a:p xmlns:a="http://schemas.openxmlformats.org/drawingml/2006/main">
            <a:pPr>
              <a:defRPr sz="1575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另做1 ns选点核查</a:t>
            </a:r>
          </a:p>
        </p:txBody>
      </p:sp>
      <p:sp>
        <p:nvSpPr>
          <p:cNvPr id="14" name="caveat">
            <a:extLst xmlns:a="http://schemas.openxmlformats.org/drawingml/2006/main">
              <a:ext uri="{FF2B5EF4-FFF2-40B4-BE49-F238E27FC236}">
                <a16:creationId xmlns:a16="http://schemas.microsoft.com/office/drawing/2014/main" id="{7F751F86-B74A-4894-97FF-808250E6F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24575"/>
            <a:ext cx="10820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BE3A3A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BE3A3A"/>
                </a:solidFill>
                <a:latin typeface="Calibri"/>
                <a:ea typeface="Calibri"/>
                <a:cs typeface="Calibri"/>
              </a:rPr>
              <a:t>截图时间轴含新增3 ms建立段。瞬时电流峰值不能直接与6 mA RMS比较。</a:t>
            </a:r>
          </a:p>
        </p:txBody>
      </p:sp>
    </p:spTree>
    <p:extLst>
      <p:ext uri="{BB962C8B-B14F-4D97-AF65-F5344CB8AC3E}">
        <p14:creationId xmlns:p14="http://schemas.microsoft.com/office/powerpoint/2010/main" val="154095379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itle">
            <a:extLst xmlns:a="http://schemas.openxmlformats.org/drawingml/2006/main">
              <a:ext uri="{FF2B5EF4-FFF2-40B4-BE49-F238E27FC236}">
                <a16:creationId xmlns:a16="http://schemas.microsoft.com/office/drawing/2014/main" id="{7061552D-979C-437F-8337-6DB2FAB73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五轮LTspice反馈：功率下降后反向指令已实际执行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0389F4-568F-453D-BA8B-FF24DAD17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E73D93-6728-4DEB-A9D0-40B891884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1DC"/>
          </a:solidFill>
          <a:ln xmlns:a="http://schemas.openxmlformats.org/drawingml/2006/main" w="0">
            <a:noFill/>
          </a:ln>
        </p:spPr>
      </p:sp>
      <p:sp>
        <p:nvSpPr>
          <p:cNvPr id="4" name="scope">
            <a:extLst xmlns:a="http://schemas.openxmlformats.org/drawingml/2006/main">
              <a:ext uri="{FF2B5EF4-FFF2-40B4-BE49-F238E27FC236}">
                <a16:creationId xmlns:a16="http://schemas.microsoft.com/office/drawing/2014/main" id="{30B7A240-5F96-446D-B683-4D7917396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43675"/>
            <a:ext cx="103822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F6B76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5F6B76"/>
                </a:solidFill>
                <a:latin typeface="Calibri"/>
                <a:ea typeface="Calibri"/>
                <a:cs typeface="Calibri"/>
              </a:rPr>
              <a:t>真实求解批次：CL_20260914_124949_410d5f9d    固定负载、低幅离线反馈接口检查</a:t>
            </a:r>
          </a:p>
        </p:txBody>
      </p:sp>
      <p:sp>
        <p:nvSpPr>
          <p:cNvPr id="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C89C6B87-083B-40D8-A44F-E627DA9F1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43675"/>
            <a:ext cx="3619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F6B76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5F6B76"/>
                </a:solidFill>
                <a:latin typeface="Calibri"/>
                <a:ea typeface="Calibri"/>
                <a:cs typeface="Calibri"/>
              </a:rPr>
              <a:t>18</a:t>
            </a:r>
          </a:p>
        </p:txBody>
      </p:sp>
      <p:sp>
        <p:nvSpPr>
          <p:cNvPr id="6" name="sub">
            <a:extLst xmlns:a="http://schemas.openxmlformats.org/drawingml/2006/main">
              <a:ext uri="{FF2B5EF4-FFF2-40B4-BE49-F238E27FC236}">
                <a16:creationId xmlns:a16="http://schemas.microsoft.com/office/drawing/2014/main" id="{AA2E5997-AB03-4152-9988-832E78DF5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10820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F6B76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5F6B76"/>
                </a:solidFill>
                <a:latin typeface="Calibri"/>
                <a:ea typeface="Calibri"/>
                <a:cs typeface="Calibri"/>
              </a:rPr>
              <a:t>固定基准负载，a＝0.40，每轮电路时间1 ms，功率取末200 μs</a:t>
            </a:r>
          </a:p>
        </p:txBody>
      </p:sp>
      <p:graphicFrame>
        <p:nvGraphicFramePr>
          <p:cNvPr id="20" name=""/>
          <p:cNvGraphicFramePr/>
          <p:nvPr/>
        </p:nvGraphicFramePr>
        <p:xfrm>
          <a:off xmlns:a="http://schemas.openxmlformats.org/drawingml/2006/main" x="685800" y="1743075"/>
          <a:ext xmlns:a="http://schemas.openxmlformats.org/drawingml/2006/main" cx="7010400" cy="31908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857250"/>
                <a:gridCol w="1962150"/>
                <a:gridCol w="2133600"/>
                <a:gridCol w="2057400"/>
              </a:tblGrid>
              <a:tr h="531813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轮次</a:t>
                      </a:r>
                    </a:p>
                  </a:txBody>
                  <a:tcPr marL="95250" marR="95250" marT="57150" marB="57150" anchor="ctr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本轮频率</a:t>
                      </a:r>
                    </a:p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MHz</a:t>
                      </a:r>
                    </a:p>
                  </a:txBody>
                  <a:tcPr marL="95250" marR="95250" marT="57150" marB="57150" anchor="ctr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RAW端口功率</a:t>
                      </a:r>
                    </a:p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mW</a:t>
                      </a:r>
                    </a:p>
                  </a:txBody>
                  <a:tcPr marL="95250" marR="95250" marT="57150" marB="57150" anchor="ctr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下一条频率</a:t>
                      </a:r>
                    </a:p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MHz</a:t>
                      </a:r>
                    </a:p>
                  </a:txBody>
                  <a:tcPr marL="95250" marR="95250" marT="57150" marB="57150" anchor="ctr">
                    <a:solidFill>
                      <a:srgbClr val="17324D"/>
                    </a:solidFill>
                  </a:tcPr>
                </a:tc>
              </a:tr>
              <a:tr h="531813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1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0.8990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14.697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0.8995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</a:tr>
              <a:tr h="531813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2</a:t>
                      </a:r>
                    </a:p>
                  </a:txBody>
                  <a:tcPr marL="95250" marR="95250" marT="57150" marB="57150" anchor="ctr">
                    <a:solidFill>
                      <a:srgbClr val="EA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0.8995</a:t>
                      </a:r>
                    </a:p>
                  </a:txBody>
                  <a:tcPr marL="95250" marR="95250" marT="57150" marB="57150" anchor="ctr">
                    <a:solidFill>
                      <a:srgbClr val="EA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22.514</a:t>
                      </a:r>
                    </a:p>
                  </a:txBody>
                  <a:tcPr marL="95250" marR="95250" marT="57150" marB="57150" anchor="ctr">
                    <a:solidFill>
                      <a:srgbClr val="EA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0.9000</a:t>
                      </a:r>
                    </a:p>
                  </a:txBody>
                  <a:tcPr marL="95250" marR="95250" marT="57150" marB="57150" anchor="ctr">
                    <a:solidFill>
                      <a:srgbClr val="EAF1F5"/>
                    </a:solidFill>
                  </a:tcPr>
                </a:tc>
              </a:tr>
              <a:tr h="531813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3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0.9000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27.187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0.9005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</a:tr>
              <a:tr h="531813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4</a:t>
                      </a:r>
                    </a:p>
                  </a:txBody>
                  <a:tcPr marL="95250" marR="95250" marT="57150" marB="57150" anchor="ctr">
                    <a:solidFill>
                      <a:srgbClr val="F9E8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0.9005</a:t>
                      </a:r>
                    </a:p>
                  </a:txBody>
                  <a:tcPr marL="95250" marR="95250" marT="57150" marB="57150" anchor="ctr">
                    <a:solidFill>
                      <a:srgbClr val="F9E8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22.175</a:t>
                      </a:r>
                    </a:p>
                  </a:txBody>
                  <a:tcPr marL="95250" marR="95250" marT="57150" marB="57150" anchor="ctr">
                    <a:solidFill>
                      <a:srgbClr val="F9E8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0.9000</a:t>
                      </a:r>
                    </a:p>
                  </a:txBody>
                  <a:tcPr marL="95250" marR="95250" marT="57150" marB="57150" anchor="ctr">
                    <a:solidFill>
                      <a:srgbClr val="F9E8E5"/>
                    </a:solidFill>
                  </a:tcPr>
                </a:tc>
              </a:tr>
              <a:tr h="531813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5</a:t>
                      </a:r>
                    </a:p>
                  </a:txBody>
                  <a:tcPr marL="95250" marR="95250" marT="57150" marB="57150" anchor="ctr">
                    <a:solidFill>
                      <a:srgbClr val="E3F0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0.9000</a:t>
                      </a:r>
                    </a:p>
                  </a:txBody>
                  <a:tcPr marL="95250" marR="95250" marT="57150" marB="57150" anchor="ctr">
                    <a:solidFill>
                      <a:srgbClr val="E3F0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27.186</a:t>
                      </a:r>
                    </a:p>
                  </a:txBody>
                  <a:tcPr marL="95250" marR="95250" marT="57150" marB="57150" anchor="ctr">
                    <a:solidFill>
                      <a:srgbClr val="E3F0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0.8995</a:t>
                      </a:r>
                    </a:p>
                  </a:txBody>
                  <a:tcPr marL="95250" marR="95250" marT="57150" marB="57150" anchor="ctr">
                    <a:solidFill>
                      <a:srgbClr val="E3F0F2"/>
                    </a:solidFill>
                  </a:tcPr>
                </a:tc>
              </a:tr>
            </a:tbl>
          </a:graphicData>
        </a:graphic>
      </p:graphicFrame>
      <p:sp>
        <p:nvSpPr>
          <p:cNvPr id="8" name="event">
            <a:extLst xmlns:a="http://schemas.openxmlformats.org/drawingml/2006/main">
              <a:ext uri="{FF2B5EF4-FFF2-40B4-BE49-F238E27FC236}">
                <a16:creationId xmlns:a16="http://schemas.microsoft.com/office/drawing/2014/main" id="{D12B77C0-0A3A-4F9A-9127-F39495B58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724025"/>
            <a:ext cx="342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BE3A3A"/>
                </a:solidFill>
                <a:latin typeface="Calibri"/>
                <a:ea typeface="Calibri"/>
                <a:cs typeface="Calibri"/>
              </a:defRPr>
            </a:pPr>
            <a:r>
              <a:rPr sz="2025" b="1">
                <a:solidFill>
                  <a:srgbClr val="BE3A3A"/>
                </a:solidFill>
                <a:latin typeface="Calibri"/>
                <a:ea typeface="Calibri"/>
                <a:cs typeface="Calibri"/>
              </a:rPr>
              <a:t>第4轮：功率下降</a:t>
            </a:r>
          </a:p>
        </p:txBody>
      </p:sp>
      <p:sp>
        <p:nvSpPr>
          <p:cNvPr id="9" name="eventdetail">
            <a:extLst xmlns:a="http://schemas.openxmlformats.org/drawingml/2006/main">
              <a:ext uri="{FF2B5EF4-FFF2-40B4-BE49-F238E27FC236}">
                <a16:creationId xmlns:a16="http://schemas.microsoft.com/office/drawing/2014/main" id="{84FC300C-13D2-46F2-BD6D-215D5E082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219325"/>
            <a:ext cx="34290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27.187降至22.175 mW</a:t>
            </a:r>
          </a:p>
          <a:p xmlns:a="http://schemas.openxmlformats.org/drawingml/2006/main">
            <a:pPr>
              <a:defRPr sz="1725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Python反转调频方向</a:t>
            </a:r>
          </a:p>
          <a:p xmlns:a="http://schemas.openxmlformats.org/drawingml/2006/main">
            <a:pPr>
              <a:defRPr sz="1725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提出0.9000 MHz下一指令</a:t>
            </a:r>
          </a:p>
        </p:txBody>
      </p:sp>
      <p:sp>
        <p:nvSpPr>
          <p:cNvPr id="10" name="executed">
            <a:extLst xmlns:a="http://schemas.openxmlformats.org/drawingml/2006/main">
              <a:ext uri="{FF2B5EF4-FFF2-40B4-BE49-F238E27FC236}">
                <a16:creationId xmlns:a16="http://schemas.microsoft.com/office/drawing/2014/main" id="{48B8C970-DF1C-4164-B1EB-E0D90C199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457575"/>
            <a:ext cx="342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67B88"/>
                </a:solidFill>
                <a:latin typeface="Calibri"/>
                <a:ea typeface="Calibri"/>
                <a:cs typeface="Calibri"/>
              </a:defRPr>
            </a:pPr>
            <a:r>
              <a:rPr sz="2025" b="1">
                <a:solidFill>
                  <a:srgbClr val="167B88"/>
                </a:solidFill>
                <a:latin typeface="Calibri"/>
                <a:ea typeface="Calibri"/>
                <a:cs typeface="Calibri"/>
              </a:rPr>
              <a:t>第5轮：执行反向指令</a:t>
            </a:r>
          </a:p>
        </p:txBody>
      </p:sp>
      <p:sp>
        <p:nvSpPr>
          <p:cNvPr id="11" name="executeddetail">
            <a:extLst xmlns:a="http://schemas.openxmlformats.org/drawingml/2006/main">
              <a:ext uri="{FF2B5EF4-FFF2-40B4-BE49-F238E27FC236}">
                <a16:creationId xmlns:a16="http://schemas.microsoft.com/office/drawing/2014/main" id="{2F6FD1D5-7505-4C18-B9D7-3D9B01FF2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971925"/>
            <a:ext cx="34290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LTspice以0.9000 MHz求解</a:t>
            </a:r>
          </a:p>
          <a:p xmlns:a="http://schemas.openxmlformats.org/drawingml/2006/main">
            <a:pPr>
              <a:defRPr sz="1725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功率回到27.186 mW</a:t>
            </a:r>
          </a:p>
          <a:p xmlns:a="http://schemas.openxmlformats.org/drawingml/2006/main">
            <a:pPr>
              <a:defRPr sz="1725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保留RAW、日志和前后指令哈希</a:t>
            </a:r>
          </a:p>
        </p:txBody>
      </p:sp>
      <p:sp>
        <p:nvSpPr>
          <p:cNvPr id="12" name="method">
            <a:extLst xmlns:a="http://schemas.openxmlformats.org/drawingml/2006/main">
              <a:ext uri="{FF2B5EF4-FFF2-40B4-BE49-F238E27FC236}">
                <a16:creationId xmlns:a16="http://schemas.microsoft.com/office/drawing/2014/main" id="{AAB0E455-8EAF-4E46-8D56-66789B948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57800"/>
            <a:ext cx="108204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每轮重算完整指令历史，保留电路状态历史效应。单轮实际耗时约14–27 s，非实时控制。</a:t>
            </a:r>
          </a:p>
        </p:txBody>
      </p:sp>
      <p:sp>
        <p:nvSpPr>
          <p:cNvPr id="13" name="limit">
            <a:extLst xmlns:a="http://schemas.openxmlformats.org/drawingml/2006/main">
              <a:ext uri="{FF2B5EF4-FFF2-40B4-BE49-F238E27FC236}">
                <a16:creationId xmlns:a16="http://schemas.microsoft.com/office/drawing/2014/main" id="{8DE25CE6-7B0B-451F-B046-DEABAE1A0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62650"/>
            <a:ext cx="108204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BE3A3A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BE3A3A"/>
                </a:solidFill>
                <a:latin typeface="Calibri"/>
                <a:ea typeface="Calibri"/>
                <a:cs typeface="Calibri"/>
              </a:rPr>
              <a:t>第5轮产生的0.8995 MHz尚未执行。本页不证明动态扰动追踪、连续稳态或全过程硬保护。</a:t>
            </a:r>
          </a:p>
        </p:txBody>
      </p:sp>
    </p:spTree>
    <p:extLst>
      <p:ext uri="{BB962C8B-B14F-4D97-AF65-F5344CB8AC3E}">
        <p14:creationId xmlns:p14="http://schemas.microsoft.com/office/powerpoint/2010/main" val="99073366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itle">
            <a:extLst xmlns:a="http://schemas.openxmlformats.org/drawingml/2006/main">
              <a:ext uri="{FF2B5EF4-FFF2-40B4-BE49-F238E27FC236}">
                <a16:creationId xmlns:a16="http://schemas.microsoft.com/office/drawing/2014/main" id="{1F0FF08D-24A8-410D-8C86-CCA06E41B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阶段完成度：平台与联算证据已补齐，统一验收仍有缺口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CDF669-28AA-42ED-B837-C841F8B44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88C43F-1439-4B1D-9628-397D24D8C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1DC"/>
          </a:solidFill>
          <a:ln xmlns:a="http://schemas.openxmlformats.org/drawingml/2006/main" w="0">
            <a:noFill/>
          </a:ln>
        </p:spPr>
      </p:sp>
      <p:sp>
        <p:nvSpPr>
          <p:cNvPr id="4" name="scope">
            <a:extLst xmlns:a="http://schemas.openxmlformats.org/drawingml/2006/main">
              <a:ext uri="{FF2B5EF4-FFF2-40B4-BE49-F238E27FC236}">
                <a16:creationId xmlns:a16="http://schemas.microsoft.com/office/drawing/2014/main" id="{F1FFC370-9E12-4189-A5EB-AC29051DF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43675"/>
            <a:ext cx="103822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F6B76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5F6B76"/>
                </a:solidFill>
                <a:latin typeface="Calibri"/>
                <a:ea typeface="Calibri"/>
                <a:cs typeface="Calibri"/>
              </a:rPr>
              <a:t>汇报截止：2026-09-15    完成软件与电学验证不等于完成结构声场、器件测量或安全验证</a:t>
            </a:r>
          </a:p>
        </p:txBody>
      </p:sp>
      <p:sp>
        <p:nvSpPr>
          <p:cNvPr id="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5CA6C345-C730-427D-AEBE-2FD9383E0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43675"/>
            <a:ext cx="3619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F6B76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5F6B76"/>
                </a:solidFill>
                <a:latin typeface="Calibri"/>
                <a:ea typeface="Calibri"/>
                <a:cs typeface="Calibri"/>
              </a:rPr>
              <a:t>21</a:t>
            </a:r>
          </a:p>
        </p:txBody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685800" y="1323975"/>
          <a:ext xmlns:a="http://schemas.openxmlformats.org/drawingml/2006/main" cx="10820400" cy="37242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76450"/>
                <a:gridCol w="4362450"/>
                <a:gridCol w="4381500"/>
              </a:tblGrid>
              <a:tr h="532039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工作范围</a:t>
                      </a:r>
                    </a:p>
                  </a:txBody>
                  <a:tcPr marL="95250" marR="95250" marT="57150" marB="57150" anchor="ctr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当前已有证据</a:t>
                      </a:r>
                    </a:p>
                  </a:txBody>
                  <a:tcPr marL="95250" marR="95250" marT="57150" marB="57150" anchor="ctr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尚未完成／不能据此宣称</a:t>
                      </a:r>
                    </a:p>
                  </a:txBody>
                  <a:tcPr marL="95250" marR="95250" marT="57150" marB="57150" anchor="ctr">
                    <a:solidFill>
                      <a:srgbClr val="17324D"/>
                    </a:solidFill>
                  </a:tcPr>
                </a:tc>
              </a:tr>
              <a:tr h="532039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电学模型与匹配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v2.1自洽基线，Python/LTspice AC对照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真实器件参数辨识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</a:tr>
              <a:tr h="532039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静态扰动与选频</a:t>
                      </a:r>
                    </a:p>
                  </a:txBody>
                  <a:tcPr marL="95250" marR="95250" marT="57150" marB="57150" anchor="ctr">
                    <a:solidFill>
                      <a:srgbClr val="EA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34个登记场景，单因素与组合扫描</a:t>
                      </a:r>
                    </a:p>
                  </a:txBody>
                  <a:tcPr marL="95250" marR="95250" marT="57150" marB="57150" anchor="ctr">
                    <a:solidFill>
                      <a:srgbClr val="EA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全部场景的同口径闭环评估</a:t>
                      </a:r>
                    </a:p>
                  </a:txBody>
                  <a:tcPr marL="95250" marR="95250" marT="57150" marB="57150" anchor="ctr">
                    <a:solidFill>
                      <a:srgbClr val="EAF1F5"/>
                    </a:solidFill>
                  </a:tcPr>
                </a:tc>
              </a:tr>
              <a:tr h="532039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网页平台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单场景计算、登记结果、AC及反馈入口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完整软件测试与硬件实时部署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</a:tr>
              <a:tr h="532039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控制与改进研究</a:t>
                      </a:r>
                    </a:p>
                  </a:txBody>
                  <a:tcPr marL="95250" marR="95250" marT="57150" marB="57150" anchor="ctr">
                    <a:solidFill>
                      <a:srgbClr val="EA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控制原型，8组合＋2对照，已有部分验收</a:t>
                      </a:r>
                    </a:p>
                  </a:txBody>
                  <a:tcPr marL="95250" marR="95250" marT="57150" marB="57150" anchor="ctr">
                    <a:solidFill>
                      <a:srgbClr val="EA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固定／扫频／相位的统一性能排名</a:t>
                      </a:r>
                    </a:p>
                  </a:txBody>
                  <a:tcPr marL="95250" marR="95250" marT="57150" marB="57150" anchor="ctr">
                    <a:solidFill>
                      <a:srgbClr val="EAF1F5"/>
                    </a:solidFill>
                  </a:tcPr>
                </a:tc>
              </a:tr>
              <a:tr h="532039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LTspice瞬态与反馈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P&amp;O片段重放，固定低幅五轮反馈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动态负载闭环、全过程约束证明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</a:tr>
              <a:tr h="532039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结构—声场连接</a:t>
                      </a:r>
                    </a:p>
                  </a:txBody>
                  <a:tcPr marL="95250" marR="95250" marT="57150" marB="57150" anchor="ctr">
                    <a:solidFill>
                      <a:srgbClr val="EA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电学字段与声学回传模板已定义</a:t>
                      </a:r>
                    </a:p>
                  </a:txBody>
                  <a:tcPr marL="95250" marR="95250" marT="57150" marB="57150" anchor="ctr">
                    <a:solidFill>
                      <a:srgbClr val="EA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ANSYS/COMSOL结构声场求解</a:t>
                      </a:r>
                    </a:p>
                  </a:txBody>
                  <a:tcPr marL="95250" marR="95250" marT="57150" marB="57150" anchor="ctr">
                    <a:solidFill>
                      <a:srgbClr val="EAF1F5"/>
                    </a:solidFill>
                  </a:tcPr>
                </a:tc>
              </a:tr>
            </a:tbl>
          </a:graphicData>
        </a:graphic>
      </p:graphicFrame>
      <p:sp>
        <p:nvSpPr>
          <p:cNvPr id="7" name="next">
            <a:extLst xmlns:a="http://schemas.openxmlformats.org/drawingml/2006/main">
              <a:ext uri="{FF2B5EF4-FFF2-40B4-BE49-F238E27FC236}">
                <a16:creationId xmlns:a16="http://schemas.microsoft.com/office/drawing/2014/main" id="{818D5530-6112-440F-B3BB-D7F938653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76850"/>
            <a:ext cx="10820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B70B5"/>
                </a:solidFill>
                <a:latin typeface="Calibri"/>
                <a:ea typeface="Calibri"/>
                <a:cs typeface="Calibri"/>
              </a:defRPr>
            </a:pPr>
            <a:r>
              <a:rPr sz="1875" b="1">
                <a:solidFill>
                  <a:srgbClr val="2B70B5"/>
                </a:solidFill>
                <a:latin typeface="Calibri"/>
                <a:ea typeface="Calibri"/>
                <a:cs typeface="Calibri"/>
              </a:rPr>
              <a:t>下一步优先级</a:t>
            </a:r>
          </a:p>
        </p:txBody>
      </p:sp>
      <p:sp>
        <p:nvSpPr>
          <p:cNvPr id="8" name="nextdesc">
            <a:extLst xmlns:a="http://schemas.openxmlformats.org/drawingml/2006/main">
              <a:ext uri="{FF2B5EF4-FFF2-40B4-BE49-F238E27FC236}">
                <a16:creationId xmlns:a16="http://schemas.microsoft.com/office/drawing/2014/main" id="{442B4DF5-293C-4D9B-9DAC-8541CD5D9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43575"/>
            <a:ext cx="10820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统一三策略的统计窗口与场景覆盖，再核查扫描逐点保护、采样间隙风险及功率／反射约束。</a:t>
            </a:r>
          </a:p>
        </p:txBody>
      </p:sp>
    </p:spTree>
    <p:extLst>
      <p:ext uri="{BB962C8B-B14F-4D97-AF65-F5344CB8AC3E}">
        <p14:creationId xmlns:p14="http://schemas.microsoft.com/office/powerpoint/2010/main" val="93065694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itle">
            <a:extLst xmlns:a="http://schemas.openxmlformats.org/drawingml/2006/main">
              <a:ext uri="{FF2B5EF4-FFF2-40B4-BE49-F238E27FC236}">
                <a16:creationId xmlns:a16="http://schemas.microsoft.com/office/drawing/2014/main" id="{5B1383B9-3248-4057-9D8C-9BF0A6F50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备份：算法消融显示，增加模块未带来一致收益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C36FBC-E693-4319-A142-52F90F2CB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C84085-D8B8-4FED-9A51-F00DC6E78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1DC"/>
          </a:solidFill>
          <a:ln xmlns:a="http://schemas.openxmlformats.org/drawingml/2006/main" w="0">
            <a:noFill/>
          </a:ln>
        </p:spPr>
      </p:sp>
      <p:sp>
        <p:nvSpPr>
          <p:cNvPr id="4" name="scope">
            <a:extLst xmlns:a="http://schemas.openxmlformats.org/drawingml/2006/main">
              <a:ext uri="{FF2B5EF4-FFF2-40B4-BE49-F238E27FC236}">
                <a16:creationId xmlns:a16="http://schemas.microsoft.com/office/drawing/2014/main" id="{80C8CCFC-8925-419A-8A06-3916F35A8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43675"/>
            <a:ext cx="103822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F6B76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5F6B76"/>
                </a:solidFill>
                <a:latin typeface="Calibri"/>
                <a:ea typeface="Calibri"/>
                <a:cs typeface="Calibri"/>
              </a:rPr>
              <a:t>2026-09-07独立实验批次    原0.8 s/段结果    非原历史主时序，非正式三策略统一排名</a:t>
            </a:r>
          </a:p>
        </p:txBody>
      </p:sp>
      <p:sp>
        <p:nvSpPr>
          <p:cNvPr id="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673C5074-DC1C-4710-9158-F01E8B1B5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43675"/>
            <a:ext cx="3619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F6B76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5F6B76"/>
                </a:solidFill>
                <a:latin typeface="Calibri"/>
                <a:ea typeface="Calibri"/>
                <a:cs typeface="Calibri"/>
              </a:rPr>
              <a:t>26</a:t>
            </a:r>
          </a:p>
        </p:txBody>
      </p:sp>
      <p:sp>
        <p:nvSpPr>
          <p:cNvPr id="6" name="sub">
            <a:extLst xmlns:a="http://schemas.openxmlformats.org/drawingml/2006/main">
              <a:ext uri="{FF2B5EF4-FFF2-40B4-BE49-F238E27FC236}">
                <a16:creationId xmlns:a16="http://schemas.microsoft.com/office/drawing/2014/main" id="{D72F9C44-AC31-4B04-910E-FC5AC976D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14425"/>
            <a:ext cx="108204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F6B76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5F6B76"/>
                </a:solidFill>
                <a:latin typeface="Calibri"/>
                <a:ea typeface="Calibri"/>
                <a:cs typeface="Calibri"/>
              </a:rPr>
              <a:t>A：相位辅助　B：独立幅度PI　C：受约束选频；8种完整组合＋2种去相位对照</a:t>
            </a:r>
          </a:p>
        </p:txBody>
      </p:sp>
      <p:graphicFrame>
        <p:nvGraphicFramePr>
          <p:cNvPr id="20" name=""/>
          <p:cNvGraphicFramePr/>
          <p:nvPr/>
        </p:nvGraphicFramePr>
        <p:xfrm>
          <a:off xmlns:a="http://schemas.openxmlformats.org/drawingml/2006/main" x="685800" y="1676400"/>
          <a:ext xmlns:a="http://schemas.openxmlformats.org/drawingml/2006/main" cx="6934200" cy="3886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790700"/>
                <a:gridCol w="1114425"/>
                <a:gridCol w="1362075"/>
                <a:gridCol w="1304925"/>
                <a:gridCol w="1362075"/>
              </a:tblGrid>
              <a:tr h="49530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版本</a:t>
                      </a:r>
                    </a:p>
                  </a:txBody>
                  <a:tcPr marL="76200" marR="76200" marT="19050" marB="19050" anchor="ctr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扫频通过</a:t>
                      </a:r>
                    </a:p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段数/7</a:t>
                      </a:r>
                    </a:p>
                  </a:txBody>
                  <a:tcPr marL="76200" marR="76200" marT="19050" marB="19050" anchor="ctr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扫频电能</a:t>
                      </a:r>
                    </a:p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捕获%</a:t>
                      </a:r>
                    </a:p>
                  </a:txBody>
                  <a:tcPr marL="76200" marR="76200" marT="19050" marB="19050" anchor="ctr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P&amp;O通过</a:t>
                      </a:r>
                    </a:p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段数/7</a:t>
                      </a:r>
                    </a:p>
                  </a:txBody>
                  <a:tcPr marL="76200" marR="76200" marT="19050" marB="19050" anchor="ctr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P&amp;O电能</a:t>
                      </a:r>
                    </a:p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捕获%</a:t>
                      </a:r>
                    </a:p>
                  </a:txBody>
                  <a:tcPr marL="76200" marR="76200" marT="19050" marB="19050" anchor="ctr">
                    <a:solidFill>
                      <a:srgbClr val="17324D"/>
                    </a:solidFill>
                  </a:tcPr>
                </a:tc>
              </a:tr>
              <a:tr h="333375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000 对照</a:t>
                      </a:r>
                    </a:p>
                  </a:txBody>
                  <a:tcPr marL="76200" marR="762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6</a:t>
                      </a:r>
                    </a:p>
                  </a:txBody>
                  <a:tcPr marL="76200" marR="762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58.08</a:t>
                      </a:r>
                    </a:p>
                  </a:txBody>
                  <a:tcPr marL="76200" marR="762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4</a:t>
                      </a:r>
                    </a:p>
                  </a:txBody>
                  <a:tcPr marL="76200" marR="762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50.33</a:t>
                      </a:r>
                    </a:p>
                  </a:txBody>
                  <a:tcPr marL="76200" marR="76200" marT="19050" marB="19050" anchor="ctr">
                    <a:solidFill>
                      <a:srgbClr val="FFFFFF"/>
                    </a:solidFill>
                  </a:tcPr>
                </a:tc>
              </a:tr>
              <a:tr h="333375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A</a:t>
                      </a:r>
                    </a:p>
                  </a:txBody>
                  <a:tcPr marL="76200" marR="76200" marT="19050" marB="19050" anchor="ctr">
                    <a:solidFill>
                      <a:srgbClr val="EA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5</a:t>
                      </a:r>
                    </a:p>
                  </a:txBody>
                  <a:tcPr marL="76200" marR="76200" marT="19050" marB="19050" anchor="ctr">
                    <a:solidFill>
                      <a:srgbClr val="EA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50.28</a:t>
                      </a:r>
                    </a:p>
                  </a:txBody>
                  <a:tcPr marL="76200" marR="76200" marT="19050" marB="19050" anchor="ctr">
                    <a:solidFill>
                      <a:srgbClr val="EA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4</a:t>
                      </a:r>
                    </a:p>
                  </a:txBody>
                  <a:tcPr marL="76200" marR="76200" marT="19050" marB="19050" anchor="ctr">
                    <a:solidFill>
                      <a:srgbClr val="EA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50.15</a:t>
                      </a:r>
                    </a:p>
                  </a:txBody>
                  <a:tcPr marL="76200" marR="76200" marT="19050" marB="19050" anchor="ctr">
                    <a:solidFill>
                      <a:srgbClr val="EAF1F5"/>
                    </a:solidFill>
                  </a:tcPr>
                </a:tc>
              </a:tr>
              <a:tr h="333375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B</a:t>
                      </a:r>
                    </a:p>
                  </a:txBody>
                  <a:tcPr marL="76200" marR="762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5</a:t>
                      </a:r>
                    </a:p>
                  </a:txBody>
                  <a:tcPr marL="76200" marR="762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57.91</a:t>
                      </a:r>
                    </a:p>
                  </a:txBody>
                  <a:tcPr marL="76200" marR="762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2</a:t>
                      </a:r>
                    </a:p>
                  </a:txBody>
                  <a:tcPr marL="76200" marR="762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45.16</a:t>
                      </a:r>
                    </a:p>
                  </a:txBody>
                  <a:tcPr marL="76200" marR="76200" marT="19050" marB="19050" anchor="ctr">
                    <a:solidFill>
                      <a:srgbClr val="FFFFFF"/>
                    </a:solidFill>
                  </a:tcPr>
                </a:tc>
              </a:tr>
              <a:tr h="333375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C</a:t>
                      </a:r>
                    </a:p>
                  </a:txBody>
                  <a:tcPr marL="76200" marR="76200" marT="19050" marB="19050" anchor="ctr">
                    <a:solidFill>
                      <a:srgbClr val="EA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6</a:t>
                      </a:r>
                    </a:p>
                  </a:txBody>
                  <a:tcPr marL="76200" marR="76200" marT="19050" marB="19050" anchor="ctr">
                    <a:solidFill>
                      <a:srgbClr val="EA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58.08</a:t>
                      </a:r>
                    </a:p>
                  </a:txBody>
                  <a:tcPr marL="76200" marR="76200" marT="19050" marB="19050" anchor="ctr">
                    <a:solidFill>
                      <a:srgbClr val="EA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4</a:t>
                      </a:r>
                    </a:p>
                  </a:txBody>
                  <a:tcPr marL="76200" marR="76200" marT="19050" marB="19050" anchor="ctr">
                    <a:solidFill>
                      <a:srgbClr val="EA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50.33</a:t>
                      </a:r>
                    </a:p>
                  </a:txBody>
                  <a:tcPr marL="76200" marR="76200" marT="19050" marB="19050" anchor="ctr">
                    <a:solidFill>
                      <a:srgbClr val="EAF1F5"/>
                    </a:solidFill>
                  </a:tcPr>
                </a:tc>
              </a:tr>
              <a:tr h="333375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AB</a:t>
                      </a:r>
                    </a:p>
                  </a:txBody>
                  <a:tcPr marL="76200" marR="762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3</a:t>
                      </a:r>
                    </a:p>
                  </a:txBody>
                  <a:tcPr marL="76200" marR="762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50.13</a:t>
                      </a:r>
                    </a:p>
                  </a:txBody>
                  <a:tcPr marL="76200" marR="762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3</a:t>
                      </a:r>
                    </a:p>
                  </a:txBody>
                  <a:tcPr marL="76200" marR="762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54.69</a:t>
                      </a:r>
                    </a:p>
                  </a:txBody>
                  <a:tcPr marL="76200" marR="76200" marT="19050" marB="19050" anchor="ctr">
                    <a:solidFill>
                      <a:srgbClr val="FFFFFF"/>
                    </a:solidFill>
                  </a:tcPr>
                </a:tc>
              </a:tr>
              <a:tr h="333375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AC</a:t>
                      </a:r>
                    </a:p>
                  </a:txBody>
                  <a:tcPr marL="76200" marR="76200" marT="19050" marB="19050" anchor="ctr">
                    <a:solidFill>
                      <a:srgbClr val="EA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5</a:t>
                      </a:r>
                    </a:p>
                  </a:txBody>
                  <a:tcPr marL="76200" marR="76200" marT="19050" marB="19050" anchor="ctr">
                    <a:solidFill>
                      <a:srgbClr val="EA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50.28</a:t>
                      </a:r>
                    </a:p>
                  </a:txBody>
                  <a:tcPr marL="76200" marR="76200" marT="19050" marB="19050" anchor="ctr">
                    <a:solidFill>
                      <a:srgbClr val="EA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4</a:t>
                      </a:r>
                    </a:p>
                  </a:txBody>
                  <a:tcPr marL="76200" marR="76200" marT="19050" marB="19050" anchor="ctr">
                    <a:solidFill>
                      <a:srgbClr val="EA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50.15</a:t>
                      </a:r>
                    </a:p>
                  </a:txBody>
                  <a:tcPr marL="76200" marR="76200" marT="19050" marB="19050" anchor="ctr">
                    <a:solidFill>
                      <a:srgbClr val="EAF1F5"/>
                    </a:solidFill>
                  </a:tcPr>
                </a:tc>
              </a:tr>
              <a:tr h="333375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BC</a:t>
                      </a:r>
                    </a:p>
                  </a:txBody>
                  <a:tcPr marL="76200" marR="762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5</a:t>
                      </a:r>
                    </a:p>
                  </a:txBody>
                  <a:tcPr marL="76200" marR="762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57.91</a:t>
                      </a:r>
                    </a:p>
                  </a:txBody>
                  <a:tcPr marL="76200" marR="762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2</a:t>
                      </a:r>
                    </a:p>
                  </a:txBody>
                  <a:tcPr marL="76200" marR="762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45.16</a:t>
                      </a:r>
                    </a:p>
                  </a:txBody>
                  <a:tcPr marL="76200" marR="76200" marT="19050" marB="19050" anchor="ctr">
                    <a:solidFill>
                      <a:srgbClr val="FFFFFF"/>
                    </a:solidFill>
                  </a:tcPr>
                </a:tc>
              </a:tr>
              <a:tr h="333375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ABC</a:t>
                      </a:r>
                    </a:p>
                  </a:txBody>
                  <a:tcPr marL="76200" marR="76200" marT="19050" marB="19050" anchor="ctr">
                    <a:solidFill>
                      <a:srgbClr val="EA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3</a:t>
                      </a:r>
                    </a:p>
                  </a:txBody>
                  <a:tcPr marL="76200" marR="76200" marT="19050" marB="19050" anchor="ctr">
                    <a:solidFill>
                      <a:srgbClr val="EA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50.13</a:t>
                      </a:r>
                    </a:p>
                  </a:txBody>
                  <a:tcPr marL="76200" marR="76200" marT="19050" marB="19050" anchor="ctr">
                    <a:solidFill>
                      <a:srgbClr val="EA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3</a:t>
                      </a:r>
                    </a:p>
                  </a:txBody>
                  <a:tcPr marL="76200" marR="76200" marT="19050" marB="19050" anchor="ctr">
                    <a:solidFill>
                      <a:srgbClr val="EA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54.69</a:t>
                      </a:r>
                    </a:p>
                  </a:txBody>
                  <a:tcPr marL="76200" marR="76200" marT="19050" marB="19050" anchor="ctr">
                    <a:solidFill>
                      <a:srgbClr val="EAF1F5"/>
                    </a:solidFill>
                  </a:tcPr>
                </a:tc>
              </a:tr>
              <a:tr h="333375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仅局部功率</a:t>
                      </a:r>
                    </a:p>
                  </a:txBody>
                  <a:tcPr marL="76200" marR="762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5</a:t>
                      </a:r>
                    </a:p>
                  </a:txBody>
                  <a:tcPr marL="76200" marR="762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50.90</a:t>
                      </a:r>
                    </a:p>
                  </a:txBody>
                  <a:tcPr marL="76200" marR="762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4</a:t>
                      </a:r>
                    </a:p>
                  </a:txBody>
                  <a:tcPr marL="76200" marR="762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49.95</a:t>
                      </a:r>
                    </a:p>
                  </a:txBody>
                  <a:tcPr marL="76200" marR="76200" marT="19050" marB="19050" anchor="ctr">
                    <a:solidFill>
                      <a:srgbClr val="FFFFFF"/>
                    </a:solidFill>
                  </a:tcPr>
                </a:tc>
              </a:tr>
              <a:tr h="333375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局部功率＋BC</a:t>
                      </a:r>
                    </a:p>
                  </a:txBody>
                  <a:tcPr marL="76200" marR="76200" marT="19050" marB="19050" anchor="ctr">
                    <a:solidFill>
                      <a:srgbClr val="EA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4</a:t>
                      </a:r>
                    </a:p>
                  </a:txBody>
                  <a:tcPr marL="76200" marR="76200" marT="19050" marB="19050" anchor="ctr">
                    <a:solidFill>
                      <a:srgbClr val="EA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50.75</a:t>
                      </a:r>
                    </a:p>
                  </a:txBody>
                  <a:tcPr marL="76200" marR="76200" marT="19050" marB="19050" anchor="ctr">
                    <a:solidFill>
                      <a:srgbClr val="EA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2</a:t>
                      </a:r>
                    </a:p>
                  </a:txBody>
                  <a:tcPr marL="76200" marR="76200" marT="19050" marB="19050" anchor="ctr">
                    <a:solidFill>
                      <a:srgbClr val="EA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44.84</a:t>
                      </a:r>
                    </a:p>
                  </a:txBody>
                  <a:tcPr marL="76200" marR="76200" marT="19050" marB="19050" anchor="ctr">
                    <a:solidFill>
                      <a:srgbClr val="EAF1F5"/>
                    </a:solidFill>
                  </a:tcPr>
                </a:tc>
              </a:tr>
            </a:tbl>
          </a:graphicData>
        </a:graphic>
      </p:graphicFrame>
      <p:sp>
        <p:nvSpPr>
          <p:cNvPr id="8" name="obs">
            <a:extLst xmlns:a="http://schemas.openxmlformats.org/drawingml/2006/main">
              <a:ext uri="{FF2B5EF4-FFF2-40B4-BE49-F238E27FC236}">
                <a16:creationId xmlns:a16="http://schemas.microsoft.com/office/drawing/2014/main" id="{54FEE525-8D20-4832-8B32-613BEADC4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2425" y="1676400"/>
            <a:ext cx="35337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B70B5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2B70B5"/>
                </a:solidFill>
                <a:latin typeface="Calibri"/>
                <a:ea typeface="Calibri"/>
                <a:cs typeface="Calibri"/>
              </a:rPr>
              <a:t>如何解释这些结果</a:t>
            </a:r>
          </a:p>
        </p:txBody>
      </p:sp>
      <p:sp>
        <p:nvSpPr>
          <p:cNvPr id="9" name="o1">
            <a:extLst xmlns:a="http://schemas.openxmlformats.org/drawingml/2006/main">
              <a:ext uri="{FF2B5EF4-FFF2-40B4-BE49-F238E27FC236}">
                <a16:creationId xmlns:a16="http://schemas.microsoft.com/office/drawing/2014/main" id="{A5A37633-69E0-428A-B342-DE96CD79E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2425" y="2228850"/>
            <a:ext cx="3533775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独立PI没有稳定改善验收</a:t>
            </a:r>
          </a:p>
          <a:p xmlns:a="http://schemas.openxmlformats.org/drawingml/2006/main">
            <a:pPr>
              <a:defRPr sz="1725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加入ABC后，P&amp;O电能上升，</a:t>
            </a:r>
          </a:p>
          <a:p xmlns:a="http://schemas.openxmlformats.org/drawingml/2006/main">
            <a:pPr>
              <a:defRPr sz="1725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但通过段数由4降至3</a:t>
            </a:r>
          </a:p>
        </p:txBody>
      </p:sp>
      <p:sp>
        <p:nvSpPr>
          <p:cNvPr id="10" name="o2">
            <a:extLst xmlns:a="http://schemas.openxmlformats.org/drawingml/2006/main">
              <a:ext uri="{FF2B5EF4-FFF2-40B4-BE49-F238E27FC236}">
                <a16:creationId xmlns:a16="http://schemas.microsoft.com/office/drawing/2014/main" id="{1A626438-8114-4333-8FA5-19BF9C496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2425" y="3457575"/>
            <a:ext cx="353377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C在原序列峰位处约束不活跃</a:t>
            </a:r>
          </a:p>
          <a:p xmlns:a="http://schemas.openxmlformats.org/drawingml/2006/main">
            <a:pPr>
              <a:defRPr sz="1725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另设受限场景才显现作用</a:t>
            </a:r>
          </a:p>
          <a:p xmlns:a="http://schemas.openxmlformats.org/drawingml/2006/main">
            <a:pPr>
              <a:defRPr sz="1725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该诊断属于探索性结果</a:t>
            </a:r>
          </a:p>
        </p:txBody>
      </p:sp>
      <p:sp>
        <p:nvSpPr>
          <p:cNvPr id="11" name="o3">
            <a:extLst xmlns:a="http://schemas.openxmlformats.org/drawingml/2006/main">
              <a:ext uri="{FF2B5EF4-FFF2-40B4-BE49-F238E27FC236}">
                <a16:creationId xmlns:a16="http://schemas.microsoft.com/office/drawing/2014/main" id="{A27DA9D0-C54B-4B64-A216-E1E676443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2425" y="4657725"/>
            <a:ext cx="353377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去相位对照提示：</a:t>
            </a:r>
          </a:p>
          <a:p xmlns:a="http://schemas.openxmlformats.org/drawingml/2006/main">
            <a:pPr>
              <a:defRPr sz="1725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局部功率搜索也能减少扫描</a:t>
            </a:r>
          </a:p>
          <a:p xmlns:a="http://schemas.openxmlformats.org/drawingml/2006/main">
            <a:pPr>
              <a:defRPr sz="1725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不能把收益全部归于相位</a:t>
            </a:r>
          </a:p>
        </p:txBody>
      </p:sp>
      <p:sp>
        <p:nvSpPr>
          <p:cNvPr id="12" name="den">
            <a:extLst xmlns:a="http://schemas.openxmlformats.org/drawingml/2006/main">
              <a:ext uri="{FF2B5EF4-FFF2-40B4-BE49-F238E27FC236}">
                <a16:creationId xmlns:a16="http://schemas.microsoft.com/office/drawing/2014/main" id="{5AD63E94-59B2-4414-8855-5C699AE7F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9775"/>
            <a:ext cx="108204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F6B76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5F6B76"/>
                </a:solidFill>
                <a:latin typeface="Calibri"/>
                <a:ea typeface="Calibri"/>
                <a:cs typeface="Calibri"/>
              </a:rPr>
              <a:t>电能分母：当前序列软限最优功率的时间积分。统计保留扫描、降幅、恢复及风险区间。</a:t>
            </a:r>
          </a:p>
        </p:txBody>
      </p:sp>
      <p:sp>
        <p:nvSpPr>
          <p:cNvPr id="13" name="risk">
            <a:extLst xmlns:a="http://schemas.openxmlformats.org/drawingml/2006/main">
              <a:ext uri="{FF2B5EF4-FFF2-40B4-BE49-F238E27FC236}">
                <a16:creationId xmlns:a16="http://schemas.microsoft.com/office/drawing/2014/main" id="{25D597C6-7D2E-4538-A8A2-E8FE983D1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43625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BE3A3A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BE3A3A"/>
                </a:solidFill>
                <a:latin typeface="Calibri"/>
                <a:ea typeface="Calibri"/>
                <a:cs typeface="Calibri"/>
              </a:rPr>
              <a:t>所有版本的连续时间硬限仍未证明；表中电能不能直接称为安全收益或声学效率。</a:t>
            </a:r>
          </a:p>
        </p:txBody>
      </p:sp>
    </p:spTree>
    <p:extLst>
      <p:ext uri="{BB962C8B-B14F-4D97-AF65-F5344CB8AC3E}">
        <p14:creationId xmlns:p14="http://schemas.microsoft.com/office/powerpoint/2010/main" val="143536427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itle">
            <a:extLst xmlns:a="http://schemas.openxmlformats.org/drawingml/2006/main">
              <a:ext uri="{FF2B5EF4-FFF2-40B4-BE49-F238E27FC236}">
                <a16:creationId xmlns:a16="http://schemas.microsoft.com/office/drawing/2014/main" id="{9BA77911-5B4C-4837-8E6D-9856ACFC6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备份：完整瞬态GUI与日志已留存，按批次使用证据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809996-0B94-4037-B055-571BE3A81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F12628-1008-42BB-8050-319BD3691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1DC"/>
          </a:solidFill>
          <a:ln xmlns:a="http://schemas.openxmlformats.org/drawingml/2006/main" w="0">
            <a:noFill/>
          </a:ln>
        </p:spPr>
      </p:sp>
      <p:sp>
        <p:nvSpPr>
          <p:cNvPr id="4" name="scope">
            <a:extLst xmlns:a="http://schemas.openxmlformats.org/drawingml/2006/main">
              <a:ext uri="{FF2B5EF4-FFF2-40B4-BE49-F238E27FC236}">
                <a16:creationId xmlns:a16="http://schemas.microsoft.com/office/drawing/2014/main" id="{26B763F2-EEAF-4BAF-8DF6-B0B586201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43675"/>
            <a:ext cx="103822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F6B76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5F6B76"/>
                </a:solidFill>
                <a:latin typeface="Calibri"/>
                <a:ea typeface="Calibri"/>
                <a:cs typeface="Calibri"/>
              </a:rPr>
              <a:t>截图时间：2026-09-12    求解时间：2026-09-11    LTspice 26.0.2    此图属于瞬态重放，不是旧AC截图</a:t>
            </a:r>
          </a:p>
        </p:txBody>
      </p:sp>
      <p:sp>
        <p:nvSpPr>
          <p:cNvPr id="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C3654B36-3BB1-47B6-B5C2-50499EE06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43675"/>
            <a:ext cx="3619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F6B76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5F6B76"/>
                </a:solidFill>
                <a:latin typeface="Calibri"/>
                <a:ea typeface="Calibri"/>
                <a:cs typeface="Calibri"/>
              </a:rPr>
              <a:t>29</a:t>
            </a:r>
          </a:p>
        </p:txBody>
      </p:sp>
      <p:sp>
        <p:nvSpPr>
          <p:cNvPr id="6" name="sub">
            <a:extLst xmlns:a="http://schemas.openxmlformats.org/drawingml/2006/main">
              <a:ext uri="{FF2B5EF4-FFF2-40B4-BE49-F238E27FC236}">
                <a16:creationId xmlns:a16="http://schemas.microsoft.com/office/drawing/2014/main" id="{A750961D-C516-448E-9B34-58DA0DF8A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14425"/>
            <a:ext cx="10820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F6B76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5F6B76"/>
                </a:solidFill>
                <a:latin typeface="Calibri"/>
                <a:ea typeface="Calibri"/>
                <a:cs typeface="Calibri"/>
              </a:rPr>
              <a:t>本页展示真实SPICE Output Log，第17页展示同一RAW的完整波形窗口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d9af92f9464176"/>
          <a:stretch xmlns:a="http://schemas.openxmlformats.org/drawingml/2006/main"/>
        </p:blipFill>
        <p:spPr>
          <a:xfrm xmlns:a="http://schemas.openxmlformats.org/drawingml/2006/main">
            <a:off x="685800" y="1685925"/>
            <a:ext cx="7810500" cy="4381500"/>
          </a:xfrm>
          <a:prstGeom xmlns:a="http://schemas.openxmlformats.org/drawingml/2006/main" prst="rect">
            <a:avLst/>
          </a:prstGeom>
        </p:spPr>
      </p:pic>
      <p:sp>
        <p:nvSpPr>
          <p:cNvPr id="8" name="items">
            <a:extLst xmlns:a="http://schemas.openxmlformats.org/drawingml/2006/main">
              <a:ext uri="{FF2B5EF4-FFF2-40B4-BE49-F238E27FC236}">
                <a16:creationId xmlns:a16="http://schemas.microsoft.com/office/drawing/2014/main" id="{BB79D185-88E1-45F4-822A-ADF0FE4BA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1743075"/>
            <a:ext cx="26765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B70B5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2B70B5"/>
                </a:solidFill>
                <a:latin typeface="Calibri"/>
                <a:ea typeface="Calibri"/>
                <a:cs typeface="Calibri"/>
              </a:rPr>
              <a:t>截图中可核对</a:t>
            </a:r>
          </a:p>
        </p:txBody>
      </p:sp>
      <p:sp>
        <p:nvSpPr>
          <p:cNvPr id="9" name="list">
            <a:extLst xmlns:a="http://schemas.openxmlformats.org/drawingml/2006/main">
              <a:ext uri="{FF2B5EF4-FFF2-40B4-BE49-F238E27FC236}">
                <a16:creationId xmlns:a16="http://schemas.microsoft.com/office/drawing/2014/main" id="{2698843C-6EE9-4C32-89D2-C38E20C12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2333625"/>
            <a:ext cx="2676525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软件版本与文件名</a:t>
            </a:r>
          </a:p>
          <a:p xmlns:a="http://schemas.openxmlformats.org/drawingml/2006/main">
            <a:pPr>
              <a:defRPr sz="1725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求解正常结束</a:t>
            </a:r>
          </a:p>
          <a:p xmlns:a="http://schemas.openxmlformats.org/drawingml/2006/main">
            <a:pPr>
              <a:defRPr sz="1725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统计窗口0.223–0.224 s</a:t>
            </a:r>
          </a:p>
          <a:p xmlns:a="http://schemas.openxmlformats.org/drawingml/2006/main">
            <a:pPr>
              <a:defRPr sz="1725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Vpp、RMS及有功功率</a:t>
            </a:r>
          </a:p>
        </p:txBody>
      </p:sp>
      <p:sp>
        <p:nvSpPr>
          <p:cNvPr id="10" name="history">
            <a:extLst xmlns:a="http://schemas.openxmlformats.org/drawingml/2006/main">
              <a:ext uri="{FF2B5EF4-FFF2-40B4-BE49-F238E27FC236}">
                <a16:creationId xmlns:a16="http://schemas.microsoft.com/office/drawing/2014/main" id="{1BAAD271-5DBF-49BF-9992-179440D7F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4200525"/>
            <a:ext cx="26765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旧AC截图仍保留归档</a:t>
            </a:r>
          </a:p>
        </p:txBody>
      </p:sp>
      <p:sp>
        <p:nvSpPr>
          <p:cNvPr id="11" name="boundary">
            <a:extLst xmlns:a="http://schemas.openxmlformats.org/drawingml/2006/main">
              <a:ext uri="{FF2B5EF4-FFF2-40B4-BE49-F238E27FC236}">
                <a16:creationId xmlns:a16="http://schemas.microsoft.com/office/drawing/2014/main" id="{E70903C5-2448-4007-B73C-22CAEB6E1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4705350"/>
            <a:ext cx="267652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BE3A3A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BE3A3A"/>
                </a:solidFill>
                <a:latin typeface="Calibri"/>
                <a:ea typeface="Calibri"/>
                <a:cs typeface="Calibri"/>
              </a:rPr>
              <a:t>2026-08-15截图有裁切</a:t>
            </a:r>
          </a:p>
          <a:p xmlns:a="http://schemas.openxmlformats.org/drawingml/2006/main">
            <a:pPr>
              <a:defRPr sz="1650" b="0">
                <a:solidFill>
                  <a:srgbClr val="BE3A3A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BE3A3A"/>
                </a:solidFill>
                <a:latin typeface="Calibri"/>
                <a:ea typeface="Calibri"/>
                <a:cs typeface="Calibri"/>
              </a:rPr>
              <a:t>不能借此新瞬态截图</a:t>
            </a:r>
          </a:p>
          <a:p xmlns:a="http://schemas.openxmlformats.org/drawingml/2006/main">
            <a:pPr>
              <a:defRPr sz="1650" b="0">
                <a:solidFill>
                  <a:srgbClr val="BE3A3A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BE3A3A"/>
                </a:solidFill>
                <a:latin typeface="Calibri"/>
                <a:ea typeface="Calibri"/>
                <a:cs typeface="Calibri"/>
              </a:rPr>
              <a:t>补证旧AC全部场景</a:t>
            </a:r>
          </a:p>
        </p:txBody>
      </p:sp>
    </p:spTree>
    <p:extLst>
      <p:ext uri="{BB962C8B-B14F-4D97-AF65-F5344CB8AC3E}">
        <p14:creationId xmlns:p14="http://schemas.microsoft.com/office/powerpoint/2010/main" val="52124133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itle">
            <a:extLst xmlns:a="http://schemas.openxmlformats.org/drawingml/2006/main">
              <a:ext uri="{FF2B5EF4-FFF2-40B4-BE49-F238E27FC236}">
                <a16:creationId xmlns:a16="http://schemas.microsoft.com/office/drawing/2014/main" id="{2C07085D-C229-4BBC-BE92-A02209FC2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备份：静态、准稳态、瞬态重放与反馈结果分别追溯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7C730B-3975-4C47-83C8-ED2B2F3A1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1D0600-E606-4FC8-A568-342E25ED5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1DC"/>
          </a:solidFill>
          <a:ln xmlns:a="http://schemas.openxmlformats.org/drawingml/2006/main" w="0">
            <a:noFill/>
          </a:ln>
        </p:spPr>
      </p:sp>
      <p:sp>
        <p:nvSpPr>
          <p:cNvPr id="4" name="scope">
            <a:extLst xmlns:a="http://schemas.openxmlformats.org/drawingml/2006/main">
              <a:ext uri="{FF2B5EF4-FFF2-40B4-BE49-F238E27FC236}">
                <a16:creationId xmlns:a16="http://schemas.microsoft.com/office/drawing/2014/main" id="{7269C2AB-24C2-4763-99E1-741A6E46A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43675"/>
            <a:ext cx="103822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F6B76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5F6B76"/>
                </a:solidFill>
                <a:latin typeface="Calibri"/>
                <a:ea typeface="Calibri"/>
                <a:cs typeface="Calibri"/>
              </a:rPr>
              <a:t>汇报截止2026-09-15    原数据与失败记录保留    完整路径、批次、窗口和哈希见备注及随附证据索引</a:t>
            </a:r>
          </a:p>
        </p:txBody>
      </p:sp>
      <p:sp>
        <p:nvSpPr>
          <p:cNvPr id="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3F0D9486-BAD1-4754-99DC-733D56735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43675"/>
            <a:ext cx="3619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F6B76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5F6B76"/>
                </a:solidFill>
                <a:latin typeface="Calibri"/>
                <a:ea typeface="Calibri"/>
                <a:cs typeface="Calibri"/>
              </a:rPr>
              <a:t>31</a:t>
            </a:r>
          </a:p>
        </p:txBody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685800" y="1285875"/>
          <a:ext xmlns:a="http://schemas.openxmlformats.org/drawingml/2006/main" cx="10820400" cy="3762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81300"/>
                <a:gridCol w="4038600"/>
                <a:gridCol w="4000500"/>
              </a:tblGrid>
              <a:tr h="537482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证据类型／批次</a:t>
                      </a:r>
                    </a:p>
                  </a:txBody>
                  <a:tcPr marL="95250" marR="95250" marT="57150" marB="57150" anchor="ctr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原始文件</a:t>
                      </a:r>
                    </a:p>
                  </a:txBody>
                  <a:tcPr marL="95250" marR="95250" marT="57150" marB="57150" anchor="ctr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支持的结论</a:t>
                      </a:r>
                    </a:p>
                  </a:txBody>
                  <a:tcPr marL="95250" marR="95250" marT="57150" marB="57150" anchor="ctr">
                    <a:solidFill>
                      <a:srgbClr val="17324D"/>
                    </a:solidFill>
                  </a:tcPr>
                </a:tc>
              </a:tr>
              <a:tr h="537482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v2.1静态AC对照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统一配置、.cir、.raw、.log、误差表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相同拓扑和参数的两条求解路径一致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</a:tr>
              <a:tr h="537482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历史准稳态控制 a734…</a:t>
                      </a:r>
                    </a:p>
                  </a:txBody>
                  <a:tcPr marL="95250" marR="95250" marT="57150" marB="57150" anchor="ctr">
                    <a:solidFill>
                      <a:srgbClr val="EA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控制CSV、状态、扫描点、持续时间</a:t>
                      </a:r>
                    </a:p>
                  </a:txBody>
                  <a:tcPr marL="95250" marR="95250" marT="57150" marB="57150" anchor="ctr">
                    <a:solidFill>
                      <a:srgbClr val="EA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该历史序列内的控制现象与能量统计</a:t>
                      </a:r>
                    </a:p>
                  </a:txBody>
                  <a:tcPr marL="95250" marR="95250" marT="57150" marB="57150" anchor="ctr">
                    <a:solidFill>
                      <a:srgbClr val="EAF1F5"/>
                    </a:solidFill>
                  </a:tcPr>
                </a:tc>
              </a:tr>
              <a:tr h="537482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2026-09-07消融／后续候选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8组合＋2对照、完整时序与验收表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改进来源、代价与未解决的约束风险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</a:tr>
              <a:tr h="537482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2026-09-11/12瞬态重放</a:t>
                      </a:r>
                    </a:p>
                  </a:txBody>
                  <a:tcPr marL="95250" marR="95250" marT="57150" marB="57150" anchor="ctr">
                    <a:solidFill>
                      <a:srgbClr val="EA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61条指令、真实RAW、.meas、GUI</a:t>
                      </a:r>
                    </a:p>
                  </a:txBody>
                  <a:tcPr marL="95250" marR="95250" marT="57150" marB="57150" anchor="ctr">
                    <a:solidFill>
                      <a:srgbClr val="EA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P&amp;O所选片段的真实电路响应</a:t>
                      </a:r>
                    </a:p>
                  </a:txBody>
                  <a:tcPr marL="95250" marR="95250" marT="57150" marB="57150" anchor="ctr">
                    <a:solidFill>
                      <a:srgbClr val="EAF1F5"/>
                    </a:solidFill>
                  </a:tcPr>
                </a:tc>
              </a:tr>
              <a:tr h="537482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2026-09-14五轮反馈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逐轮stimulus、RAW、feedback及哈希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本轮测量改变下一轮实际执行指令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</a:tr>
              <a:tr h="537482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2026-09-15网页展示</a:t>
                      </a:r>
                    </a:p>
                  </a:txBody>
                  <a:tcPr marL="95250" marR="95250" marT="57150" marB="57150" anchor="ctr">
                    <a:solidFill>
                      <a:srgbClr val="EA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实际网页截图、界面代码、历史会话</a:t>
                      </a:r>
                    </a:p>
                  </a:txBody>
                  <a:tcPr marL="95250" marR="95250" marT="57150" marB="57150" anchor="ctr">
                    <a:solidFill>
                      <a:srgbClr val="EA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平台当前可查看和操作的功能</a:t>
                      </a:r>
                    </a:p>
                  </a:txBody>
                  <a:tcPr marL="95250" marR="95250" marT="57150" marB="57150" anchor="ctr">
                    <a:solidFill>
                      <a:srgbClr val="EAF1F5"/>
                    </a:solidFill>
                  </a:tcPr>
                </a:tc>
              </a:tr>
            </a:tbl>
          </a:graphicData>
        </a:graphic>
      </p:graphicFrame>
      <p:sp>
        <p:nvSpPr>
          <p:cNvPr id="7" name="contract">
            <a:extLst xmlns:a="http://schemas.openxmlformats.org/drawingml/2006/main">
              <a:ext uri="{FF2B5EF4-FFF2-40B4-BE49-F238E27FC236}">
                <a16:creationId xmlns:a16="http://schemas.microsoft.com/office/drawing/2014/main" id="{3ABF90EE-F2E2-4A68-B661-CFFB629FF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76850"/>
            <a:ext cx="1082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B70B5"/>
                </a:solidFill>
                <a:latin typeface="Calibri"/>
                <a:ea typeface="Calibri"/>
                <a:cs typeface="Calibri"/>
              </a:defRPr>
            </a:pPr>
            <a:r>
              <a:rPr sz="1875" b="1">
                <a:solidFill>
                  <a:srgbClr val="2B70B5"/>
                </a:solidFill>
                <a:latin typeface="Calibri"/>
                <a:ea typeface="Calibri"/>
                <a:cs typeface="Calibri"/>
              </a:rPr>
              <a:t>各证据层不互相替代</a:t>
            </a:r>
          </a:p>
        </p:txBody>
      </p:sp>
      <p:sp>
        <p:nvSpPr>
          <p:cNvPr id="8" name="boundary">
            <a:extLst xmlns:a="http://schemas.openxmlformats.org/drawingml/2006/main">
              <a:ext uri="{FF2B5EF4-FFF2-40B4-BE49-F238E27FC236}">
                <a16:creationId xmlns:a16="http://schemas.microsoft.com/office/drawing/2014/main" id="{EDD90086-BECB-4E51-B389-0B3098568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0"/>
            <a:ext cx="108204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BE3A3A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BE3A3A"/>
                </a:solidFill>
                <a:latin typeface="Calibri"/>
                <a:ea typeface="Calibri"/>
                <a:cs typeface="Calibri"/>
              </a:rPr>
              <a:t>AC数值一致性不能证明瞬态安全；开环重放不能证明闭环性能；五轮固定负载反馈不能证明动态扰动验收。</a:t>
            </a:r>
          </a:p>
        </p:txBody>
      </p:sp>
    </p:spTree>
    <p:extLst>
      <p:ext uri="{BB962C8B-B14F-4D97-AF65-F5344CB8AC3E}">
        <p14:creationId xmlns:p14="http://schemas.microsoft.com/office/powerpoint/2010/main" val="105101232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2026-09-15T02:05:39.9740000Z</dcterms:created>
  <dcterms:modified xsi:type="dcterms:W3CDTF">2026-09-15T02:05:39.9740000Z</dcterms:modified>
</coreProperties>
</file>