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7" autoAdjust="0"/>
    <p:restoredTop sz="94660"/>
  </p:normalViewPr>
  <p:slideViewPr>
    <p:cSldViewPr snapToGrid="0">
      <p:cViewPr>
        <p:scale>
          <a:sx n="75" d="100"/>
          <a:sy n="75" d="100"/>
        </p:scale>
        <p:origin x="-2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1F1E-4870-A208-E879A60286B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1F1E-4870-A208-E879A60286B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F1E-4870-A208-E879A60286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开场只做边界定义：本月完成的是端口电学模型、匹配、扰动扫描和控制原型，不是CTO治疗效果验证。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这页回答项目在解决什么：负载或参数变化导致电学最优点移动，固定频率可能失配。随后引出参数必须先自洽。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教授最可能追问参数来源。先主动展示旧参数冲突，再强调v2.1只解决数学自洽，不代表器件真实性。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C:\Users\24739\Documents\Codex\2026-08-10\new-chat\outputs\v2_self_consistent_rebuild\report_evidence_final\01_项目口径与参数\v2_1_活动基线参数.csv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强调比较使用同一Thevenin源，不在每个网络后重新校准端电压。32.8倍只描述P_Rm代理，不应称为效率。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C:\Users\24739\Documents\Codex\2026-08-10\new-chat\outputs\v2_self_consistent_rebuild\report_evidence_final\03_匹配网络\stage2_匹配前后特征汇总.csv</a:t>
            </a:r>
          </a:p>
          <a:p>
            <a:r>
              <a:t>- C:\Users\24739\Documents\Codex\2026-08-10\new-chat\outputs\v2_self_consistent_rebuild\report_evidence_final\03_匹配网络\stage2_LTspice_解析交叉验证.csv</a:t>
            </a:r>
          </a:p>
          <a:p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这页不是念完整扫描表，而是回答谁控制峰位、峰高和峰宽。重点指出fs漂移决定控制器的捕获范围。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C:\Users\24739\Documents\Codex\2026-08-10\new-chat\outputs\v2_self_consistent_rebuild\report_evidence_final\04_扰动与Qm\stage3_trend_table.csv</a:t>
            </a:r>
          </a:p>
          <a:p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三组保持fs、Rm和C0固定，并重新推导Lm/Cm。峰高约0.17 W保持不变，峰宽随Qm增加而缩小。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C:\Users\24739\Documents\Codex\2026-08-10\new-chat\outputs\v2_self_consistent_rebuild\report_evidence_final\04_扰动与Qm\stage3_Qm_500_800_1000_summary.csv</a:t>
            </a:r>
          </a:p>
          <a:p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先看基准场景，再看fs-5%的反例。最大功率点与最小相位点相差49.5 kHz，说明零相位不能直接作为功率最大化目标。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C:\Users\24739\Documents\Codex\2026-08-10\new-chat\outputs\v2_self_consistent_rebuild\report_evidence_final\05_选频准则\stage3_initial_three_criteria.csv</a:t>
            </a:r>
          </a:p>
          <a:p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±20 kHz会漏掉部分漂移峰；±50 kHz可覆盖当前28场景。扫描时间按1.5 ms/点估算，只是准稳态代理。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C:\Users\24739\Documents\Codex\2026-08-10\new-chat\outputs\v2_self_consistent_rebuild\report_evidence_final\05_选频准则\stage3_window_step_aggregate.csv</a:t>
            </a:r>
          </a:p>
          <a:p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本页左侧三联图由Python/Matplotlib直接读取项目CSV生成，并以300 dpi PNG嵌入PPT；没有使用PowerPoint原生图表重绘，也没有人为平移数据。</a:t>
            </a:r>
          </a:p>
          <a:p>
            <a:r>
              <a:t>a图：CASE_000_BASELINE与CASE_FS_M5的离线安全功率扫描，峰值分别为0.9000 MHz/170.0 mW与0.8548 MHz/140.2 mW。</a:t>
            </a:r>
          </a:p>
          <a:p>
            <a:r>
              <a:t>b图：捕获率按当前扰动场景自身的安全最大功率归一化。100%不等于恢复基准绝对功率。</a:t>
            </a:r>
          </a:p>
          <a:p>
            <a:r>
              <a:t>c图：仅绘制CONTROL样本；扫描/试探导致的时间间隔不插值、不连线。fs−5%窗口严格截断在3.200 s之前，避免混入下一扰动场景。</a:t>
            </a:r>
          </a:p>
          <a:p>
            <a:r>
              <a:t>周期扫频在2.4965 s到达峰值并通过稳态验收；P&amp;O在2.4985 s首次到达同一峰位，但未通过连续稳态验收。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C:\Users\24739\Documents\Codex\2026-08-10\new-chat\outputs\v2_self_consistent_rebuild\active_stage3_5\stage3_disturbance\stage3_frequency_response_all_cases.csv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这页给出正式验收结论。固定频率稳态误差高；周期扫频在所有扰动段满足验收；P&amp;O尾段可到最优，但7段未满足连续10样本确认。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C:\Users\24739\Documents\Codex\2026-08-10\new-chat\outputs\v2_self_consistent_rebuild\report_evidence_final\06_控制与保护\stage5_integrated_strategy_table.csv</a:t>
            </a:r>
          </a:p>
          <a:p>
            <a:r>
              <a:t>- C:\Users\24739\Documents\Codex\2026-08-10\new-chat\outputs\v2_self_consistent_rebuild\report_evidence_final\06_控制与保护\stage5_per_segment_metrics.csv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文献可以支持CTO结构异质性及负载变化的物理背景，但不能直接给出病变类型到fs、Rm、C0的定量换算。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结束时保持本页。用三列明确区分已完成、未证明和下一步，不以泛化结论收尾。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C:\Users\24739\Documents\Codex\2026-08-10\new-chat\outputs\v2_self_consistent_rebuild\report_evidence_final\FINAL_COMPLETION_AUDIT_2026-08-15.md</a:t>
            </a:r>
          </a:p>
          <a:p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答疑时用这页回答参数从哪里来。所有数值分成用户约束、假设基线和扫描变量，不能称为实测。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C:\Users\24739\Documents\Codex\2026-08-10\new-chat\outputs\v2_self_consistent_rebuild\report_evidence_final\01_项目口径与参数\v2_1_活动基线参数.csv</a:t>
            </a:r>
          </a:p>
          <a:p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用于回答扰动为何这样选、各场景是否可复现，以及基准0.9 MHz各指标。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C:\Users\24739\Documents\Codex\2026-08-10\new-chat\outputs\v2_self_consistent_rebuild\report_evidence_final\04_扰动与Qm\stage3_scenario_registry_and_summary.csv</a:t>
            </a:r>
          </a:p>
          <a:p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用于回答为什么主控制目标选择最大功率，而相位和反射只作为对照。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相位目标不是0度，而是基准受约束最大功率点的相位。局部相位曲线斜率决定更新方向。高增益仍可能错误锁定。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C:\Users\24739\Documents\Codex\2026-08-10\new-chat\outputs\v2_self_consistent_rebuild\report_evidence_final\06_控制与保护\phase_gain_sweep_summary.csv</a:t>
            </a:r>
          </a:p>
          <a:p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用于回应‘是否真的运行LTspice’。截图证明运行痕迹，RAW解析与误差CSV才证明结果一致，哈希用于追溯。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C:\Users\24739\Documents\Codex\2026-08-10\new-chat\outputs\v2_self_consistent_rebuild\report_evidence_final\02_LTspice真实运行</a:t>
            </a:r>
          </a:p>
          <a:p>
            <a:r>
              <a:t>- C:\Users\24739\Documents\Codex\2026-08-10\new-chat\outputs\v2_self_consistent_rebuild\report_evidence_final\SHA256_文件清单.csv</a:t>
            </a:r>
          </a:p>
          <a:p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用于回答恢复时间、稳态误差和错误锁定如何定义。强调所有策略用相同定义。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C:\Users\24739\Documents\Codex\2026-08-10\new-chat\outputs\v2_self_consistent_rebuild\report_evidence_final\01_项目口径与参数\03_Codex任务说明_修订版_v2_1.md</a:t>
            </a:r>
          </a:p>
          <a:p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用于回答复现性和文件组织。展示从参数到图表的完整链条。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C:\Users\24739\Documents\Codex\2026-08-10\new-chat\outputs\v2_self_consistent_rebuild\report_evidence_final\README_汇报工作痕迹索引.md</a:t>
            </a:r>
          </a:p>
          <a:p>
            <a:r>
              <a:t>- C:\Users\24739\Documents\Codex\2026-08-10\new-chat\outputs\v2_self_consistent_rebuild\report_evidence_final\SHA256_文件清单.csv</a:t>
            </a:r>
          </a:p>
          <a:p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这页用于坦诚说明结构声场尚未完成，并列出下一阶段需要自己从ANSYS/COMSOL截图保存的证据。</a:t>
            </a:r>
          </a:p>
          <a:p>
            <a:endParaRPr/>
          </a:p>
          <a:p>
            <a:r>
              <a:t>[Sources]</a:t>
            </a:r>
          </a:p>
          <a:p>
            <a:r>
              <a:t>- C:\Users\24739\Documents\Codex\2026-08-10\new-chat\outputs\v2_self_consistent_rebuild\report_evidence_final\08_结构声场未完成说明\GUI_evidence_capture_checklist.md</a:t>
            </a:r>
          </a:p>
          <a:p>
            <a:r>
              <a:t>- C:\Users\24739\Documents\Codex\2026-08-10\new-chat\outputs\v2_self_consistent_rebuild\report_evidence_final\08_结构声场未完成说明\solver_input_requirements.csv</a:t>
            </a:r>
          </a:p>
          <a:p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A7F8E"/>
          </a:solidFill>
          <a:ln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1524000" cy="47625"/>
          </a:xfrm>
          <a:prstGeom prst="rect">
            <a:avLst/>
          </a:prstGeom>
          <a:solidFill>
            <a:srgbClr val="E69F00"/>
          </a:solidFill>
          <a:ln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noGrp="1"/>
          </p:cNvSpPr>
          <p:nvPr/>
        </p:nvSpPr>
        <p:spPr>
          <a:xfrm>
            <a:off x="914400" y="42386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800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">
            <a:extLst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noGrp="1"/>
          </p:cNvSpPr>
          <p:nvPr/>
        </p:nvSpPr>
        <p:spPr>
          <a:xfrm>
            <a:off x="2324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noGrp="1"/>
          </p:cNvSpPr>
          <p:nvPr/>
        </p:nvSpPr>
        <p:spPr>
          <a:xfrm>
            <a:off x="4419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noGrp="1"/>
          </p:cNvSpPr>
          <p:nvPr/>
        </p:nvSpPr>
        <p:spPr>
          <a:xfrm>
            <a:off x="65151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noGrp="1"/>
          </p:cNvSpPr>
          <p:nvPr/>
        </p:nvSpPr>
        <p:spPr>
          <a:xfrm>
            <a:off x="8610600" y="2514600"/>
            <a:ext cx="666750" cy="32385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noGrp="1"/>
          </p:cNvSpPr>
          <p:nvPr/>
        </p:nvSpPr>
        <p:spPr>
          <a:xfrm>
            <a:off x="2914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noGrp="1"/>
          </p:cNvSpPr>
          <p:nvPr/>
        </p:nvSpPr>
        <p:spPr>
          <a:xfrm>
            <a:off x="3009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noGrp="1"/>
          </p:cNvSpPr>
          <p:nvPr/>
        </p:nvSpPr>
        <p:spPr>
          <a:xfrm>
            <a:off x="50101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noGrp="1"/>
          </p:cNvSpPr>
          <p:nvPr/>
        </p:nvSpPr>
        <p:spPr>
          <a:xfrm>
            <a:off x="51054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noGrp="1"/>
          </p:cNvSpPr>
          <p:nvPr/>
        </p:nvSpPr>
        <p:spPr>
          <a:xfrm>
            <a:off x="7105650" y="2238375"/>
            <a:ext cx="15240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noGrp="1"/>
          </p:cNvSpPr>
          <p:nvPr/>
        </p:nvSpPr>
        <p:spPr>
          <a:xfrm>
            <a:off x="7200900" y="23145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1809750" cy="876300"/>
          </a:xfrm>
          <a:prstGeom prst="roundRect">
            <a:avLst>
              <a:gd name="adj" fmla="val 6522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noGrp="1"/>
          </p:cNvSpPr>
          <p:nvPr/>
        </p:nvSpPr>
        <p:spPr>
          <a:xfrm>
            <a:off x="9296400" y="2314575"/>
            <a:ext cx="161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noGrp="1"/>
          </p:cNvSpPr>
          <p:nvPr/>
        </p:nvSpPr>
        <p:spPr>
          <a:xfrm>
            <a:off x="4286250" y="39052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-3">
            <a:extLst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49530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noGrp="1"/>
          </p:cNvSpPr>
          <p:nvPr/>
        </p:nvSpPr>
        <p:spPr>
          <a:xfrm>
            <a:off x="5905500" y="1238250"/>
            <a:ext cx="5600700" cy="4476750"/>
          </a:xfrm>
          <a:prstGeom prst="rect">
            <a:avLst/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noGrp="1"/>
          </p:cNvSpPr>
          <p:nvPr/>
        </p:nvSpPr>
        <p:spPr>
          <a:xfrm>
            <a:off x="8696325" y="2190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noGrp="1"/>
          </p:cNvSpPr>
          <p:nvPr/>
        </p:nvSpPr>
        <p:spPr>
          <a:xfrm>
            <a:off x="8696325" y="29718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noGrp="1"/>
          </p:cNvSpPr>
          <p:nvPr/>
        </p:nvSpPr>
        <p:spPr>
          <a:xfrm>
            <a:off x="6362700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noGrp="1"/>
          </p:cNvSpPr>
          <p:nvPr/>
        </p:nvSpPr>
        <p:spPr>
          <a:xfrm>
            <a:off x="8696325" y="3752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4">
            <a:extLst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1066800"/>
            <a:ext cx="7077075" cy="4953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noGrp="1"/>
          </p:cNvSpPr>
          <p:nvPr/>
        </p:nvSpPr>
        <p:spPr>
          <a:xfrm>
            <a:off x="8915400" y="1295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noGrp="1"/>
          </p:cNvSpPr>
          <p:nvPr/>
        </p:nvSpPr>
        <p:spPr>
          <a:xfrm>
            <a:off x="8915400" y="1695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noGrp="1"/>
          </p:cNvSpPr>
          <p:nvPr/>
        </p:nvSpPr>
        <p:spPr>
          <a:xfrm>
            <a:off x="8915400" y="3581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noGrp="1"/>
          </p:cNvSpPr>
          <p:nvPr/>
        </p:nvSpPr>
        <p:spPr>
          <a:xfrm>
            <a:off x="8686800" y="426720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5">
            <a:extLst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104900"/>
            <a:ext cx="6800850" cy="47625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905750" y="1257300"/>
            <a:ext cx="3333750" cy="2333625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noGrp="1"/>
          </p:cNvSpPr>
          <p:nvPr/>
        </p:nvSpPr>
        <p:spPr>
          <a:xfrm>
            <a:off x="8058150" y="3981450"/>
            <a:ext cx="3028950" cy="1428750"/>
          </a:xfrm>
          <a:prstGeom prst="roundRect">
            <a:avLst>
              <a:gd name="adj" fmla="val 4000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noGrp="1"/>
          </p:cNvSpPr>
          <p:nvPr/>
        </p:nvSpPr>
        <p:spPr>
          <a:xfrm>
            <a:off x="8305800" y="4191000"/>
            <a:ext cx="2571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noGrp="1"/>
          </p:cNvSpPr>
          <p:nvPr/>
        </p:nvSpPr>
        <p:spPr>
          <a:xfrm>
            <a:off x="8382000" y="54864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noGrp="1"/>
          </p:cNvSpPr>
          <p:nvPr/>
        </p:nvSpPr>
        <p:spPr>
          <a:xfrm>
            <a:off x="4095750" y="60769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6">
            <a:extLst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="685800" y="1352550"/>
          <a:ext cx="8096251" cy="4190998"/>
        </p:xfrm>
        <a:graphic>
          <a:graphicData uri="http://schemas.openxmlformats.org/drawingml/2006/table">
            <a:tbl>
              <a:tblPr firstRow="1"/>
              <a:tblGrid>
                <a:gridCol w="257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0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noGrp="1"/>
          </p:cNvSpPr>
          <p:nvPr/>
        </p:nvSpPr>
        <p:spPr>
          <a:xfrm>
            <a:off x="9201150" y="1447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noGrp="1"/>
          </p:cNvSpPr>
          <p:nvPr/>
        </p:nvSpPr>
        <p:spPr>
          <a:xfrm>
            <a:off x="9201150" y="2000250"/>
            <a:ext cx="2095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>
            <a:endParaRPr sz="1425" b="0">
              <a:solidFill>
                <a:srgbClr val="1F2933"/>
              </a:solidFill>
            </a:endParaRPr>
          </a:p>
          <a:p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2076450" cy="819150"/>
          </a:xfrm>
          <a:prstGeom prst="roundRect">
            <a:avLst>
              <a:gd name="adj" fmla="val 697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noGrp="1"/>
          </p:cNvSpPr>
          <p:nvPr/>
        </p:nvSpPr>
        <p:spPr>
          <a:xfrm>
            <a:off x="9391650" y="459105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7">
            <a:extLst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3450" y="1066800"/>
            <a:ext cx="6496050" cy="5238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noGrp="1"/>
          </p:cNvSpPr>
          <p:nvPr/>
        </p:nvSpPr>
        <p:spPr>
          <a:xfrm>
            <a:off x="8629650" y="21907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noGrp="1"/>
          </p:cNvSpPr>
          <p:nvPr/>
        </p:nvSpPr>
        <p:spPr>
          <a:xfrm>
            <a:off x="9772650" y="21907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noGrp="1"/>
          </p:cNvSpPr>
          <p:nvPr/>
        </p:nvSpPr>
        <p:spPr>
          <a:xfrm>
            <a:off x="9772650" y="312420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667000" cy="590550"/>
          </a:xfrm>
          <a:prstGeom prst="roundRect">
            <a:avLst>
              <a:gd name="adj" fmla="val 8065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noGrp="1"/>
          </p:cNvSpPr>
          <p:nvPr/>
        </p:nvSpPr>
        <p:spPr>
          <a:xfrm>
            <a:off x="8629650" y="40576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noGrp="1"/>
          </p:cNvSpPr>
          <p:nvPr/>
        </p:nvSpPr>
        <p:spPr>
          <a:xfrm>
            <a:off x="9772650" y="4057650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noGrp="1"/>
          </p:cNvSpPr>
          <p:nvPr/>
        </p:nvSpPr>
        <p:spPr>
          <a:xfrm>
            <a:off x="8477250" y="5095875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-8">
            <a:extLst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8899" y="1428750"/>
            <a:ext cx="8035803" cy="19526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4708" y="3667125"/>
            <a:ext cx="7884184" cy="19526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noGrp="1"/>
          </p:cNvSpPr>
          <p:nvPr/>
        </p:nvSpPr>
        <p:spPr>
          <a:xfrm>
            <a:off x="857250" y="12573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2095500" cy="1543050"/>
          </a:xfrm>
          <a:prstGeom prst="roundRect">
            <a:avLst>
              <a:gd name="adj" fmla="val 3704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1714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>
            <a:endParaRPr sz="1500" b="1">
              <a:solidFill>
                <a:srgbClr val="E69F00"/>
              </a:solidFill>
            </a:endParaRP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noGrp="1"/>
          </p:cNvSpPr>
          <p:nvPr/>
        </p:nvSpPr>
        <p:spPr>
          <a:xfrm>
            <a:off x="9525000" y="4143375"/>
            <a:ext cx="171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noGrp="1"/>
          </p:cNvSpPr>
          <p:nvPr/>
        </p:nvSpPr>
        <p:spPr>
          <a:xfrm>
            <a:off x="9239250" y="5219700"/>
            <a:ext cx="228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9">
            <a:extLst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009650"/>
            <a:ext cx="10820400" cy="4581525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noGrp="1"/>
          </p:cNvSpPr>
          <p:nvPr/>
        </p:nvSpPr>
        <p:spPr>
          <a:xfrm>
            <a:off x="7753350" y="5657850"/>
            <a:ext cx="3429000" cy="742950"/>
          </a:xfrm>
          <a:prstGeom prst="roundRect">
            <a:avLst>
              <a:gd name="adj" fmla="val 6522"/>
            </a:avLst>
          </a:prstGeom>
          <a:solidFill>
            <a:srgbClr val="E8F3F3"/>
          </a:solidFill>
          <a:ln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noGrp="1"/>
          </p:cNvSpPr>
          <p:nvPr/>
        </p:nvSpPr>
        <p:spPr>
          <a:xfrm>
            <a:off x="7981950" y="5743575"/>
            <a:ext cx="2971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推荐：±50 kHz / 1 kHz / 101点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扫描时间代理：151.5 ms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noGrp="1"/>
          </p:cNvSpPr>
          <p:nvPr/>
        </p:nvSpPr>
        <p:spPr>
          <a:xfrm>
            <a:off x="819150" y="56959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noGrp="1"/>
          </p:cNvSpPr>
          <p:nvPr/>
        </p:nvSpPr>
        <p:spPr>
          <a:xfrm>
            <a:off x="819150" y="6048375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11">
            <a:extLst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noGrp="1"/>
          </p:cNvSpPr>
          <p:nvPr/>
        </p:nvSpPr>
        <p:spPr>
          <a:xfrm>
            <a:off x="8763000" y="11430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noGrp="1"/>
          </p:cNvSpPr>
          <p:nvPr/>
        </p:nvSpPr>
        <p:spPr>
          <a:xfrm>
            <a:off x="8763000" y="148590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noGrp="1"/>
          </p:cNvSpPr>
          <p:nvPr/>
        </p:nvSpPr>
        <p:spPr>
          <a:xfrm>
            <a:off x="8763000" y="3095625"/>
            <a:ext cx="2743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 dirty="0">
                <a:solidFill>
                  <a:srgbClr val="5F6B76"/>
                </a:solidFill>
              </a:rPr>
              <a:t>稳定锁定0.8548 MHz；捕获率100%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 dirty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noGrp="1"/>
          </p:cNvSpPr>
          <p:nvPr/>
        </p:nvSpPr>
        <p:spPr>
          <a:xfrm>
            <a:off x="8763000" y="4000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noGrp="1"/>
          </p:cNvSpPr>
          <p:nvPr/>
        </p:nvSpPr>
        <p:spPr>
          <a:xfrm>
            <a:off x="8763000" y="4314825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noGrp="1"/>
          </p:cNvSpPr>
          <p:nvPr/>
        </p:nvSpPr>
        <p:spPr>
          <a:xfrm>
            <a:off x="8763000" y="5410200"/>
            <a:ext cx="27432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6" name="图片 5" descr="无重叠修订图">
            <a:extLst>
              <a:ext uri="{FF2B5EF4-FFF2-40B4-BE49-F238E27FC236}">
                <a16:creationId xmlns:a16="http://schemas.microsoft.com/office/drawing/2014/main" id="{04A3C830-F392-2C82-64A0-238BC8293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1047750"/>
            <a:ext cx="73478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-12">
            <a:extLst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>
            <p:extLst>
              <p:ext uri="{D42A27DB-BD31-4B8C-83A1-F6EECF244321}">
                <p14:modId xmlns:p14="http://schemas.microsoft.com/office/powerpoint/2010/main" val="2787240414"/>
              </p:ext>
            </p:extLst>
          </p:nvPr>
        </p:nvGraphicFramePr>
        <p:xfrm>
          <a:off x="685800" y="1619250"/>
          <a:ext cx="6191249" cy="2762252"/>
        </p:xfrm>
        <a:graphic>
          <a:graphicData uri="http://schemas.openxmlformats.org/drawingml/2006/table">
            <a:tbl>
              <a:tblPr firstRow="1"/>
              <a:tblGrid>
                <a:gridCol w="175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1" dirty="0">
                          <a:solidFill>
                            <a:srgbClr val="FFFFFF"/>
                          </a:solidFill>
                        </a:rPr>
                        <a:t>尾段正常控制样本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</a:rPr>
                        <a:t>误差</a:t>
                      </a:r>
                      <a:endParaRPr sz="13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1" dirty="0">
                          <a:solidFill>
                            <a:srgbClr val="FFFFFF"/>
                          </a:solidFill>
                        </a:rPr>
                        <a:t>实际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</a:rPr>
                        <a:t>硬越限</a:t>
                      </a:r>
                      <a:endParaRPr sz="13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8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="7334250" y="1524000"/>
          <a:ext cx="4000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648950" cy="1066800"/>
          </a:xfrm>
          <a:prstGeom prst="roundRect">
            <a:avLst>
              <a:gd name="adj" fmla="val 5357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noGrp="1"/>
          </p:cNvSpPr>
          <p:nvPr/>
        </p:nvSpPr>
        <p:spPr>
          <a:xfrm>
            <a:off x="952500" y="5048250"/>
            <a:ext cx="1009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13">
            <a:extLst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noGrp="1"/>
          </p:cNvSpPr>
          <p:nvPr/>
        </p:nvSpPr>
        <p:spPr>
          <a:xfrm>
            <a:off x="224790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noGrp="1"/>
          </p:cNvSpPr>
          <p:nvPr/>
        </p:nvSpPr>
        <p:spPr>
          <a:xfrm>
            <a:off x="5010150" y="2209800"/>
            <a:ext cx="45720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noGrp="1"/>
          </p:cNvSpPr>
          <p:nvPr/>
        </p:nvSpPr>
        <p:spPr>
          <a:xfrm>
            <a:off x="8763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noGrp="1"/>
          </p:cNvSpPr>
          <p:nvPr/>
        </p:nvSpPr>
        <p:spPr>
          <a:xfrm>
            <a:off x="33337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noGrp="1"/>
          </p:cNvSpPr>
          <p:nvPr/>
        </p:nvSpPr>
        <p:spPr>
          <a:xfrm>
            <a:off x="34290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noGrp="1"/>
          </p:cNvSpPr>
          <p:nvPr/>
        </p:nvSpPr>
        <p:spPr>
          <a:xfrm>
            <a:off x="5886450" y="1695450"/>
            <a:ext cx="2095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1905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>
            <a:endParaRPr sz="1500" b="1">
              <a:solidFill>
                <a:srgbClr val="17324D"/>
              </a:solidFill>
            </a:endParaRP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noGrp="1"/>
          </p:cNvSpPr>
          <p:nvPr/>
        </p:nvSpPr>
        <p:spPr>
          <a:xfrm>
            <a:off x="8496300" y="1447800"/>
            <a:ext cx="27241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noGrp="1"/>
          </p:cNvSpPr>
          <p:nvPr/>
        </p:nvSpPr>
        <p:spPr>
          <a:xfrm>
            <a:off x="8743950" y="16954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noGrp="1"/>
          </p:cNvSpPr>
          <p:nvPr/>
        </p:nvSpPr>
        <p:spPr>
          <a:xfrm>
            <a:off x="8877300" y="2209800"/>
            <a:ext cx="19812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14">
            <a:extLst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noGrp="1"/>
          </p:cNvSpPr>
          <p:nvPr/>
        </p:nvSpPr>
        <p:spPr>
          <a:xfrm>
            <a:off x="41719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9050" cy="409575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857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28956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noGrp="1"/>
          </p:cNvSpPr>
          <p:nvPr/>
        </p:nvSpPr>
        <p:spPr>
          <a:xfrm>
            <a:off x="8458200" y="1524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2590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10191750" cy="609600"/>
          </a:xfrm>
          <a:prstGeom prst="roundRect">
            <a:avLst>
              <a:gd name="adj" fmla="val 6250"/>
            </a:avLst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noGrp="1"/>
          </p:cNvSpPr>
          <p:nvPr/>
        </p:nvSpPr>
        <p:spPr>
          <a:xfrm>
            <a:off x="1333500" y="538162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15">
            <a:extLst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1238250" y="1333500"/>
          <a:ext cx="9715500" cy="4619630"/>
        </p:xfrm>
        <a:graphic>
          <a:graphicData uri="http://schemas.openxmlformats.org/drawingml/2006/table">
            <a:tbl>
              <a:tblPr firstRow="1"/>
              <a:tblGrid>
                <a:gridCol w="2323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5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6">
            <a:extLst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="838200" y="1790700"/>
          <a:ext cx="4000500" cy="3428999"/>
        </p:xfrm>
        <a:graphic>
          <a:graphicData uri="http://schemas.openxmlformats.org/drawingml/2006/table">
            <a:tbl>
              <a:tblPr firstRow="1"/>
              <a:tblGrid>
                <a:gridCol w="226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noGrp="1"/>
          </p:cNvSpPr>
          <p:nvPr/>
        </p:nvSpPr>
        <p:spPr>
          <a:xfrm>
            <a:off x="5676900" y="13335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noGrp="1"/>
          </p:cNvSpPr>
          <p:nvPr/>
        </p:nvSpPr>
        <p:spPr>
          <a:xfrm>
            <a:off x="5676900" y="1866900"/>
            <a:ext cx="5429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noGrp="1"/>
          </p:cNvSpPr>
          <p:nvPr/>
        </p:nvSpPr>
        <p:spPr>
          <a:xfrm>
            <a:off x="5676900" y="3200400"/>
            <a:ext cx="5429250" cy="1790700"/>
          </a:xfrm>
          <a:prstGeom prst="roundRect">
            <a:avLst>
              <a:gd name="adj" fmla="val 3191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noGrp="1"/>
          </p:cNvSpPr>
          <p:nvPr/>
        </p:nvSpPr>
        <p:spPr>
          <a:xfrm>
            <a:off x="5981700" y="3429000"/>
            <a:ext cx="48101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17">
            <a:extLst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819150" y="1466850"/>
          <a:ext cx="10477500" cy="2571752"/>
        </p:xfrm>
        <a:graphic>
          <a:graphicData uri="http://schemas.openxmlformats.org/drawingml/2006/table">
            <a:tbl>
              <a:tblPr firstRow="1"/>
              <a:tblGrid>
                <a:gridCol w="1976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8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noGrp="1"/>
          </p:cNvSpPr>
          <p:nvPr/>
        </p:nvSpPr>
        <p:spPr>
          <a:xfrm>
            <a:off x="1409700" y="4572000"/>
            <a:ext cx="9239250" cy="952500"/>
          </a:xfrm>
          <a:prstGeom prst="roundRect">
            <a:avLst>
              <a:gd name="adj" fmla="val 6000"/>
            </a:avLst>
          </a:prstGeom>
          <a:solidFill>
            <a:srgbClr val="FFF4DD"/>
          </a:solidFill>
          <a:ln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noGrp="1"/>
          </p:cNvSpPr>
          <p:nvPr/>
        </p:nvSpPr>
        <p:spPr>
          <a:xfrm>
            <a:off x="1676400" y="4857750"/>
            <a:ext cx="8705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18">
            <a:extLst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3899" y="1257300"/>
            <a:ext cx="6142802" cy="4762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3238500" cy="1238250"/>
          </a:xfrm>
          <a:prstGeom prst="roundRect">
            <a:avLst>
              <a:gd name="adj" fmla="val 4615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noGrp="1"/>
          </p:cNvSpPr>
          <p:nvPr/>
        </p:nvSpPr>
        <p:spPr>
          <a:xfrm>
            <a:off x="8305800" y="4267200"/>
            <a:ext cx="2819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-19">
            <a:extLst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noGrp="1"/>
          </p:cNvSpPr>
          <p:nvPr/>
        </p:nvSpPr>
        <p:spPr>
          <a:xfrm>
            <a:off x="7905750" y="3352800"/>
            <a:ext cx="3333750" cy="1885950"/>
          </a:xfrm>
          <a:prstGeom prst="roundRect">
            <a:avLst>
              <a:gd name="adj" fmla="val 3030"/>
            </a:avLst>
          </a:prstGeom>
          <a:solidFill>
            <a:srgbClr val="EAF1F7"/>
          </a:solidFill>
          <a:ln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noGrp="1"/>
          </p:cNvSpPr>
          <p:nvPr/>
        </p:nvSpPr>
        <p:spPr>
          <a:xfrm>
            <a:off x="8191500" y="356235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noGrp="1"/>
          </p:cNvSpPr>
          <p:nvPr/>
        </p:nvSpPr>
        <p:spPr>
          <a:xfrm>
            <a:off x="3143250" y="55721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20">
            <a:extLst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876300" y="1352550"/>
          <a:ext cx="10382250" cy="4000500"/>
        </p:xfrm>
        <a:graphic>
          <a:graphicData uri="http://schemas.openxmlformats.org/drawingml/2006/table">
            <a:tbl>
              <a:tblPr firstRow="1"/>
              <a:tblGrid>
                <a:gridCol w="253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noGrp="1"/>
          </p:cNvSpPr>
          <p:nvPr/>
        </p:nvSpPr>
        <p:spPr>
          <a:xfrm>
            <a:off x="1123950" y="56769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21">
            <a:extLst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noGrp="1"/>
          </p:cNvSpPr>
          <p:nvPr/>
        </p:nvSpPr>
        <p:spPr>
          <a:xfrm>
            <a:off x="46291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noGrp="1"/>
          </p:cNvSpPr>
          <p:nvPr/>
        </p:nvSpPr>
        <p:spPr>
          <a:xfrm>
            <a:off x="678180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514350" cy="266700"/>
          </a:xfrm>
          <a:prstGeom prst="rightArrow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E8F3F3"/>
          </a:solidFill>
          <a:ln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noGrp="1"/>
          </p:cNvSpPr>
          <p:nvPr/>
        </p:nvSpPr>
        <p:spPr>
          <a:xfrm>
            <a:off x="30861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noGrp="1"/>
          </p:cNvSpPr>
          <p:nvPr/>
        </p:nvSpPr>
        <p:spPr>
          <a:xfrm>
            <a:off x="52387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noGrp="1"/>
          </p:cNvSpPr>
          <p:nvPr/>
        </p:nvSpPr>
        <p:spPr>
          <a:xfrm>
            <a:off x="739140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noGrp="1"/>
          </p:cNvSpPr>
          <p:nvPr/>
        </p:nvSpPr>
        <p:spPr>
          <a:xfrm>
            <a:off x="9448800" y="2095500"/>
            <a:ext cx="1714500" cy="1143000"/>
          </a:xfrm>
          <a:prstGeom prst="roundRect">
            <a:avLst>
              <a:gd name="adj" fmla="val 5000"/>
            </a:avLst>
          </a:prstGeom>
          <a:solidFill>
            <a:srgbClr val="F9E7E7"/>
          </a:solidFill>
          <a:ln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152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noGrp="1"/>
          </p:cNvSpPr>
          <p:nvPr/>
        </p:nvSpPr>
        <p:spPr>
          <a:xfrm>
            <a:off x="3695700" y="462915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noGrp="1"/>
          </p:cNvSpPr>
          <p:nvPr/>
        </p:nvSpPr>
        <p:spPr>
          <a:xfrm>
            <a:off x="2533650" y="53340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-22">
            <a:extLst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820400" cy="28575"/>
          </a:xfrm>
          <a:prstGeom prst="rect">
            <a:avLst/>
          </a:prstGeom>
          <a:solidFill>
            <a:srgbClr val="17324D"/>
          </a:solidFill>
          <a:ln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9525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42862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noGrp="1"/>
          </p:cNvSpPr>
          <p:nvPr/>
        </p:nvSpPr>
        <p:spPr>
          <a:xfrm>
            <a:off x="6000750" y="1352550"/>
            <a:ext cx="19050" cy="4191000"/>
          </a:xfrm>
          <a:prstGeom prst="rect">
            <a:avLst/>
          </a:prstGeom>
          <a:solidFill>
            <a:srgbClr val="D9E0E6"/>
          </a:solidFill>
          <a:ln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noGrp="1"/>
          </p:cNvSpPr>
          <p:nvPr/>
        </p:nvSpPr>
        <p:spPr>
          <a:xfrm>
            <a:off x="6591300" y="2038350"/>
            <a:ext cx="43815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>
            <a:endParaRPr sz="1575" b="0">
              <a:solidFill>
                <a:srgbClr val="1F2933"/>
              </a:solidFill>
            </a:endParaRPr>
          </a:p>
          <a:p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noGrp="1"/>
          </p:cNvSpPr>
          <p:nvPr/>
        </p:nvSpPr>
        <p:spPr>
          <a:xfrm>
            <a:off x="1562100" y="5619750"/>
            <a:ext cx="9048750" cy="476250"/>
          </a:xfrm>
          <a:prstGeom prst="roundRect">
            <a:avLst>
              <a:gd name="adj" fmla="val 12000"/>
            </a:avLst>
          </a:prstGeom>
          <a:solidFill>
            <a:srgbClr val="F9E7E7"/>
          </a:solidFill>
          <a:ln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noGrp="1"/>
          </p:cNvSpPr>
          <p:nvPr/>
        </p:nvSpPr>
        <p:spPr>
          <a:xfrm>
            <a:off x="1885950" y="57150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3402</Words>
  <Application>Microsoft Office PowerPoint</Application>
  <DocSecurity>0</DocSecurity>
  <PresentationFormat>宽屏</PresentationFormat>
  <Paragraphs>487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1</cp:revision>
  <dcterms:created xsi:type="dcterms:W3CDTF">2026-08-28T08:48:42Z</dcterms:created>
  <dcterms:modified xsi:type="dcterms:W3CDTF">2026-08-28T10:08:06Z</dcterms:modified>
</cp:coreProperties>
</file>