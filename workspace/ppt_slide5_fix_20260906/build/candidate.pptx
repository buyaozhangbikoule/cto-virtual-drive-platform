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e1744b15df4fa4" /><Relationship Type="http://schemas.openxmlformats.org/officeDocument/2006/relationships/extended-properties" Target="/docProps/app.xml" Id="Rd604111a637e4fc9" /><Relationship Type="http://schemas.openxmlformats.org/officeDocument/2006/relationships/officeDocument" Target="/ppt/presentation.xml" Id="R2111942bdace49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0b0ccb71e429c"/>
  </p:sldMasterIdLst>
  <p:notesMasterIdLst>
    <p:notesMasterId xmlns:r="http://schemas.openxmlformats.org/officeDocument/2006/relationships" r:id="R6e378c9156eb41e3"/>
  </p:notesMasterIdLst>
  <p:sldIdLst>
    <p:sldId xmlns:r="http://schemas.openxmlformats.org/officeDocument/2006/relationships" id="256" r:id="R6b38e4407d7649a9"/>
    <p:sldId xmlns:r="http://schemas.openxmlformats.org/officeDocument/2006/relationships" id="257" r:id="R4422a06545d04f55"/>
    <p:sldId xmlns:r="http://schemas.openxmlformats.org/officeDocument/2006/relationships" id="258" r:id="R4c1af03e7eec429e"/>
    <p:sldId xmlns:r="http://schemas.openxmlformats.org/officeDocument/2006/relationships" id="259" r:id="R07c42de238f24026"/>
    <p:sldId xmlns:r="http://schemas.openxmlformats.org/officeDocument/2006/relationships" id="260" r:id="R79b8c17b72764f73"/>
    <p:sldId xmlns:r="http://schemas.openxmlformats.org/officeDocument/2006/relationships" id="261" r:id="R0cb95e40e941489f"/>
    <p:sldId xmlns:r="http://schemas.openxmlformats.org/officeDocument/2006/relationships" id="262" r:id="Ra5d621dfa8d74648"/>
    <p:sldId xmlns:r="http://schemas.openxmlformats.org/officeDocument/2006/relationships" id="263" r:id="R1f670dc504404c0a"/>
    <p:sldId xmlns:r="http://schemas.openxmlformats.org/officeDocument/2006/relationships" id="264" r:id="R14c3b12d35a747e6"/>
    <p:sldId xmlns:r="http://schemas.openxmlformats.org/officeDocument/2006/relationships" id="265" r:id="Rf5a46da451a94c9c"/>
    <p:sldId xmlns:r="http://schemas.openxmlformats.org/officeDocument/2006/relationships" id="266" r:id="R9a4a50a1b06e4d1a"/>
    <p:sldId xmlns:r="http://schemas.openxmlformats.org/officeDocument/2006/relationships" id="267" r:id="R917944da474b4522"/>
    <p:sldId xmlns:r="http://schemas.openxmlformats.org/officeDocument/2006/relationships" id="268" r:id="R4f50ae2ffd444b7c"/>
    <p:sldId xmlns:r="http://schemas.openxmlformats.org/officeDocument/2006/relationships" id="269" r:id="Rea8bbf9ae7484685"/>
    <p:sldId xmlns:r="http://schemas.openxmlformats.org/officeDocument/2006/relationships" id="270" r:id="Ra63c0475eb5f4aee"/>
    <p:sldId xmlns:r="http://schemas.openxmlformats.org/officeDocument/2006/relationships" id="271" r:id="R2a318adbc25147bb"/>
    <p:sldId xmlns:r="http://schemas.openxmlformats.org/officeDocument/2006/relationships" id="272" r:id="R3c42bcc7228c42dc"/>
    <p:sldId xmlns:r="http://schemas.openxmlformats.org/officeDocument/2006/relationships" id="273" r:id="Rb507bf52087d4c41"/>
    <p:sldId xmlns:r="http://schemas.openxmlformats.org/officeDocument/2006/relationships" id="274" r:id="R94929a77c1cc4504"/>
    <p:sldId xmlns:r="http://schemas.openxmlformats.org/officeDocument/2006/relationships" id="275" r:id="R1f967e129178490e"/>
    <p:sldId xmlns:r="http://schemas.openxmlformats.org/officeDocument/2006/relationships" id="276" r:id="Rd0c89ed018354310"/>
    <p:sldId xmlns:r="http://schemas.openxmlformats.org/officeDocument/2006/relationships" id="277" r:id="Rc5fc515b85404e5a"/>
    <p:sldId xmlns:r="http://schemas.openxmlformats.org/officeDocument/2006/relationships" id="278" r:id="Rdfadde16d3934807"/>
    <p:sldId xmlns:r="http://schemas.openxmlformats.org/officeDocument/2006/relationships" id="279" r:id="R9c53c6cbc7964aed"/>
    <p:sldId xmlns:r="http://schemas.openxmlformats.org/officeDocument/2006/relationships" id="280" r:id="Rcc8fe6ee243642d7"/>
    <p:sldId xmlns:r="http://schemas.openxmlformats.org/officeDocument/2006/relationships" id="281" r:id="Rbfd686a4f71e4ac4"/>
    <p:sldId xmlns:r="http://schemas.openxmlformats.org/officeDocument/2006/relationships" id="282" r:id="Rb30786733472469f"/>
    <p:sldId xmlns:r="http://schemas.openxmlformats.org/officeDocument/2006/relationships" id="283" r:id="R3ff1c7cfaf594a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7bbaf308e04b7a" /><Relationship Type="http://schemas.openxmlformats.org/officeDocument/2006/relationships/slideMaster" Target="/ppt/slideMasters/slideMaster1.xml" Id="R5ab0b0ccb71e429c" /><Relationship Type="http://schemas.openxmlformats.org/officeDocument/2006/relationships/notesMaster" Target="/ppt/notesMasters/notesMaster1.xml" Id="R6e378c9156eb41e3" /><Relationship Type="http://schemas.openxmlformats.org/officeDocument/2006/relationships/presProps" Target="/ppt/presProps.xml" Id="R427522ee34804183" /><Relationship Type="http://schemas.openxmlformats.org/officeDocument/2006/relationships/viewProps" Target="/ppt/viewProps.xml" Id="R94e0edf79d8d4942" /><Relationship Type="http://schemas.openxmlformats.org/officeDocument/2006/relationships/tableStyles" Target="/ppt/tableStyles.xml" Id="R5fe010b6b5d34191" /><Relationship Type="http://schemas.openxmlformats.org/officeDocument/2006/relationships/slide" Target="/ppt/slides/slide1.xml" Id="R6b38e4407d7649a9" /><Relationship Type="http://schemas.openxmlformats.org/officeDocument/2006/relationships/slide" Target="/ppt/slides/slide2.xml" Id="R4422a06545d04f55" /><Relationship Type="http://schemas.openxmlformats.org/officeDocument/2006/relationships/slide" Target="/ppt/slides/slide3.xml" Id="R4c1af03e7eec429e" /><Relationship Type="http://schemas.openxmlformats.org/officeDocument/2006/relationships/slide" Target="/ppt/slides/slide4.xml" Id="R07c42de238f24026" /><Relationship Type="http://schemas.openxmlformats.org/officeDocument/2006/relationships/slide" Target="/ppt/slides/slide5.xml" Id="R79b8c17b72764f73" /><Relationship Type="http://schemas.openxmlformats.org/officeDocument/2006/relationships/slide" Target="/ppt/slides/slide6.xml" Id="R0cb95e40e941489f" /><Relationship Type="http://schemas.openxmlformats.org/officeDocument/2006/relationships/slide" Target="/ppt/slides/slide7.xml" Id="Ra5d621dfa8d74648" /><Relationship Type="http://schemas.openxmlformats.org/officeDocument/2006/relationships/slide" Target="/ppt/slides/slide8.xml" Id="R1f670dc504404c0a" /><Relationship Type="http://schemas.openxmlformats.org/officeDocument/2006/relationships/slide" Target="/ppt/slides/slide9.xml" Id="R14c3b12d35a747e6" /><Relationship Type="http://schemas.openxmlformats.org/officeDocument/2006/relationships/slide" Target="/ppt/slides/slide10.xml" Id="Rf5a46da451a94c9c" /><Relationship Type="http://schemas.openxmlformats.org/officeDocument/2006/relationships/slide" Target="/ppt/slides/slide11.xml" Id="R9a4a50a1b06e4d1a" /><Relationship Type="http://schemas.openxmlformats.org/officeDocument/2006/relationships/slide" Target="/ppt/slides/slide12.xml" Id="R917944da474b4522" /><Relationship Type="http://schemas.openxmlformats.org/officeDocument/2006/relationships/slide" Target="/ppt/slides/slide13.xml" Id="R4f50ae2ffd444b7c" /><Relationship Type="http://schemas.openxmlformats.org/officeDocument/2006/relationships/slide" Target="/ppt/slides/slide14.xml" Id="Rea8bbf9ae7484685" /><Relationship Type="http://schemas.openxmlformats.org/officeDocument/2006/relationships/slide" Target="/ppt/slides/slide15.xml" Id="Ra63c0475eb5f4aee" /><Relationship Type="http://schemas.openxmlformats.org/officeDocument/2006/relationships/slide" Target="/ppt/slides/slide16.xml" Id="R2a318adbc25147bb" /><Relationship Type="http://schemas.openxmlformats.org/officeDocument/2006/relationships/slide" Target="/ppt/slides/slide17.xml" Id="R3c42bcc7228c42dc" /><Relationship Type="http://schemas.openxmlformats.org/officeDocument/2006/relationships/slide" Target="/ppt/slides/slide18.xml" Id="Rb507bf52087d4c41" /><Relationship Type="http://schemas.openxmlformats.org/officeDocument/2006/relationships/slide" Target="/ppt/slides/slide19.xml" Id="R94929a77c1cc4504" /><Relationship Type="http://schemas.openxmlformats.org/officeDocument/2006/relationships/slide" Target="/ppt/slides/slide20.xml" Id="R1f967e129178490e" /><Relationship Type="http://schemas.openxmlformats.org/officeDocument/2006/relationships/slide" Target="/ppt/slides/slide21.xml" Id="Rd0c89ed018354310" /><Relationship Type="http://schemas.openxmlformats.org/officeDocument/2006/relationships/slide" Target="/ppt/slides/slide22.xml" Id="Rc5fc515b85404e5a" /><Relationship Type="http://schemas.openxmlformats.org/officeDocument/2006/relationships/slide" Target="/ppt/slides/slide23.xml" Id="Rdfadde16d3934807" /><Relationship Type="http://schemas.openxmlformats.org/officeDocument/2006/relationships/slide" Target="/ppt/slides/slide24.xml" Id="R9c53c6cbc7964aed" /><Relationship Type="http://schemas.openxmlformats.org/officeDocument/2006/relationships/slide" Target="/ppt/slides/slide25.xml" Id="Rcc8fe6ee243642d7" /><Relationship Type="http://schemas.openxmlformats.org/officeDocument/2006/relationships/slide" Target="/ppt/slides/slide26.xml" Id="Rbfd686a4f71e4ac4" /><Relationship Type="http://schemas.openxmlformats.org/officeDocument/2006/relationships/slide" Target="/ppt/slides/slide27.xml" Id="Rb30786733472469f" /><Relationship Type="http://schemas.openxmlformats.org/officeDocument/2006/relationships/slide" Target="/ppt/slides/slide28.xml" Id="R3ff1c7cfaf59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8fdef38f3d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33c0a6db034ee4" /><Relationship Type="http://schemas.openxmlformats.org/officeDocument/2006/relationships/notesMaster" Target="/ppt/notesMasters/notesMaster1.xml" Id="R3aaf3f81616548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816bc9248541f1" /><Relationship Type="http://schemas.openxmlformats.org/officeDocument/2006/relationships/notesMaster" Target="/ppt/notesMasters/notesMaster1.xml" Id="Rda647d2bc1de4c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af9e4e3dbf4fc6" /><Relationship Type="http://schemas.openxmlformats.org/officeDocument/2006/relationships/notesMaster" Target="/ppt/notesMasters/notesMaster1.xml" Id="R5d83b5d18b234d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dbea41b1c1479d" /><Relationship Type="http://schemas.openxmlformats.org/officeDocument/2006/relationships/notesMaster" Target="/ppt/notesMasters/notesMaster1.xml" Id="Re6aecc0f097d43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b8b8db075c4c8a" /><Relationship Type="http://schemas.openxmlformats.org/officeDocument/2006/relationships/notesMaster" Target="/ppt/notesMasters/notesMaster1.xml" Id="Red95f070a96844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62368b91424310" /><Relationship Type="http://schemas.openxmlformats.org/officeDocument/2006/relationships/notesMaster" Target="/ppt/notesMasters/notesMaster1.xml" Id="Rd0be4653854643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13180fa8294493" /><Relationship Type="http://schemas.openxmlformats.org/officeDocument/2006/relationships/notesMaster" Target="/ppt/notesMasters/notesMaster1.xml" Id="R7aec028b016244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ed57cbf57a4e2c" /><Relationship Type="http://schemas.openxmlformats.org/officeDocument/2006/relationships/notesMaster" Target="/ppt/notesMasters/notesMaster1.xml" Id="Rb15f547f4ae54a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97d8535bdd4f2b" /><Relationship Type="http://schemas.openxmlformats.org/officeDocument/2006/relationships/notesMaster" Target="/ppt/notesMasters/notesMaster1.xml" Id="R80b3241e9e2f4b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c8ab0870c84d55" /><Relationship Type="http://schemas.openxmlformats.org/officeDocument/2006/relationships/notesMaster" Target="/ppt/notesMasters/notesMaster1.xml" Id="Rf9b2fedd7c4d4b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397737ab884aee" /><Relationship Type="http://schemas.openxmlformats.org/officeDocument/2006/relationships/notesMaster" Target="/ppt/notesMasters/notesMaster1.xml" Id="R6e4e0d494f7246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ca1eaeb4e9448a" /><Relationship Type="http://schemas.openxmlformats.org/officeDocument/2006/relationships/notesMaster" Target="/ppt/notesMasters/notesMaster1.xml" Id="R23c64fb0eb454e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31c4a3315b40cf" /><Relationship Type="http://schemas.openxmlformats.org/officeDocument/2006/relationships/notesMaster" Target="/ppt/notesMasters/notesMaster1.xml" Id="Rb1b7b8d5a81849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225794b4a645bc" /><Relationship Type="http://schemas.openxmlformats.org/officeDocument/2006/relationships/notesMaster" Target="/ppt/notesMasters/notesMaster1.xml" Id="Raa021fe6473743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b5b17a164c4df6" /><Relationship Type="http://schemas.openxmlformats.org/officeDocument/2006/relationships/notesMaster" Target="/ppt/notesMasters/notesMaster1.xml" Id="Re722471985ca48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c50ff00d0f473a" /><Relationship Type="http://schemas.openxmlformats.org/officeDocument/2006/relationships/notesMaster" Target="/ppt/notesMasters/notesMaster1.xml" Id="R11d9df13718142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434b80a8fa4b4c" /><Relationship Type="http://schemas.openxmlformats.org/officeDocument/2006/relationships/notesMaster" Target="/ppt/notesMasters/notesMaster1.xml" Id="Ra3fee077c1c441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862ee89bfe4781" /><Relationship Type="http://schemas.openxmlformats.org/officeDocument/2006/relationships/notesMaster" Target="/ppt/notesMasters/notesMaster1.xml" Id="R3af2586b57dd41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3fcb3a972a4cd6" /><Relationship Type="http://schemas.openxmlformats.org/officeDocument/2006/relationships/notesMaster" Target="/ppt/notesMasters/notesMaster1.xml" Id="R5dfb7247b7ab42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743361a8594d64" /><Relationship Type="http://schemas.openxmlformats.org/officeDocument/2006/relationships/notesMaster" Target="/ppt/notesMasters/notesMaster1.xml" Id="Rae4c9ece769b41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c6ad6244415466b" /><Relationship Type="http://schemas.openxmlformats.org/officeDocument/2006/relationships/notesMaster" Target="/ppt/notesMasters/notesMaster1.xml" Id="R6a47da9ff69e4a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b0bec50c114f81" /><Relationship Type="http://schemas.openxmlformats.org/officeDocument/2006/relationships/notesMaster" Target="/ppt/notesMasters/notesMaster1.xml" Id="Rd5b7c5dad6d843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21e2964f884f59" /><Relationship Type="http://schemas.openxmlformats.org/officeDocument/2006/relationships/notesMaster" Target="/ppt/notesMasters/notesMaster1.xml" Id="R70f766515bed433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bc93b139d34d46" /><Relationship Type="http://schemas.openxmlformats.org/officeDocument/2006/relationships/notesMaster" Target="/ppt/notesMasters/notesMaster1.xml" Id="Rd6b3dc3fafd944f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021378e98e48bd" /><Relationship Type="http://schemas.openxmlformats.org/officeDocument/2006/relationships/notesMaster" Target="/ppt/notesMasters/notesMaster1.xml" Id="R7d53fd9be34a44e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480ad8b881e43ef" /><Relationship Type="http://schemas.openxmlformats.org/officeDocument/2006/relationships/notesMaster" Target="/ppt/notesMasters/notesMaster1.xml" Id="R1dd9b2c969234a5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6f1279c5c74714" /><Relationship Type="http://schemas.openxmlformats.org/officeDocument/2006/relationships/notesMaster" Target="/ppt/notesMasters/notesMaster1.xml" Id="R5c14e9695e4846f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9a633046f474e80" /><Relationship Type="http://schemas.openxmlformats.org/officeDocument/2006/relationships/notesMaster" Target="/ppt/notesMasters/notesMaster1.xml" Id="R9bac7c99d99144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【建议时长】20 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【本页结论】本月完成的是假设BVD模型下的电学建模、匹配、扰动与带约束控制验证，不是实物或临床验证。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各位老师好，我汇报的题目是CTO超声换能器虚拟阻抗建模与自适应驱动控制。第一月工作的核心不是宣称已经得到真实换能器性能，而是建立一条可复现、可审计的虚拟电学链路：从BVD等效电路、L型匹配、参数扰动，到选频、保护和控制策略比较。全篇数值均按文献参考值、假设基线值或扫描变量分类；结构声场、实物换能器和临床结论不在本月证据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【看图顺序】先报题目，再主动声明模型边界，最后给出本月主线。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【口径与限制】“CTO”只是应用背景；当前结论仅属于特定小信号线性电学模型。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【教授可能追问】你现在做的是器械设计、软件平台，还是理论模型？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【建议回答】当前是可调参数的虚拟电学仿真与控制原型平台。它能生成可复现数据和控制比较，但尚不是完整功放、结构声场模型或临床器械。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C:/Users/24739/Documents/Codex/2026-08-10/new-chat/CTO超声换能器虚拟阻抗建模与自适应驱动控制_第一月计划书.docx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【本页结论】研究问题是负载等效参数漂移后，如何重新找到受约束的高功率工作点。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【逐字讲稿】项目从一个具体问题出发：换能器等效谐振频率、静态电容或机械损耗变化后，固定0.9 MHz可能偏离当前场景的安全功率峰。为此我把问题拆成五段：BVD给出负载频响；L型网络完成基线窄带匹配；扰动模块改变单一或组合参数；虚拟测量计算阻抗、相位和功率；控制器在0.8到1.0 MHz内选频，并由保护状态机限制幅度。这里优化目标是当前场景的电学有功功率代理，同时满足电压和电流约束。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【看图顺序】沿流程箭头从左到右讲；强调“先模型、后扰动、再控制”。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【口径与限制】最大化的是模型内电学功率代理，不是声功率或治疗效果。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【教授可能追问】为什么不直接用相位等于零作为谐振点？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【建议回答】因为匹配网络改变了测量端口，而且最小相位、最小反射和最大功率对应不同目标函数；后续扫频结果显示它们不总是重合。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【模糊推测】真实负载变化可能表现为BVD参数漂移；具体病变或介质变化与各BVD参数的定量映射尚无实测标定。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【本页结论】先消除旧参数的物理冲突，再把v2.1参数明确降格为假设基线。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【逐字讲稿】这一页是模型自洽性审计。100 Vpp正弦电压对应35.36 V RMS。如果换能器在0.9 MHz正好处于串联谐振且运动支路电阻只有100欧姆，那么电流约353.6 mA RMS、耗散约12.5 W，这与约5 mA和0.1到0.17 W完全冲突。因此不能同时保留这些条件。v2.1采用反向约束：在100 Vpp、约5 mA的假设工作点附近令端口阻抗约7.07 kΩ，并得到Rm约7.353 kΩ等一组假设参数。它们只用于验证流程和控制逻辑，不能写成真实器件参数。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【看图顺序】先读左侧三行换算，再指出矛盾，最后读右侧v2.1假设基线。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【口径与限制】功率上限0.1768 VA来自视在功率；实际有功功率还要乘功率因数。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【教授可能追问】为什么把Rm设到千欧量级，是否符合真实换能器？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【建议回答】它是满足本次电压、电流量级约束的数学假设，不声称符合真实器件。下一阶段必须用阻抗分析仪数据拟合BVD参数。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【模糊推测】无；本页是单位换算和模型内代数一致性。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【本页结论】解析模型与LTspice网表在同一拓扑和参数下实现一致。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【逐字讲稿】阶段一先做裸BVD验证，频率范围0.5到1.5 MHz，共100001个点，对应10 Hz网格。Python按复阻抗公式直接计算，LTspice用AC小信号网表求解。两条曲线在图上重合，最大阻抗幅值相对误差约1.36乘10的负7次方，峰位差小于一个10 Hz网格。这个结果证明两套实现对同一电路的计算一致；它只验证代码和网表，没有验证假设参数代表真实换能器。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【看图顺序】先说明扫描设置，再看曲线重合，最后读误差框和结论边界。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【口径与限制】峰位差“小于10 Hz”受离散网格限制，不能解读为器件频率精度。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【教授可能追问】为什么误差这么小，是否存在同源公式自证？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【建议回答】Python与LTspice是独立求解路径，但拓扑与参数来自同一配置。极小误差说明实现一致，仍需实测数据做外部有效性验证。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【本页结论】在0.9000 MHz、同一校准戴维南源和50 Ω源阻抗条件下，v2.1有损L型匹配使P_Rm达到未匹配时的约32.8倍。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【逐字讲稿】这一页比较匹配网络本身带来的变化。全部曲线使用同一个冻结戴维南源，源电压约6.217 V RMS，源阻抗50欧姆。这里的6.217 V是理想源的有效值，100 Vpp则是加入有损匹配后在0.9 MHz得到的换能器端电压，二者测量位置和单位都不同。上图灰色虚线表示未匹配，橙色实线表示v2.1有损匹配，蓝色点线是理想无额外寄生损耗的匹配参考。在相同的0.9000 MHz处，P_Rm从5.186毫瓦提高到170.0毫瓦，约为原来的32.8倍。下图显示匹配网络输入端的反射代理，其定义使用50欧姆实参考阻抗。当前曲线来自已保存的LTspice频域结果，按线性模型的源幅度平方关系换算到统一的校准源条件。P_Rm表示BVD机械支路电阻的有功耗散，不能直接等同于声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【看图顺序】先读源条件。上图在0.9000 MHz比较未匹配与有损匹配的功率。再看下图输入反射代理。最后区分源电压和换能器端电压。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【数值口径】计算使用Vs=6.217360894531728 V RMS，Rs=50 Ω，显示时将Vs取为6.217。已保存的1 V RMS源数据统一乘Vs²=38.65557649285237得到当前功率。未匹配5.186363126 mW，有损匹配169.999953760 mW，比值32.778258990。归一化的0.134168562 mW和4.397811886 mW仅用于换算说明，不与当前工作点交叉比较。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【电压位置】本页100 Vpp、约5 mA RMS仅描述有损匹配在0.9000 MHz的换能器端工作点，不表示全频段端电压恒定，也不是戴维南源电压。全部曲线冻结同一源参数，没有逐频调整源幅度。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【反射代理】Gamma=abs((Zin-50)/(Zin+50))，Zin为源电阻之后、匹配网络输入端阻抗。线性模型下该代理不随整体源幅度缩放而变化。它不是反射功率的瓦特值。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【参数与限制】Lmatch约106.726 μH，Cmatch约283.599 pF，实际有损网络另含ESR。此处使用假设BVD模型参数，非实测。32.8倍是该工作点的P_Rm比值，不能解释为电声效率增益或临床效应。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【教授可能追问】为什么1 V RMS仿真结果能换算到约6.217 V RMS？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【建议回答】当前电路为线性AC模型，全部电压和电流相量随源幅度成比例，复功率随源幅度平方变化。对所有电路统一使用同一个幅度系数，阻抗、相位和反射代理不变。170 mW对应校准后的源条件，不能标成1 V RMS源条件的直接结果。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【模糊推测】本页不对P_Rm与实际声功率的关系作定量推测。该关系尚需机电声耦合模型和实验标定验证。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C:/Users/24739/Documents/Codex/2026-08-10/new-chat/outputs/v2_self_consistent_rebuild/stage2_matching/stage2_匹配前后特征汇总.csv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【本页结论】匹配指标必须明确测点：本页讨论戴维南源看到的匹配网络输入阻抗Zin。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【逐字讲稿】这一页专门统一阻抗和相位测点。匹配前，源看到的网络输入阻抗约为6800减j1939欧姆。理想匹配在0.9 MHz附近接近50欧姆；加入电感损耗后得到56.686减j1.067欧姆，也就是56.70欧姆、相位约负1.08度。这里的相位是匹配网络输入相位arg Zin，不是换能器BVD端口相位。两者中间隔着匹配网络，所以数值可以明显不同。后面的相位控制消融也使用arg Zin，并以基准安全功率峰处的负1.0782度为目标。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【看图顺序】先指出测点位置，再比较匹配前、理想匹配和有损匹配三个复阻抗。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【口径与限制】50欧姆是本次假设的戴维南源阻抗，待真实驱动链路确认。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【教授可能追问】为什么换能器端口相位约负16度，而这里接近零？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【建议回答】匹配电感和电容补偿了负载的虚部；源侧Zin相位接近零不意味着换能器自身端口阻抗相位也接近零。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C:/Users/24739/Documents/Codex/2026-08-10/new-chat/CTO_virtual_drive_platform_v2_1/results/tables/stage2/stage2_matching_summary.csv</a:t>
            </a:r>
          </a:p>
          <a:p xmlns:a="http://schemas.openxmlformats.org/drawingml/2006/main">
            <a:r>
              <a:t>- C:/Users/24739/Documents/Codex/2026-08-10/new-chat/outputs/v2_self_consistent_rebuild/active_stage3_5/model_v2_1.py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【本页结论】单因素扫描把“谁引起峰移、谁改变峰形”从组合失配中分离出来。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【逐字讲稿】这张三层柱图分别给出峰值频率偏移、峰高变化和半高宽变化。最明显的峰位变化来自串联谐振频率下降：fs减5%使安全功率峰约下移45.2 kHz。Rm增加50%时峰位基本不变，但峰高下降约6.36%、半高宽增加约26.5%。匹配电感和电感Q变化主要改变峰高与峰宽，并可能造成小量峰移。C0在本次范围内对功率峰影响很小，所以柱几乎贴近零；这不是没有计算，而是曲线高度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【看图顺序】从上到下：峰位、峰高、峰宽；每层只点出影响最大的两个因素。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【口径与限制】所有百分比都相对于v2.1基线，并在同一冻结源和匹配网络下计算。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【教授可能追问】为什么图里有的因素没有明显柱形？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【建议回答】数值接近零或被纵轴量程压缩。精确值在趋势表和场景CSV中，不能把视觉上看不见误认为没有仿真。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【模糊推测】真实器件中C0影响可能更强，取决于其实际量级、匹配拓扑和寄生参数；本页不能外推。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C:/Users/24739/Documents/Codex/2026-08-10/new-chat/CTO_virtual_drive_platform_v2_1/results/tables/stage3_disturbance/stage3_trend_table.csv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【本页结论】Cm-only正式扫描显示峰位按1/√Cm规律下移，但派生fs与Qm会同步变化。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【逐字讲稿】这里补齐机械支路电容Cm的独立元件扫描。基线峰为0.9000 MHz、170.0 mW；Cm增加5%、10%和20%后，峰位分别约为0.8781、0.8579和0.8214 MHz，峰高分别约164.3、144.3和96.4 mW。总峰移约负78.6 kHz，峰高下降约43.3%。方向与串联谐振频率反比于Cm平方根一致。需要特别说明：这是原始元件层面的Cm-only；因为Lm和Rm被冻结，派生的fs和Qm并不保持不变。未保护的全频a=1扫描还存在Vpp超过160 V的区间，所以安全控制不能直接照搬离线曲线。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【看图顺序】先沿不同颜色找峰位置，再读右侧峰移和峰高摘要，最后说明下方电压电流限制。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【口径与限制】峰值频率按0.1 kHz扫描分辨率保留4位MHz；更高小数不代表更高测量精度。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【教授可能追问】Cm-only为什么不等于只改变谐振频率？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【建议回答】元件只改Cm，但fs=1/(2π√LmCm)、Qm=ωsLm/Rm，因此派生量会变化。若要纯fs扰动，应按约束联合重算Lm和Cm。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C:/Users/24739/Documents/Codex/2026-08-10/new-chat/CTO_virtual_drive_platform_v2_1/results/tables/stage3_disturbance/stage3_cm_only_power_safety_summary.csv</a:t>
            </a:r>
          </a:p>
          <a:p xmlns:a="http://schemas.openxmlformats.org/drawingml/2006/main">
            <a:r>
              <a:t>- C:/Users/24739/Documents/Codex/2026-08-10/new-chat/CTO_virtual_drive_platform_v2_1/figures/stage3_disturbance/cm_only/stage3_07_cm_only_power_and_electrical_limits.png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【本页结论】高Qm提高频率选择性，但并不自动代表系统整体更优。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【逐字讲稿】Qm敏感性采用500、800、1000三档，并保持fs、Rm和C0不变，通过重新计算Lm和Cm实现。三档峰高都约为170 mW，但半高宽从3.451 kHz缩小到2.144和1.713 kHz。也就是说，高Qm使功率峰更尖，对扫频步长、频率噪声和控制驻留时间提出更严格要求。这里不能把高Q简单解释为系统更好，因为窄峰可能降低扰动后的捕获鲁棒性。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【看图顺序】先看上方功率峰变窄，再看下方阻抗细节，最后读右侧FWHM数值。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【口径与限制】三档是敏感性变体，不是三个实测器件。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【教授可能追问】为什么峰高基本不变、峰宽却变化？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【建议回答】本扫描固定了基准峰处的关键阻性量和谐振频率，Qm主要改变频率选择性，因此峰宽变化更明显。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C:/Users/24739/Documents/Codex/2026-08-10/new-chat/CTO_virtual_drive_platform_v2_1/results/tables/stage3_disturbance/stage3_Qm_500_800_1000_summary.csv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【本页结论】最大功率、最小绝对相位和最小反射代理是三个不同优化问题。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【逐字讲稿】在每个场景中我先做0.84到0.96 MHz的离线局部扫频，并分别寻找三个特征点。基准场景下，最大功率和最小反射都在约0.900 MHz，而最小绝对输入相位在约0.907 MHz。fs减5%场景在0.5 kHz网格上，最大功率为0.8550 MHz，但最小相位仍在0.9045 MHz，相差49.5 kHz。这里0.8550是粗网格选点；更高分辨率复算得到0.8548 MHz，两者不矛盾。因此相位闭环若以0度为目标，可能锁到低功率点。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【看图顺序】先看基准三点是否重合，再看扰动场景三点分离，最后读49.5 kHz差值。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【口径与限制】图中的相位是匹配网络输入相位；反射量是50欧姆参考下的代理值，不是方向耦合器实测反射功率。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【教授可能追问】既然相位不可靠，为什么还保留相位控制？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【建议回答】它作为计划书要求的消融对照，用基准最大功率点相位作目标并加入局部斜率符号；正式推荐策略仍是直接以功率为目标的扫描辅助P&amp;O。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C:/Users/24739/Documents/Codex/2026-08-10/new-chat/CTO_virtual_drive_platform_v2_1/results/tables/stage3_selection/stage3_three_criteria_all_scenarios.csv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【本页结论】采用宽窗口粗捕获、窄窗口细化，比固定单一网格更合理。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【逐字讲稿】我比较了0.1、0.5、1和2 kHz步长，以及正负20、50和100 kHz窗口。窗口太窄时，真实峰落在窗外，步长再细也没有意义；窗口扩大后，点数和代理扫描时间增加。图中的时间按每点1.5 ms驻留计算，是算法比较用假设，不是硬件测得。当前代表性设置推荐正负50 kHz、1 kHz步长，共101点、约152 ms代理时间；但汇总表显示它并不能保证覆盖所有极端场景，正负100 kHz才覆盖本次完整场景集。因此控制器采用异常后较宽粗扫，再在候选峰附近缩窗细化。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【看图顺序】先看窗口是否漏峰，再看步长带来的误差，最后看扫描点数与时间。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【口径与限制】1.5 ms每点是【假设控制参数】，真实扫描时间要由测量稳定时间和硬件通信延迟决定。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【教授可能追问】为什么最终不是直接用0.1 kHz、正负100 kHz？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【建议回答】那样精度高但点数和时间开销大。分级扫描先保证捕获，再局部细化，能在覆盖率与代价之间折中。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【模糊推测】真实硬件的最优驻留时间可能显著不同，需用测量噪声和响应时间重新整定。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C:/Users/24739/Documents/Codex/2026-08-10/new-chat/CTO_virtual_drive_platform_v2_1/results/tables/stage3_selection/stage3_window_step_aggregate.csv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C:/Users/24739/Documents/Codex/2026-08-10/new-chat/CTO_virtual_drive_platform_v2_1/results/tables/stage3_selection/stage3_window_step_tradeoff.csv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【本页结论】保护优先级高于追峰，避免频率和幅度同时调整造成误判。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【逐字讲稿】控制周期设为20 ms，每周期计算输入阻抗、输入相位、功率、反射代理、电压和电流。状态机的内部状态依次包括NORMAL、SOFT_FOLDBACK、HARD_TRIP、RECOVERY_HOLD和RAMP_UP。软阈值暂设130 Vpp或5.5 mA RMS，触发后先降低幅度并冻结频率；硬阈值为160 Vpp或6 mA RMS，立即停机保持，不等待多样本确认。稳定后再重捕获和渐升幅度。三幅曲线从上到下是端口电压、端口电流和幅度命令；电压或电流下降与幅度命令下降同步，是foldback动作，不是功率峰本身消失。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【看图顺序】先读左侧状态顺序，再自上而下对齐三幅时序曲线，最后看软硬阈值虚线。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【口径与限制】这是离散准稳态状态机仿真，不包含开关暂态、热保护、ADC噪声或硬件延迟。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【教授可能追问】为什么保护时冻结频率？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【建议回答】降幅本身会改变绝对功率。如果同时调频，会把保护动作误判为负载变化；因此先稳定幅度、冻结参考，再恢复选频。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【模糊推测】软硬阈值来自项目暂定要求，并非器件安全认证值。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【本页结论】保存的控制时序证明约束已真正进入算法，但反射独立上限和声学约束仍缺失。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【逐字讲稿】为了检验控制是否只是离线argmax，我审计了1795条保存时序。频率始终受0.8到1.0 MHz硬边界限制，幅度命令在0到1之间，并接入130/160 Vpp与5.5/6 mA软硬阈值。全序列峰值电压为130 Vpp、峰值电流为5.124 mA，实际硬越限为零。需要坦白的是，反射代理目前只参与异常投票和重捕获触发，没有独立反射硬上限；壁面声压代理也尚不可用。因此这已经是带电学约束的控制，但还不是完整多物理场安全控制。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【看图顺序】左列讲已接入约束，中列读审计数字，右列主动讲缺口。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【口径与限制】“实际硬越限为零”指这批仿真时序，不等于实物硬件安全。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【教授可能追问】反射功率异常升高的问题是否已经解决？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【建议回答】目前解决到检测层：计算并监测反射代理，用于触发重捕获；尚未定义经实测标定的独立硬上限，这是下一阶段缺口。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【建议时长】75秒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【本页结论】周期扫频稳定锁定新峰；P&amp;O到达同一峰位，但本窗口内未通过连续稳态验收。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【逐字讲稿】这一页把离线峰移和控制时序放在一起。上图蓝线是基准安全功率曲线，峰值0.9000 MHz、170.0 mW；红线是fs减5%场景，峰值0.8548 MHz、140.2 mW，峰位下移45.2 kHz，同时绝对峰高下降。下图功率捕获率以当前扰动场景自身的安全最大功率归一化，所以100%表示找到了140.2 mW这个场景内峰值，不表示恢复到基准170.0 mW。周期扫频在2.4965秒到达，随后约96.5 ms满足连续10个控制样本高于98%的稳态判据。P&amp;O在2.4985秒首次到达相同峰位，但由于继续试探，本窗口内没有满足连续保持验收。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【看图顺序】先看上图两条峰和两条竖线，再看中图捕获率，最后看下图控制频率平台。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【口径与限制】“成功定位”与“稳定锁定”不同；P&amp;O只满足前者。时间轴是离散准稳态仿真时间。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【教授可能追问】红色峰只有140.2 mW，为什么捕获率还能是100%？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【建议回答】分母是当前场景自身的安全最优功率，不是基准场景功率。归一化用于比较是否找到当前最优点，绝对功率下降另外报告。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C:/Users/24739/Documents/Codex/2026-08-10/new-chat/CTO_virtual_drive_platform_v2_1/results/tables/stage4_5/stage5_per_segment_metrics.csv</a:t>
            </a:r>
          </a:p>
          <a:p xmlns:a="http://schemas.openxmlformats.org/drawingml/2006/main">
            <a:r>
              <a:t>- C:/Users/24739/Documents/Codex/2026-08-10/new-chat/CTO_virtual_drive_platform_v2_1/figures/stage4_5/fs_shift_relock_detail.png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【本页结论】在当前参数和统一扰动序列下，周期扫频达到零尾段误差且比P&amp;O少一个未收敛段。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【逐字讲稿】综合表使用统一扰动序列和统一验收指标。固定0.9 MHz的平均稳态误差约30.14%，惩罚恢复时间345.7 ms，3个扰动段未收敛。周期扫频稳态误差为0，惩罚恢复时间409.0 ms，2段未收敛。扫描辅助P&amp;O稳态误差为0，惩罚恢复时间458.9 ms，3段未收敛。三种策略实际硬越限都为零。固定策略的时间数字较短不代表更优，因为它经常停在次优频率并保留30.14%误差；恢复时间对未收敛段采用惩罚值，必须与稳态误差和未收敛段一起解读。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【看图顺序】先看稳态误差，再看未收敛段，最后看恢复时间柱图；不要只按最短柱排名。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【口径与限制】结论只对当前BVD参数、扰动驻留时间、控制周期和整定参数成立。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【教授可能追问】为什么标题说周期扫频最稳健，而它恢复时间不是最短？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【建议回答】稳健性不是只看时间。周期扫频同时达到零尾段误差、较少未收敛段和零硬越限；固定策略虽然时间数字小，但稳态功率损失明显。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【模糊推测】换成真实噪声、不同驻留时间或重新整定P&amp;O后，排名可能改变。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C:/Users/24739/Documents/Codex/2026-08-10/new-chat/CTO_virtual_drive_platform_v2_1/results/tables/stage4_5/stage5_integrated_strategy_table.csv</a:t>
            </a:r>
          </a:p>
          <a:p xmlns:a="http://schemas.openxmlformats.org/drawingml/2006/main">
            <a:r>
              <a:t>- C:/Users/24739/Documents/Codex/2026-08-10/new-chat/CTO_virtual_drive_platform_v2_1/results/tables/stage4_5/stage5_per_segment_metrics.csv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【本页结论】已完成电路到FEM的数据字段和相量约定，声学结果仍明确为空。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月没有运行COMSOL，因此这里不展示声压云图，而是先定义可复现接口。平台从电学场景导出安全工作点、频率以及复端口电压，统一采用RMS和exp正jωt相量约定；预测电流仅作接口校核。EA_IF_V1.0目前包含基准和低中高组合4条记录，字段审计通过。相对声学效率、靶区声压代理和壁面声压代理全部标为NOT_AVAILABLE。接口PASS只表示字段、单位和内部关系一致，不表示已经得到声场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【看图顺序】按左到右数据流讲，读出相量约定，再强调两个NOT_AVAILABLE框。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【口径与限制】FEM输入最终还要与COMSOL/ANSYS中的电极边界、材料极化和谐波约定逐项对齐。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【教授可能追问】既然没有COMSOL，这一页的价值是什么？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【建议回答】先固定接口能避免后续电学量、峰值/RMS和相位符号混乱，并使声场团队可直接读取同一场景工作点。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【本页结论】文献用于证明研究问题合理，不用于伪造未测的器件参数。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文献部分只承担边界性论证：组织或负载的非均匀性、纤维化和钙化可能改变声传播和换能器负载状态；工程上可以把这种变化抽象成谐振频率、损耗和匹配条件的扰动，用于鲁棒性测试。但目前没有证据把某一种病变直接换算成C0增加多少或Rm增加多少。因此PPT把直接文献事实、工程建模假设和待验证关系分开，不做病变到BVD的一一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【看图顺序】按“文献支持—工程抽象—尚不能证明”三层讲。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【口径与限制】不要在口头汇报中说“钙化导致Rm增加50%”之类定量句子。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【教授可能追问】扰动幅度的医学依据是什么？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【建议回答】当前幅度是扫描变量，用于覆盖控制器压力测试范围，不是从病变分级直接换算。真实映射需负载实验和阻抗测量。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【模糊推测】病变或介质变化可能通过机电负载改变等效BVD参数；具体方向和幅度尚待实验。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C:/Users/24739/Documents/Codex/2026-08-10/new-chat/前视超声治疗.pdf</a:t>
            </a:r>
          </a:p>
          <a:p xmlns:a="http://schemas.openxmlformats.org/drawingml/2006/main">
            <a:r>
              <a:t>- C:/Users/24739/Documents/Codex/2026-08-10/new-chat/High intensity focused ultrasound  Physical principles and devices.pdf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【本页结论】本月完成可复现电学闭环；下一阶段用实测和多物理场验证外部有效性。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总结本月：已经完成v2.1匹配网络、Python与LTspice交叉验证，C0、Rm、fs、Rs、匹配参数、ESR、Lm和Cm扫描，低中高组合验证，三种选频准则、保护状态机、扫描辅助P&amp;O以及相位闭环消融，并建立电声接口。尚未证明的是假设参数代表实物、P_Rm等于声功率、准稳态时间等于硬件响应、反射代理等于实测反射功率，以及任何临床或治疗结论。下一阶段优先测阻抗并拟合BVD，再做电压电流功率标定、独立反射约束和结构声场网格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【看图顺序】左列完成项，中列未证明，右列下一步；最后重复结论边界。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【口径与限制】“闭环”指模型—数据—控制—审计闭环，不是临床闭环。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【教授可能追问】如果下个月只能做一件事，优先级是什么？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【建议回答】优先获得真实复阻抗曲线并拟合BVD，因为它决定匹配网络、扰动范围和控制器评价是否具有外部意义。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【本页结论】参数来源被强制分为文献参考、假设基线和扫描变量。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如果老师追问参数来源，我展示这张登记表。每一个电路数值都标注来源类别。v2.1的BVD和匹配值是为模型自洽而设的假设基线；扰动比例和控制阈值是扫描变量或假设控制参数；文献只用于说明建模框架和现象背景。没有实测来源的数值不会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【看图顺序】按来源类别列解释，不逐项念完整表格。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【口径与限制】“已登记”不等于“已验证”。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【教授可能追问】哪些参数最需要实测？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【建议回答】优先是复阻抗随频率曲线、源等效阻抗和允许电流；它们决定BVD拟合、匹配和保护阈值。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【本页结论】单因素用于归因，组合扰动用于压力测试；统一时间序列保证策略公平比较。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左侧是各单因素最高档，右侧是所有策略共同经历的绝对时间扰动序列。单因素扫描回答峰位、峰高和峰宽分别由谁主导；组合场景检验多参数同时失配时控制器能否恢复。右下角基线明确是匹配网络后端的换能器端口量：约7.071 kΩ、相位负15.916度、P_Rm约0.170 W、电流约5 mA RMS、端口约100 Vpp。它不是源侧Zin；源侧Zin见第6页。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【看图顺序】先左侧单因素，再右上统一序列，最后核对右下测点口径。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【口径与限制】组合扰动等级是人为压力测试组合，不代表临床低中高等级。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【教授可能追问】为什么组合扰动不能替代单因素？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【建议回答】组合只能说明系统失配，无法归因。先做单因素才能解释组合结果，并据此设计检测阈值和扫频范围。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【本页结论】三档组合场景均有真实LTspice批处理证据，最大Zin误差远低于5%。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低、中、高组合分别在2001个频点进行LTspice与Python对照，最大输入阻抗相对误差约0.01461%、0.00751%和0.00295%，均低于5%验收线。每档保留cir、raw、log和SHA-256。这里能够排除主要代码实现错误，但仍不能验证假设电路参数的真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【看图顺序】读三行误差和PASS，再指向运行证据行。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【口径与限制】误差百分数是数值实现一致性，不是模型预测误差。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【教授可能追问】有没有只展示图片、没有原始仿真的风险？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【建议回答】三档都保留LTspice的RAW和Log，并用哈希登记；PNG只是后处理展示。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C:/Users/24739/Documents/Codex/2026-08-10/new-chat/CTO_virtual_drive_platform_v2_1/results/tables/stage3_disturbance/stage3_LTspice_cross_validation.csv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【本页结论】特征点名称必须连同测点、目标函数和参考阻抗一起报告。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最大功率频率定义为受电压电流约束下P_Rm最大的频点；最小相位频率定义为匹配网络输入相位绝对值最小；最小反射频率定义为相对50欧姆参考阻抗的Gamma代理最小。三者数学目标不同，只有在特定场景中可能重合。因此后续报告不能笼统写“谐振频率”，而要说清是串联谐振、反谐振、相位零点、最小阻抗点还是安全功率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【看图顺序】逐行讲三个argmin/argmax定义，最后总结命名规范。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【口径与限制】反射代理基于简化50欧姆参考，不等于完整功放的实测反射。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【教授可能追问】项目最终以哪个频率作为控制目标？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【建议回答】正式控制目标是当前场景受约束的最大P_Rm频率；相位和反射主要用于状态监测、异常触发和对照。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【本页结论】相位控制目标是基准安全功率峰处的arg Zin，并用局部斜率决定频率更新方向。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【逐字讲稿】这里修正两个常见问题。第一，相位变量是匹配网络输入相位phi_in等于arg Zin，也就是arg(V_input/I_source)，不是换能器端口Vport/Iport。第二，目标不是零度，而是基准受约束最大功率点处的负1.0782度。更新量还乘局部dphi/df的符号，因为相位曲线在不同频段斜率可能不同。增益5 Hz每度较平稳；50和100 Hz每度各出现1个错误锁定段，即相位误差已小但P_Rm仍低于0.95P星。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【看图顺序】先读相位定义和测点，再看目标值，最后看增益消融与错误锁定提示。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【口径与限制】相位目标来自假设基线场景，负载大幅变化后未必仍对应最大功率。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【教授可能追问】为什么需要sign(dphi/df)？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【建议回答】同一相位误差在正斜率和负斜率区间需要相反的频率修正方向；不乘斜率符号可能把频率推离目标。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C:/Users/24739/Documents/Codex/2026-08-10/new-chat/CTO_virtual_drive_platform_v2_1/results/phase_ablation/phase_gain_sweep_summary.csv</a:t>
            </a:r>
          </a:p>
          <a:p xmlns:a="http://schemas.openxmlformats.org/drawingml/2006/main">
            <a:r>
              <a:t>- C:/Users/24739/Documents/Codex/2026-08-10/new-chat/CTO_virtual_drive_platform_v2_1/results/phase_ablation/phase_ablation_audit.json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【本页结论】按计划书口径补齐相位闭环，但当前K5结果弱于周期扫频。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【逐字讲稿】若按计划书原始三策略口径比较固定、周期扫频和相位闭环，固定策略稳态误差30.14%，周期扫频为0，相位K5为39.91%；三者峰值电流均为5.124 mA，实际硬越限为零。相位K5的惩罚恢复时间374.3 ms，但稳态误差较大，因此不能因为时间数字较短就认为更优。正式策略排名仍采用固定、周期扫频和扫描辅助P&amp;O；相位闭环是补充消融。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【看图顺序】先看误差列，再看恢复时间，最后强调正式排名与消融的区别。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【口径与限制】相位K5没有经过面向每个扰动的重新目标整定。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【教授可能追问】为何不把相位闭环作为第三种正式策略？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【建议回答】当前结果证明固定相位目标在峰位漂移场景可能错误锁定。直接以功率为目标的P&amp;O与项目目标更一致，所以相位闭环只作为机制对照。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【模糊推测】若使用在线相位目标重标定或联合功率判据，相位控制表现可能改善；当前尚未验证。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C:/Users/24739/Documents/Codex/2026-08-10/new-chat/CTO_virtual_drive_platform_v2_1/results/tables/stage4_5/plan_fixed_periodic_phase_integrated.csv</a:t>
            </a:r>
          </a:p>
          <a:p xmlns:a="http://schemas.openxmlformats.org/drawingml/2006/main">
            <a:r>
              <a:t>- C:/Users/24739/Documents/Codex/2026-08-10/new-chat/CTO_virtual_drive_platform_v2_1/results/audits/scan_vs_phase_scenario_comparison.csv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【本页结论】可复现证据以网表、RAW、Log和哈希为主，GUI截图是辅助审计材料。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【逐字讲稿】真实运行痕迹分四层：cir或net记录电路与扫描命令；raw保存仿真数值；log或Error Log证明求解器完成；SHA-256证明交付文件未被替换。LTspice GUI截图用于汇报时直观展示软件版本、打开的网表、波形窗口和Error Log，但不能替代RAW和脚本。当前批处理证据已经保存；若需要带软件界面的截图，需要在本机LTspice中打开对应cir和raw后人工截取。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【看图顺序】按证据等级从原始文件到GUI截图讲。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【口径与限制】Python重绘的PNG不能声称是LTspice GUI截图。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【教授可能追问】如何证明不是虚构曲线？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【建议回答】提交可运行网表、原始RAW、Log、解析脚本、逐点误差表和文件哈希，并现场任选场景复跑。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【本页结论】所有策略使用同一安全功率参考、稳态窗口和恢复判据。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P星定义为每个扰动场景高分辨率离线扫频得到的安全最大P_Rm。稳态误差取该段最后25%且状态为NORMAL的样本平均；恢复要求P_Rm达到0.98P星并连续保持10个NORMAL样本。过冲按相对P星的正偏差计算；频率饱和统计控制频率是否触及0.8或1.0 MHz；错误相位锁定定义为相位误差已达标但功率低于0.95P星。这些口径写入代码和表格，避免策略间更换评价标准。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【看图顺序】先定义P星，再讲稳态误差和恢复，最后讲饱和与错误锁定。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【口径与限制】98%、10样本和尾段25%都是【假设验收阈值】，不是行业标准。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【教授可能追问】未收敛段如何计入平均恢复时间？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【建议回答】采用预先定义的惩罚恢复时间，并同时单列未收敛段数量，避免丢弃失败段后人为美化平均值。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C:/Users/24739/Documents/Codex/2026-08-10/new-chat/CTO_virtual_drive_platform_v2_1/results/tables/stage4_5/stage4_5_audit.json</a:t>
            </a:r>
          </a:p>
          <a:p xmlns:a="http://schemas.openxmlformats.org/drawingml/2006/main">
            <a:r>
              <a:t>- C:/Users/24739/Documents/Codex/2026-08-10/new-chat/CTO_virtual_drive_platform_v2_1/results/tables/stage4_5/stage5_integrated_strategy_table.csv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【本页结论】平台采用配置—脚本—数据—图片—审计的单向复现链。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所有任务从统一config.yaml读取假设参数和扫描设置，通过run_all.py调用各阶段脚本，输出独立CSV、JSON、PNG和LTspice证据。README说明运行方法，哈希清单登记关键文件。网页只是读取这些结果进行交互展示，不改变正式基准数据；改变侧栏变量时产生的是临时交互场景，不能冒充已登记的正式扫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【看图顺序】按流程框从配置到审计讲，最后解释网页与正式结果的关系。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【口径与限制】若修改配置或代码，必须重新运行并更新审计与哈希，不能只替换图片。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【教授可能追问】网页滑块是否会自动改变正式图？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【建议回答】交互页面的即时曲线会随当前变量变化；正式单因素图和汇总表来自已登记场景，只有重新运行流程才更新。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C:/Users/24739/Documents/Codex/2026-08-10/new-chat/CTO_virtual_drive_platform_v2_1/run_all.py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【本页结论】ANSYS/COMSOL部分尚未完成，不能用示意图代替真实求解结果。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结构声场部分当前只能给出需要建立和留痕的清单：软件版本与许可证、完整模型树、几何尺寸、压电材料矩阵与极化方向、电极和机械边界、耦合面与PML、粗中细三档网格、模态列表和关键模态、端口阻抗或导纳、位移幅相、声压云图与轴向曲线、网格收敛表以及Solver Log正常结束页面。只有这些内容真实运行后，才能把电学接口工作点代入并讨论相对声学效率。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【看图顺序】按建模、网格、求解、结果、收敛和日志六类快速讲。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【口径与限制】本页不包含任何真实ANSYS/COMSOL结果；汇报时不得说“已完成声场验证”。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【教授可能追问】为什么没有声压图？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【建议回答】当前没有可信的几何、材料矩阵和边界条件，也没有完成求解。先保留接口和验收清单，比放置不可追溯的示意云图更严谨。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【模糊推测】后续声场峰值可能与电学P_Rm峰不完全重合；必须由耦合模型或查找表验证。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d0454b734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72595c693c4fa6" /><Relationship Type="http://schemas.openxmlformats.org/officeDocument/2006/relationships/slideLayout" Target="/ppt/slideLayouts/slideLayout1.xml" Id="R4266a059661e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66a059661e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632d5f52f4d9f" /><Relationship Type="http://schemas.openxmlformats.org/officeDocument/2006/relationships/notesSlide" Target="/ppt/notesSlides/notesSlide1.xml" Id="R9e44fe64574d42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cb7f62ed34b11" /><Relationship Type="http://schemas.openxmlformats.org/officeDocument/2006/relationships/notesSlide" Target="/ppt/notesSlides/notesSlide2.xml" Id="R2ede5f7b52d946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b334240ea4433" /><Relationship Type="http://schemas.openxmlformats.org/officeDocument/2006/relationships/notesSlide" Target="/ppt/notesSlides/notesSlide3.xml" Id="R951d3d111d564f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be7cd3a4f4e7f" /><Relationship Type="http://schemas.openxmlformats.org/officeDocument/2006/relationships/image" Target="/ppt/media/image.png" Id="R78f9f6b45183482f" /><Relationship Type="http://schemas.openxmlformats.org/officeDocument/2006/relationships/notesSlide" Target="/ppt/notesSlides/notesSlide4.xml" Id="R8275c25e99924769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ced8bd07f57431d"/><Relationship Type="http://schemas.openxmlformats.org/officeDocument/2006/relationships/image" Target="/ppt/media/slide5_matching_calibrated_20260906.png" Id="Rcd4612bbf60b4e24"/><Relationship Type="http://schemas.openxmlformats.org/officeDocument/2006/relationships/notesSlide" Target="/ppt/notesSlides/notesSlide5.xml" Id="R8c105034bce94632"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c052ae4904e99" /><Relationship Type="http://schemas.openxmlformats.org/officeDocument/2006/relationships/chart" Target="/ppt/slides/charts/chart1.xml" Id="R0464bafa50824069" /><Relationship Type="http://schemas.openxmlformats.org/officeDocument/2006/relationships/chart" Target="/ppt/slides/charts/chart2.xml" Id="Rc1e0d680eada4858" /><Relationship Type="http://schemas.openxmlformats.org/officeDocument/2006/relationships/notesSlide" Target="/ppt/notesSlides/notesSlide6.xml" Id="Rd308c3a1553143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1290118524772" /><Relationship Type="http://schemas.openxmlformats.org/officeDocument/2006/relationships/notesSlide" Target="/ppt/notesSlides/notesSlide7.xml" Id="R062f18557e1448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3d1cedcbd4560" /><Relationship Type="http://schemas.openxmlformats.org/officeDocument/2006/relationships/image" Target="/ppt/media/image3.png" Id="Rde12c6c1ec4a42df" /><Relationship Type="http://schemas.openxmlformats.org/officeDocument/2006/relationships/notesSlide" Target="/ppt/notesSlides/notesSlide8.xml" Id="R46c0d411d2234e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4fa8932de4401" /><Relationship Type="http://schemas.openxmlformats.org/officeDocument/2006/relationships/image" Target="/ppt/media/image4.png" Id="Rafc17696c0fa49cf" /><Relationship Type="http://schemas.openxmlformats.org/officeDocument/2006/relationships/notesSlide" Target="/ppt/notesSlides/notesSlide9.xml" Id="R4319c67b3ba640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c5e577d914159" /><Relationship Type="http://schemas.openxmlformats.org/officeDocument/2006/relationships/image" Target="/ppt/media/image5.png" Id="R27198f3e0d85478a" /><Relationship Type="http://schemas.openxmlformats.org/officeDocument/2006/relationships/image" Target="/ppt/media/image6.png" Id="Rdc96cacee07f49cd" /><Relationship Type="http://schemas.openxmlformats.org/officeDocument/2006/relationships/notesSlide" Target="/ppt/notesSlides/notesSlide10.xml" Id="R95ed9914106a4f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8e450ba964c92" /><Relationship Type="http://schemas.openxmlformats.org/officeDocument/2006/relationships/image" Target="/ppt/media/image7.png" Id="R61f7dab5720348c1" /><Relationship Type="http://schemas.openxmlformats.org/officeDocument/2006/relationships/notesSlide" Target="/ppt/notesSlides/notesSlide11.xml" Id="R510285bf970449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e4a8f66cd4f1b" /><Relationship Type="http://schemas.openxmlformats.org/officeDocument/2006/relationships/image" Target="/ppt/media/image8.png" Id="Rac1be6b81572415f" /><Relationship Type="http://schemas.openxmlformats.org/officeDocument/2006/relationships/notesSlide" Target="/ppt/notesSlides/notesSlide12.xml" Id="R4953cc2ad78d45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1f9e674164ddb" /><Relationship Type="http://schemas.openxmlformats.org/officeDocument/2006/relationships/notesSlide" Target="/ppt/notesSlides/notesSlide13.xml" Id="Rd6dfe99621e94d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63b50fb1448fb" /><Relationship Type="http://schemas.openxmlformats.org/officeDocument/2006/relationships/image" Target="/ppt/media/image9.png" Id="R5467ee2e553a41cd" /><Relationship Type="http://schemas.openxmlformats.org/officeDocument/2006/relationships/notesSlide" Target="/ppt/notesSlides/notesSlide14.xml" Id="R58eb8d6825fe4f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b3de9161e4498" /><Relationship Type="http://schemas.openxmlformats.org/officeDocument/2006/relationships/chart" Target="/ppt/slides/charts/chart3.xml" Id="Rafe4dd6489d649c6" /><Relationship Type="http://schemas.openxmlformats.org/officeDocument/2006/relationships/notesSlide" Target="/ppt/notesSlides/notesSlide15.xml" Id="R68e6971b4ea545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8620ecbe845be" /><Relationship Type="http://schemas.openxmlformats.org/officeDocument/2006/relationships/notesSlide" Target="/ppt/notesSlides/notesSlide16.xml" Id="R0493c756a6274b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9031915f74625" /><Relationship Type="http://schemas.openxmlformats.org/officeDocument/2006/relationships/notesSlide" Target="/ppt/notesSlides/notesSlide17.xml" Id="R726d3f45263645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587fb92cd434d" /><Relationship Type="http://schemas.openxmlformats.org/officeDocument/2006/relationships/notesSlide" Target="/ppt/notesSlides/notesSlide18.xml" Id="Rc24cfd5ca37840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aeca83e6b4a56" /><Relationship Type="http://schemas.openxmlformats.org/officeDocument/2006/relationships/notesSlide" Target="/ppt/notesSlides/notesSlide19.xml" Id="Rb2ee00308d024e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27f2f2d854259" /><Relationship Type="http://schemas.openxmlformats.org/officeDocument/2006/relationships/notesSlide" Target="/ppt/notesSlides/notesSlide20.xml" Id="Ra3b393f22cd044b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c1dbd5cdb4710" /><Relationship Type="http://schemas.openxmlformats.org/officeDocument/2006/relationships/notesSlide" Target="/ppt/notesSlides/notesSlide21.xml" Id="R6f429c256cbb48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62802be2c4bf1" /><Relationship Type="http://schemas.openxmlformats.org/officeDocument/2006/relationships/notesSlide" Target="/ppt/notesSlides/notesSlide22.xml" Id="Rc76d007a844a42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fffe8ea9c4725" /><Relationship Type="http://schemas.openxmlformats.org/officeDocument/2006/relationships/image" Target="/ppt/media/image10.png" Id="R1caa0a40f5724133" /><Relationship Type="http://schemas.openxmlformats.org/officeDocument/2006/relationships/notesSlide" Target="/ppt/notesSlides/notesSlide23.xml" Id="Rf50af836efd8451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afdd5996d4199" /><Relationship Type="http://schemas.openxmlformats.org/officeDocument/2006/relationships/chart" Target="/ppt/slides/charts/chart4.xml" Id="R6ec9247bc4034503" /><Relationship Type="http://schemas.openxmlformats.org/officeDocument/2006/relationships/notesSlide" Target="/ppt/notesSlides/notesSlide24.xml" Id="Rdb76e7fb401441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f51af77454199" /><Relationship Type="http://schemas.openxmlformats.org/officeDocument/2006/relationships/image" Target="/ppt/media/image11.png" Id="R5857e527067a48fa" /><Relationship Type="http://schemas.openxmlformats.org/officeDocument/2006/relationships/image" Target="/ppt/media/image12.png" Id="R6fa74de763d34b7f" /><Relationship Type="http://schemas.openxmlformats.org/officeDocument/2006/relationships/notesSlide" Target="/ppt/notesSlides/notesSlide25.xml" Id="Rda6ac9d7409a42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e45f76763499e" /><Relationship Type="http://schemas.openxmlformats.org/officeDocument/2006/relationships/notesSlide" Target="/ppt/notesSlides/notesSlide26.xml" Id="R2e06254c887747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88b0d9e0b4949" /><Relationship Type="http://schemas.openxmlformats.org/officeDocument/2006/relationships/notesSlide" Target="/ppt/notesSlides/notesSlide27.xml" Id="R970e1becb5154e0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6a271cbd748fc" /><Relationship Type="http://schemas.openxmlformats.org/officeDocument/2006/relationships/notesSlide" Target="/ppt/notesSlides/notesSlide28.xml" Id="R5d9671b037904fc8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扫描辅助P&amp;O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458.9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9f6b45183482f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同一源条件下，L型匹配使0.9 MHz的有功功率达到约32.8倍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1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612bbf60b4e24"/>
          <a:stretch xmlns:a="http://schemas.openxmlformats.org/drawingml/2006/main"/>
        </p:blipFill>
        <p:spPr>
          <a:xfrm xmlns:a="http://schemas.openxmlformats.org/drawingml/2006/main">
            <a:off x="685800" y="1476375"/>
            <a:ext cx="7029450" cy="4709732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33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14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 xmlns:a="http://schemas.openxmlformats.org/drawingml/2006/main"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 xmlns:a="http://schemas.openxmlformats.org/drawingml/2006/main"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43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64bafa50824069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e0d680eada4858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2c6c1ec4a42df"/>
          <a:stretch xmlns:a="http://schemas.openxmlformats.org/drawingml/2006/main"/>
        </p:blipFill>
        <p:spPr>
          <a:xfrm xmlns:a="http://schemas.openxmlformats.org/drawingml/2006/main">
            <a:off x="897550" y="1066800"/>
            <a:ext cx="6682149" cy="5219700"/>
          </a:xfrm>
          <a:prstGeom xmlns:a="http://schemas.openxmlformats.org/drawingml/2006/main" prst="rect">
            <a:avLst/>
          </a:prstGeom>
        </p:spPr>
      </p:pic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086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17696c0fa49cf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98f3e0d85478a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6cacee07f49cd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6084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最大功率点 ≈ 最小反射点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</a:t>
            </a:r>
            <a:r>
              <a:rPr sz="1500" b="1">
                <a:solidFill>
                  <a:srgbClr val="17324D"/>
                </a:solidFill>
              </a:rPr>
              <a:t>kHz步长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</a:t>
            </a:r>
            <a:r>
              <a:rPr sz="1500" b="1">
                <a:solidFill>
                  <a:srgbClr val="17324D"/>
                </a:solidFill>
              </a:rPr>
              <a:t>2</a:t>
            </a:r>
            <a:r>
              <a:rPr sz="1500" b="1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7dab5720348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be6b81572415f"/>
          <a:srcRect xmlns:a="http://schemas.openxmlformats.org/drawingml/2006/main" l="0" t="11987" r="0" b="11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52700" y="1181100"/>
            <a:ext cx="8858250" cy="4905375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960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控制已从“找峰值”升级为带频率、幅度与保护约束的问题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保存结果审计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1795条控制时序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峰值Vpp = 130 V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峰值电流 = 5.124 mA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实际硬越限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反射代理仅参与检测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没有独立反射硬限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没有壁面声压代理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不是硬件安全验证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当前是带约束的电学准稳态控制，不是无约束离线argmax，也不是完整功放或声场控制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峰值由0.9000 MHz移至0.8548 MHz，自适应策略成功定位新峰值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定位结果与验收边界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基准峰值  0.9000 MHz｜170.0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fs−5%峰值  0.8548 MHz｜140.2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峰位变化  −45.2 kHz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73B7"/>
                </a:solidFill>
              </a:defRPr>
            </a:pPr>
            <a:r>
              <a:rPr sz="1425" b="1">
                <a:solidFill>
                  <a:srgbClr val="2F73B7"/>
                </a:solidFill>
              </a:rPr>
              <a:t>周期扫频：通过稳态验收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稳定锁定0.8548 MHz；捕获率100%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约96.5 ms满足连续10样本判据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4444"/>
                </a:solidFill>
              </a:defRPr>
            </a:pPr>
            <a:r>
              <a:rPr sz="1350" b="1">
                <a:solidFill>
                  <a:srgbClr val="C84444"/>
                </a:solidFill>
              </a:rPr>
              <a:t>P&amp;O：到达峰位但未通过验收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14825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到达0.8548 MHz、捕获率100%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但周期性参考/试探使其未满足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连续10个控制样本保持窗口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ηP＝P当前 / P安全最大,当前场景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100%表示找到该场景自身安全峰值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不等于恢复基准绝对功率170.0 mW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7ee2e553a41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" y="1047750"/>
            <a:ext cx="7347857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恢复时间（惩罚）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458.9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e4dd6489d649c6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0%表示尾段达到各场景自身安全功率参考；恢复时间含未收敛惩罚。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固定策略时间较短不表示更优：其平均稳态误差仍为30.14%。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电学与带约束控制已闭环，剩余缺口是实测和结构声场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本月已完成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v2.1匹配网络与双线验证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C0/Rm/fs/Rs/匹配/ESR/Lm/Cm扫描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低/中/高组合LTspice验证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选频、保护、P&amp;O与相位消融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电—声接口EA_IF_V1.0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仍未证明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假设参数代表实物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反射代理等于实测反射功率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任何治疗或临床安全结论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电压/电流/功率标定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设定独立反射约束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运行结构声场与网格收敛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水听器声场验证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23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a0a40f5724133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φin = arg(Zin) = arg(Vinput / Isource)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备份：相位闭环仅作计划书补充消融，不替代P&amp;O排名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24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惩罚恢复时间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峰值电流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实际硬越限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相位K5消融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39.91%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374.3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c9247bc4034503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正式排名第三策略仍为扫描辅助P&amp;O；相位K5不替代P&amp;O结论。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在fs漂移与高组合场景中，相位目标可能对应较低功率工作点。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7e527067a48fa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74de763d34b7f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2026-09-04T14:36:59.7870000Z</dcterms:created>
  <dcterms:modified xsi:type="dcterms:W3CDTF">2026-09-04T14:36:59.7870000Z</dcterms:modified>
</coreProperties>
</file>