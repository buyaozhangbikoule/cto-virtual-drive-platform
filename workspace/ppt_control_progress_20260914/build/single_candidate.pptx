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d499bc7a940c1" /><Relationship Type="http://schemas.openxmlformats.org/officeDocument/2006/relationships/extended-properties" Target="/docProps/app.xml" Id="Rba37ae9c50da486e" /><Relationship Type="http://schemas.openxmlformats.org/officeDocument/2006/relationships/officeDocument" Target="/ppt/presentation.xml" Id="R42183bdc276f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c70733aa442b6"/>
  </p:sldMasterIdLst>
  <p:notesMasterIdLst>
    <p:notesMasterId xmlns:r="http://schemas.openxmlformats.org/officeDocument/2006/relationships" r:id="R2cef15b8ca504085"/>
  </p:notesMasterIdLst>
  <p:sldIdLst>
    <p:sldId xmlns:r="http://schemas.openxmlformats.org/officeDocument/2006/relationships" id="256" r:id="Ra9e8cd0bf8d84a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fdd3927214695" /><Relationship Type="http://schemas.openxmlformats.org/officeDocument/2006/relationships/slideMaster" Target="/ppt/slideMasters/slideMaster1.xml" Id="R883c70733aa442b6" /><Relationship Type="http://schemas.openxmlformats.org/officeDocument/2006/relationships/notesMaster" Target="/ppt/notesMasters/notesMaster1.xml" Id="R2cef15b8ca504085" /><Relationship Type="http://schemas.openxmlformats.org/officeDocument/2006/relationships/presProps" Target="/ppt/presProps.xml" Id="R5abe141cf1094bc2" /><Relationship Type="http://schemas.openxmlformats.org/officeDocument/2006/relationships/tableStyles" Target="/ppt/tableStyles.xml" Id="Rb2ef6724eb7b4541" /><Relationship Type="http://schemas.openxmlformats.org/officeDocument/2006/relationships/slide" Target="/ppt/slides/slide1.xml" Id="Ra9e8cd0bf8d8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0906b0f9747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dec3ceb62d4b81" /><Relationship Type="http://schemas.openxmlformats.org/officeDocument/2006/relationships/notesMaster" Target="/ppt/notesMasters/notesMaster1.xml" Id="Rf3eac8e6f863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第15页：三种控制原型已实现：调频依据不同，扰动响应也不同</a:t>
            </a:r>
          </a:p>
          <a:p xmlns:a="http://schemas.openxmlformats.org/drawingml/2006/main">
            <a:r>
              <a:t>【建议时长】约2–3分钟，可按现场时间只讲上方方法与下方结论</a:t>
            </a:r>
          </a:p>
          <a:p xmlns:a="http://schemas.openxmlformats.org/drawingml/2006/main">
            <a:r>
              <a:t>【逐字讲稿】</a:t>
            </a:r>
          </a:p>
          <a:p xmlns:a="http://schemas.openxmlformats.org/drawingml/2006/main">
            <a:r>
              <a:t>这一页展示我们已经做出的控制方法和阶段性仿真结果。上方三列分别是计划书要求的固定频率、周期扫频和相位误差闭环。</a:t>
            </a:r>
          </a:p>
          <a:p xmlns:a="http://schemas.openxmlformats.org/drawingml/2006/main">
            <a:r>
              <a:t>固定频率正常保持0.9 MHz，不主动寻峰，但共同保护可以降幅或停机。周期扫频逐点比较功率，找到候选频率后交给控制器使用。相位方法使用匹配网络输入相位的误差，并结合局部斜率的正负决定调频方向；它的目标相位取自基准安全功率峰，不预设为零度。</a:t>
            </a:r>
          </a:p>
          <a:p xmlns:a="http://schemas.openxmlformats.org/drawingml/2006/main">
            <a:r>
              <a:t>先看左侧。灰色和蓝色来自同一历史主时序，分别是固定频率和周期扫频，图中保留了扫描点与保护过程。2.4秒开始fs减5%的扰动。灰线仍停在0.9 MHz，功率降得很低。蓝线经历扫描和恢复渐升，在2.977秒的控制记录中采用0.8548 MHz，尾段功率约140.2 mW。但本段结束前只有6个连续合格样本，未达到原定10个样本的稳态验收要求。所以这里能说重新定位了峰位，不能说已经通过稳态验收。</a:t>
            </a:r>
          </a:p>
          <a:p xmlns:a="http://schemas.openxmlformats.org/drawingml/2006/main">
            <a:r>
              <a:t>再看右侧。这是另外一次历史相位试验，增益5 Hz/度，目标为输入相位负1.0782度。该扰动段的相位误差约41.1度，功率仍然很低。更重要的是，原始记录显示整个fs减5%段都处于频率冻结状态，调频更新为零，因此这张图反映的是相位控制与保护逻辑组合后的响应，不能简单归因于增益小或相位算法本身失败。</a:t>
            </a:r>
          </a:p>
          <a:p xmlns:a="http://schemas.openxmlformats.org/drawingml/2006/main">
            <a:r>
              <a:t>两部分的来源和统计口径尚未统一，本页只展示实现和现象，不进行性能排名。我们还做了扫描辅助P&amp;O，作为第四种扩展方法保留在后续页面，不用它替代计划书中的相位闭环。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【看图顺序】上方从左到右介绍方法；下方先左框的频率再功率，接着右框的相位误差再功率。无需额外切换截图。</a:t>
            </a:r>
          </a:p>
          <a:p xmlns:a="http://schemas.openxmlformats.org/drawingml/2006/main">
            <a:r>
              <a:t>【图文口径】</a:t>
            </a:r>
          </a:p>
          <a:p xmlns:a="http://schemas.openxmlformats.org/drawingml/2006/main">
            <a:r>
              <a:t>1. 左图：已有Python离散准稳态主时序，SHA256前10位a734eca013；没有新增仿真。右图：独立历史相位试验，目标与增益来自其自身审计文件。</a:t>
            </a:r>
          </a:p>
          <a:p xmlns:a="http://schemas.openxmlformats.org/drawingml/2006/main">
            <a:r>
              <a:t>2. 左右横轴均展示2.2–3.2 s，但是不是同一次运行，禁止将其当作统一对照实验排名。2.2–2.4 s是之前的Rm+50%段，不是基准段。</a:t>
            </a:r>
          </a:p>
          <a:p xmlns:a="http://schemas.openxmlformats.org/drawingml/2006/main">
            <a:r>
              <a:t>3. 纵轴P_Rm是等效机械支路电阻中的电学有功耗散，不是实测功率或声功率。140.2 mW是当前fs−5%场景峰值，不等于恢复基准170 mW。</a:t>
            </a:r>
          </a:p>
          <a:p xmlns:a="http://schemas.openxmlformats.org/drawingml/2006/main">
            <a:r>
              <a:t>4. 相位定义是arg(Zin)，不是换能器端口相位。误差e=目标相位−当前输入相位；正常且未冻结时Δf=clip[Kφ e sign(dφ/df),−500,+500] Hz，频率限制0.8–1.0 MHz。</a:t>
            </a:r>
          </a:p>
          <a:p xmlns:a="http://schemas.openxmlformats.org/drawingml/2006/main">
            <a:r>
              <a:t>5. 局部斜率采用模型±100 Hz探针，其探测耗时未计入这次历史相位试验。不能把它描述为已实现硬件相位测量或统一扫描时间预算。</a:t>
            </a:r>
          </a:p>
          <a:p xmlns:a="http://schemas.openxmlformats.org/drawingml/2006/main">
            <a:r>
              <a:t>6. 右图的相位是模型计算值，停机零幅度期间也能由模型给出，不表示真实系统在零电压、零电流时仍能测得相位。</a:t>
            </a:r>
          </a:p>
          <a:p xmlns:a="http://schemas.openxmlformats.org/drawingml/2006/main">
            <a:r>
              <a:t>7. 本图只有Kφ=5的历史数据，不证明“相位误差很小但功率低”。其他增益的结论应回到对应增益统计与证据页。</a:t>
            </a:r>
          </a:p>
          <a:p xmlns:a="http://schemas.openxmlformats.org/drawingml/2006/main">
            <a:r>
              <a:t>8. 本页不更改98%门槛、10样本窗口、扰动持续时间或电压/电流限值。固定/扫频/P&amp;O其他页及其历史来源保持不变。</a:t>
            </a:r>
          </a:p>
          <a:p xmlns:a="http://schemas.openxmlformats.org/drawingml/2006/main">
            <a:r>
              <a:t>【模糊推测】本页不加入未经运行验证的效果预测。保护与相位调频衔接如何改进属于后续待验证设计。</a:t>
            </a:r>
          </a:p>
          <a:p xmlns:a="http://schemas.openxmlformats.org/drawingml/2006/main">
            <a:r>
              <a:t>【可能追问】相位方法为什么没恢复？答：本次fs−5%段每个样本的frequency_frozen均为1、frequency_update_Hz均为0。应先分析保护放行条件，再开展统一时序试验，当前不能仅从这张图判定相位控制本身优劣。</a:t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>SHA256: a734eca013d415f7a875c2785068745cd80ad811d7284e893bbcd1e974c5f0a0</a:t>
            </a:r>
          </a:p>
          <a:p xmlns:a="http://schemas.openxmlformats.org/drawingml/2006/main">
            <a:r>
              <a:t>C:/Users/24739/Documents/Codex/2026-08-10/new-chat/CTO_virtual_drive_platform_v2_1/results/phase_ablation/phase_timeline_selected_gain.csv</a:t>
            </a:r>
          </a:p>
          <a:p xmlns:a="http://schemas.openxmlformats.org/drawingml/2006/main">
            <a:r>
              <a:t>SHA256: b170bc930dfbdcd07a58b9f3b2d37f7121f9cd9d3cd0239ebe8034ec079f8085</a:t>
            </a:r>
          </a:p>
          <a:p xmlns:a="http://schemas.openxmlformats.org/drawingml/2006/main">
            <a:r>
              <a:t>C:/Users/24739/Documents/Codex/2026-08-10/new-chat/CTO_virtual_drive_platform_v2_1/results/phase_ablation/phase_ablation_audit.json</a:t>
            </a:r>
          </a:p>
          <a:p xmlns:a="http://schemas.openxmlformats.org/drawingml/2006/main">
            <a:r>
              <a:t>SHA256: b07dba8aa30050d0ee31717a58c6ba6a00a479ce57ecf8efa8812e32f4e45672</a:t>
            </a:r>
          </a:p>
          <a:p xmlns:a="http://schemas.openxmlformats.org/drawingml/2006/main">
            <a:r>
              <a:t>C:/Users/24739/Documents/Codex/2026-08-10/new-chat/outputs/v2_self_consistent_rebuild/active_stage3_5/run_phase_ablation.py</a:t>
            </a:r>
          </a:p>
          <a:p xmlns:a="http://schemas.openxmlformats.org/drawingml/2006/main">
            <a:r>
              <a:t>SHA256: 0321c41a874d02ba296088ef2226316d956db4732b5665606b9eb02b32a71bd7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ecda1a2a5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ab278fe6b445d" /><Relationship Type="http://schemas.openxmlformats.org/officeDocument/2006/relationships/slideLayout" Target="/ppt/slideLayouts/slideLayout1.xml" Id="Re31abbc3d642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abbc3d642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88500e914a58" /><Relationship Type="http://schemas.openxmlformats.org/officeDocument/2006/relationships/image" Target="/ppt/media/image.png" Id="R970106077e974d54" /><Relationship Type="http://schemas.openxmlformats.org/officeDocument/2006/relationships/image" Target="/ppt/media/image2.png" Id="Re7a6ec91e2dd4f36" /><Relationship Type="http://schemas.openxmlformats.org/officeDocument/2006/relationships/notesSlide" Target="/ppt/notesSlides/notesSlide1.xml" Id="Rd737229bb82c4b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15">
            <a:extLst xmlns:a="http://schemas.openxmlformats.org/drawingml/2006/main">
              <a:ext uri="{FF2B5EF4-FFF2-40B4-BE49-F238E27FC236}">
                <a16:creationId xmlns:a16="http://schemas.microsoft.com/office/drawing/2014/main" id="{54317365-DA1B-4811-AD38-D9C11BC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三种控制原型已实现：调频依据不同，扰动响应也不同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DF74A0-A78D-4C1A-865D-89E6CDF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fixed-method-title">
            <a:extLst xmlns:a="http://schemas.openxmlformats.org/drawingml/2006/main">
              <a:ext uri="{FF2B5EF4-FFF2-40B4-BE49-F238E27FC236}">
                <a16:creationId xmlns:a16="http://schemas.microsoft.com/office/drawing/2014/main" id="{990D5603-0CC9-4ABE-A5A0-E9B9760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固定频率＋共同保护</a:t>
            </a:r>
          </a:p>
        </p:txBody>
      </p:sp>
      <p:sp>
        <p:nvSpPr>
          <p:cNvPr id="4" name="fixed-method">
            <a:extLst xmlns:a="http://schemas.openxmlformats.org/drawingml/2006/main">
              <a:ext uri="{FF2B5EF4-FFF2-40B4-BE49-F238E27FC236}">
                <a16:creationId xmlns:a16="http://schemas.microsoft.com/office/drawing/2014/main" id="{28499560-3868-48A5-B893-876FB43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正常保持0.9 MHz，不主动寻峰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保护可降幅或停机</a:t>
            </a:r>
          </a:p>
        </p:txBody>
      </p:sp>
      <p:sp>
        <p:nvSpPr>
          <p:cNvPr id="5" name="fixed-purpose">
            <a:extLst xmlns:a="http://schemas.openxmlformats.org/drawingml/2006/main">
              <a:ext uri="{FF2B5EF4-FFF2-40B4-BE49-F238E27FC236}">
                <a16:creationId xmlns:a16="http://schemas.microsoft.com/office/drawing/2014/main" id="{89A63BC9-560A-4CF5-971D-E41D53D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用途：建立扰动响应基线</a:t>
            </a:r>
          </a:p>
        </p:txBody>
      </p:sp>
      <p:sp>
        <p:nvSpPr>
          <p:cNvPr id="6" name="scan-method-title">
            <a:extLst xmlns:a="http://schemas.openxmlformats.org/drawingml/2006/main">
              <a:ext uri="{FF2B5EF4-FFF2-40B4-BE49-F238E27FC236}">
                <a16:creationId xmlns:a16="http://schemas.microsoft.com/office/drawing/2014/main" id="{D3169B09-4201-415F-8C8A-F159368D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周期扫频＋共同保护</a:t>
            </a:r>
          </a:p>
        </p:txBody>
      </p:sp>
      <p:sp>
        <p:nvSpPr>
          <p:cNvPr id="7" name="scan-method">
            <a:extLst xmlns:a="http://schemas.openxmlformats.org/drawingml/2006/main">
              <a:ext uri="{FF2B5EF4-FFF2-40B4-BE49-F238E27FC236}">
                <a16:creationId xmlns:a16="http://schemas.microsoft.com/office/drawing/2014/main" id="{4449D8D7-9032-47AD-8139-7DC0835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逐点比较功率，选择候选峰位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恢复幅度后继续监测</a:t>
            </a:r>
          </a:p>
        </p:txBody>
      </p:sp>
      <p:sp>
        <p:nvSpPr>
          <p:cNvPr id="8" name="scan-purpose">
            <a:extLst xmlns:a="http://schemas.openxmlformats.org/drawingml/2006/main">
              <a:ext uri="{FF2B5EF4-FFF2-40B4-BE49-F238E27FC236}">
                <a16:creationId xmlns:a16="http://schemas.microsoft.com/office/drawing/2014/main" id="{3AF0221A-BC77-4DED-B83C-384EEC9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用途：验证重新定位功率峰</a:t>
            </a:r>
          </a:p>
        </p:txBody>
      </p:sp>
      <p:sp>
        <p:nvSpPr>
          <p:cNvPr id="9" name="phase-method-title">
            <a:extLst xmlns:a="http://schemas.openxmlformats.org/drawingml/2006/main">
              <a:ext uri="{FF2B5EF4-FFF2-40B4-BE49-F238E27FC236}">
                <a16:creationId xmlns:a16="http://schemas.microsoft.com/office/drawing/2014/main" id="{AA044AF8-59D9-4FF1-BBF3-2EA4D2B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33475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相位误差闭环</a:t>
            </a:r>
          </a:p>
        </p:txBody>
      </p:sp>
      <p:sp>
        <p:nvSpPr>
          <p:cNvPr id="10" name="phase-method">
            <a:extLst xmlns:a="http://schemas.openxmlformats.org/drawingml/2006/main">
              <a:ext uri="{FF2B5EF4-FFF2-40B4-BE49-F238E27FC236}">
                <a16:creationId xmlns:a16="http://schemas.microsoft.com/office/drawing/2014/main" id="{D3F3387E-9EC0-428A-A38F-5980789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95425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按输入相位误差及局部斜率调频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保护冻结时暂停频率更新</a:t>
            </a:r>
          </a:p>
        </p:txBody>
      </p:sp>
      <p:sp>
        <p:nvSpPr>
          <p:cNvPr id="11" name="phase-purpose">
            <a:extLst xmlns:a="http://schemas.openxmlformats.org/drawingml/2006/main">
              <a:ext uri="{FF2B5EF4-FFF2-40B4-BE49-F238E27FC236}">
                <a16:creationId xmlns:a16="http://schemas.microsoft.com/office/drawing/2014/main" id="{04FC04B7-9600-4F65-8DDC-8FB3743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50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用途：检验基准相位目标适用性</a:t>
            </a:r>
          </a:p>
        </p:txBody>
      </p:sp>
      <p:sp>
        <p:nvSpPr>
          <p:cNvPr id="12" name="method-separator-1">
            <a:extLst xmlns:a="http://schemas.openxmlformats.org/drawingml/2006/main">
              <a:ext uri="{FF2B5EF4-FFF2-40B4-BE49-F238E27FC236}">
                <a16:creationId xmlns:a16="http://schemas.microsoft.com/office/drawing/2014/main" id="{12421ADC-913C-454B-BB8C-83080E2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3" name="method-separator-2">
            <a:extLst xmlns:a="http://schemas.openxmlformats.org/drawingml/2006/main">
              <a:ext uri="{FF2B5EF4-FFF2-40B4-BE49-F238E27FC236}">
                <a16:creationId xmlns:a16="http://schemas.microsoft.com/office/drawing/2014/main" id="{D606AF6F-9CBF-4386-A3A4-459E9F6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4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30CB7136-A7B8-493B-BFE0-41A2070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15" name="left-title">
            <a:extLst xmlns:a="http://schemas.openxmlformats.org/drawingml/2006/main">
              <a:ext uri="{FF2B5EF4-FFF2-40B4-BE49-F238E27FC236}">
                <a16:creationId xmlns:a16="http://schemas.microsoft.com/office/drawing/2014/main" id="{D803B570-FB06-442C-9BCA-9936532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24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 固定与扫频：同一历史主时序</a:t>
            </a:r>
          </a:p>
        </p:txBody>
      </p:sp>
      <p:sp>
        <p:nvSpPr>
          <p:cNvPr id="16" name="left-provenance">
            <a:extLst xmlns:a="http://schemas.openxmlformats.org/drawingml/2006/main">
              <a:ext uri="{FF2B5EF4-FFF2-40B4-BE49-F238E27FC236}">
                <a16:creationId xmlns:a16="http://schemas.microsoft.com/office/drawing/2014/main" id="{E36AEE50-1CAA-43A8-B870-83C523E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24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2.4 s起 fs−5%，保留扫描与保护记录</a:t>
            </a:r>
          </a:p>
        </p:txBody>
      </p:sp>
      <p:sp>
        <p:nvSpPr>
          <p:cNvPr id="1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AC1CE18-2EB1-4ADC-A065-1C755C4F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B  相位反馈：独立历史试验</a:t>
            </a:r>
          </a:p>
        </p:txBody>
      </p:sp>
      <p:sp>
        <p:nvSpPr>
          <p:cNvPr id="18" name="right-parameters">
            <a:extLst xmlns:a="http://schemas.openxmlformats.org/drawingml/2006/main">
              <a:ext uri="{FF2B5EF4-FFF2-40B4-BE49-F238E27FC236}">
                <a16:creationId xmlns:a16="http://schemas.microsoft.com/office/drawing/2014/main" id="{87CEFF39-A8DC-4342-BD8F-6395D95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520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Kφ＝5 Hz/°，目标输入相位＝−1.0782°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106077e974d54"/>
          <a:stretch xmlns:a="http://schemas.openxmlformats.org/drawingml/2006/main"/>
        </p:blipFill>
        <p:spPr>
          <a:xfrm xmlns:a="http://schemas.openxmlformats.org/drawingml/2006/main">
            <a:off x="685800" y="3210770"/>
            <a:ext cx="5200650" cy="289391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6ec91e2dd4f36"/>
          <a:stretch xmlns:a="http://schemas.openxmlformats.org/drawingml/2006/main"/>
        </p:blipFill>
        <p:spPr>
          <a:xfrm xmlns:a="http://schemas.openxmlformats.org/drawingml/2006/main">
            <a:off x="6305550" y="3210770"/>
            <a:ext cx="5200650" cy="2893910"/>
          </a:xfrm>
          <a:prstGeom xmlns:a="http://schemas.openxmlformats.org/drawingml/2006/main" prst="rect">
            <a:avLst/>
          </a:prstGeom>
        </p:spPr>
      </p:pic>
      <p:sp>
        <p:nvSpPr>
          <p:cNvPr id="21" name="provenance-divider">
            <a:extLst xmlns:a="http://schemas.openxmlformats.org/drawingml/2006/main">
              <a:ext uri="{FF2B5EF4-FFF2-40B4-BE49-F238E27FC236}">
                <a16:creationId xmlns:a16="http://schemas.microsoft.com/office/drawing/2014/main" id="{B0E794AC-4C56-412E-9FC9-68E41A6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57475"/>
            <a:ext cx="9525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22" name="left-result">
            <a:extLst xmlns:a="http://schemas.openxmlformats.org/drawingml/2006/main">
              <a:ext uri="{FF2B5EF4-FFF2-40B4-BE49-F238E27FC236}">
                <a16:creationId xmlns:a16="http://schemas.microsoft.com/office/drawing/2014/main" id="{8B1FBBCD-8F98-4DC2-85EF-119C3E1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525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已到新峰位，连续合格6/10样本，未通过本段验收</a:t>
            </a:r>
          </a:p>
        </p:txBody>
      </p:sp>
      <p:sp>
        <p:nvSpPr>
          <p:cNvPr id="23" name="right-result">
            <a:extLst xmlns:a="http://schemas.openxmlformats.org/drawingml/2006/main">
              <a:ext uri="{FF2B5EF4-FFF2-40B4-BE49-F238E27FC236}">
                <a16:creationId xmlns:a16="http://schemas.microsoft.com/office/drawing/2014/main" id="{106093CB-C7F1-477E-B9F6-7A2498D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本段调频被保护冻结，不能据此只归因于小增益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8DAF81-7015-478E-AC07-719D1B8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25" name="ranking-boundary">
            <a:extLst xmlns:a="http://schemas.openxmlformats.org/drawingml/2006/main">
              <a:ext uri="{FF2B5EF4-FFF2-40B4-BE49-F238E27FC236}">
                <a16:creationId xmlns:a16="http://schemas.microsoft.com/office/drawing/2014/main" id="{92AF1402-2828-46D4-B434-DCD83FC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715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相位试验与另外两种策略的口径尚未统一，本页展示实现与现象，不作性能排名。</a:t>
            </a:r>
          </a:p>
        </p:txBody>
      </p:sp>
      <p:sp>
        <p:nvSpPr>
          <p:cNvPr id="26" name="scope">
            <a:extLst xmlns:a="http://schemas.openxmlformats.org/drawingml/2006/main">
              <a:ext uri="{FF2B5EF4-FFF2-40B4-BE49-F238E27FC236}">
                <a16:creationId xmlns:a16="http://schemas.microsoft.com/office/drawing/2014/main" id="{53510D26-3860-412C-940B-E1CE33F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96075"/>
            <a:ext cx="1028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扫描辅助P&amp;O作为第四种扩展方法另页展示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EC8CE-3700-442B-98EC-548C143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96075"/>
            <a:ext cx="352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5283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2026-09-14T16:59:39.5290000Z</dcterms:created>
  <dcterms:modified xsi:type="dcterms:W3CDTF">2026-09-14T16:59:39.5290000Z</dcterms:modified>
</coreProperties>
</file>