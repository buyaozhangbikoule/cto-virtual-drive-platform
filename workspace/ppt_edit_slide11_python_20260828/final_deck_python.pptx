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1d3b38597f44a7" /><Relationship Type="http://schemas.openxmlformats.org/officeDocument/2006/relationships/extended-properties" Target="/docProps/app.xml" Id="Rb2742cfdcd734667" /><Relationship Type="http://schemas.openxmlformats.org/officeDocument/2006/relationships/officeDocument" Target="/ppt/presentation.xml" Id="R75339bf80ccf4a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b7b98f5b834408"/>
  </p:sldMasterIdLst>
  <p:notesMasterIdLst>
    <p:notesMasterId xmlns:r="http://schemas.openxmlformats.org/officeDocument/2006/relationships" r:id="R056b505cff2c47bb"/>
  </p:notesMasterIdLst>
  <p:sldIdLst>
    <p:sldId xmlns:r="http://schemas.openxmlformats.org/officeDocument/2006/relationships" id="256" r:id="R4d497c29f0a04795"/>
    <p:sldId xmlns:r="http://schemas.openxmlformats.org/officeDocument/2006/relationships" id="257" r:id="R541b9cebed2c4a1b"/>
    <p:sldId xmlns:r="http://schemas.openxmlformats.org/officeDocument/2006/relationships" id="258" r:id="Ref6da579cc6b493d"/>
    <p:sldId xmlns:r="http://schemas.openxmlformats.org/officeDocument/2006/relationships" id="259" r:id="Rfc04c5dddc2f4259"/>
    <p:sldId xmlns:r="http://schemas.openxmlformats.org/officeDocument/2006/relationships" id="260" r:id="Rb8eb0c1ece974395"/>
    <p:sldId xmlns:r="http://schemas.openxmlformats.org/officeDocument/2006/relationships" id="261" r:id="R13338fbb84a54268"/>
    <p:sldId xmlns:r="http://schemas.openxmlformats.org/officeDocument/2006/relationships" id="262" r:id="R0a35e7719df9477e"/>
    <p:sldId xmlns:r="http://schemas.openxmlformats.org/officeDocument/2006/relationships" id="263" r:id="R953ead718acc4984"/>
    <p:sldId xmlns:r="http://schemas.openxmlformats.org/officeDocument/2006/relationships" id="264" r:id="R3d732be837434be0"/>
    <p:sldId xmlns:r="http://schemas.openxmlformats.org/officeDocument/2006/relationships" id="265" r:id="R85b0cb66bca74859"/>
    <p:sldId xmlns:r="http://schemas.openxmlformats.org/officeDocument/2006/relationships" id="266" r:id="Rd596d1aa214b4b8d"/>
    <p:sldId xmlns:r="http://schemas.openxmlformats.org/officeDocument/2006/relationships" id="267" r:id="Rdd50b150dfa4466f"/>
    <p:sldId xmlns:r="http://schemas.openxmlformats.org/officeDocument/2006/relationships" id="268" r:id="R3ad86169a486415e"/>
    <p:sldId xmlns:r="http://schemas.openxmlformats.org/officeDocument/2006/relationships" id="269" r:id="Rdf447d7029e64a9c"/>
    <p:sldId xmlns:r="http://schemas.openxmlformats.org/officeDocument/2006/relationships" id="270" r:id="R98ff645c9e0e46d1"/>
    <p:sldId xmlns:r="http://schemas.openxmlformats.org/officeDocument/2006/relationships" id="271" r:id="R88ea4df23bb14d7a"/>
    <p:sldId xmlns:r="http://schemas.openxmlformats.org/officeDocument/2006/relationships" id="272" r:id="R4d92d6b6314f4dc6"/>
    <p:sldId xmlns:r="http://schemas.openxmlformats.org/officeDocument/2006/relationships" id="273" r:id="R61bdc37c5bd64a9c"/>
    <p:sldId xmlns:r="http://schemas.openxmlformats.org/officeDocument/2006/relationships" id="274" r:id="R56d9fb0e8b7e4cf5"/>
    <p:sldId xmlns:r="http://schemas.openxmlformats.org/officeDocument/2006/relationships" id="275" r:id="Rb4c79bb725b84349"/>
    <p:sldId xmlns:r="http://schemas.openxmlformats.org/officeDocument/2006/relationships" id="276" r:id="R8d5a251d94c64827"/>
    <p:sldId xmlns:r="http://schemas.openxmlformats.org/officeDocument/2006/relationships" id="277" r:id="R4e475f95e61042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a1ee327ac241f2" /><Relationship Type="http://schemas.openxmlformats.org/officeDocument/2006/relationships/slideMaster" Target="/ppt/slideMasters/slideMaster1.xml" Id="R3ab7b98f5b834408" /><Relationship Type="http://schemas.openxmlformats.org/officeDocument/2006/relationships/notesMaster" Target="/ppt/notesMasters/notesMaster1.xml" Id="R056b505cff2c47bb" /><Relationship Type="http://schemas.openxmlformats.org/officeDocument/2006/relationships/presProps" Target="/ppt/presProps.xml" Id="Rbdba62ed93ef4e89" /><Relationship Type="http://schemas.openxmlformats.org/officeDocument/2006/relationships/viewProps" Target="/ppt/viewProps.xml" Id="Re2f9a8edba474315" /><Relationship Type="http://schemas.openxmlformats.org/officeDocument/2006/relationships/tableStyles" Target="/ppt/tableStyles.xml" Id="Rf5413ac3c6a449ac" /><Relationship Type="http://schemas.openxmlformats.org/officeDocument/2006/relationships/slide" Target="/ppt/slides/slide1.xml" Id="R4d497c29f0a04795" /><Relationship Type="http://schemas.openxmlformats.org/officeDocument/2006/relationships/slide" Target="/ppt/slides/slide2.xml" Id="R541b9cebed2c4a1b" /><Relationship Type="http://schemas.openxmlformats.org/officeDocument/2006/relationships/slide" Target="/ppt/slides/slide3.xml" Id="Ref6da579cc6b493d" /><Relationship Type="http://schemas.openxmlformats.org/officeDocument/2006/relationships/slide" Target="/ppt/slides/slide4.xml" Id="Rfc04c5dddc2f4259" /><Relationship Type="http://schemas.openxmlformats.org/officeDocument/2006/relationships/slide" Target="/ppt/slides/slide5.xml" Id="Rb8eb0c1ece974395" /><Relationship Type="http://schemas.openxmlformats.org/officeDocument/2006/relationships/slide" Target="/ppt/slides/slide6.xml" Id="R13338fbb84a54268" /><Relationship Type="http://schemas.openxmlformats.org/officeDocument/2006/relationships/slide" Target="/ppt/slides/slide7.xml" Id="R0a35e7719df9477e" /><Relationship Type="http://schemas.openxmlformats.org/officeDocument/2006/relationships/slide" Target="/ppt/slides/slide8.xml" Id="R953ead718acc4984" /><Relationship Type="http://schemas.openxmlformats.org/officeDocument/2006/relationships/slide" Target="/ppt/slides/slide9.xml" Id="R3d732be837434be0" /><Relationship Type="http://schemas.openxmlformats.org/officeDocument/2006/relationships/slide" Target="/ppt/slides/slide10.xml" Id="R85b0cb66bca74859" /><Relationship Type="http://schemas.openxmlformats.org/officeDocument/2006/relationships/slide" Target="/ppt/slides/slide11.xml" Id="Rd596d1aa214b4b8d" /><Relationship Type="http://schemas.openxmlformats.org/officeDocument/2006/relationships/slide" Target="/ppt/slides/slide12.xml" Id="Rdd50b150dfa4466f" /><Relationship Type="http://schemas.openxmlformats.org/officeDocument/2006/relationships/slide" Target="/ppt/slides/slide13.xml" Id="R3ad86169a486415e" /><Relationship Type="http://schemas.openxmlformats.org/officeDocument/2006/relationships/slide" Target="/ppt/slides/slide14.xml" Id="Rdf447d7029e64a9c" /><Relationship Type="http://schemas.openxmlformats.org/officeDocument/2006/relationships/slide" Target="/ppt/slides/slide15.xml" Id="R98ff645c9e0e46d1" /><Relationship Type="http://schemas.openxmlformats.org/officeDocument/2006/relationships/slide" Target="/ppt/slides/slide16.xml" Id="R88ea4df23bb14d7a" /><Relationship Type="http://schemas.openxmlformats.org/officeDocument/2006/relationships/slide" Target="/ppt/slides/slide17.xml" Id="R4d92d6b6314f4dc6" /><Relationship Type="http://schemas.openxmlformats.org/officeDocument/2006/relationships/slide" Target="/ppt/slides/slide18.xml" Id="R61bdc37c5bd64a9c" /><Relationship Type="http://schemas.openxmlformats.org/officeDocument/2006/relationships/slide" Target="/ppt/slides/slide19.xml" Id="R56d9fb0e8b7e4cf5" /><Relationship Type="http://schemas.openxmlformats.org/officeDocument/2006/relationships/slide" Target="/ppt/slides/slide20.xml" Id="Rb4c79bb725b84349" /><Relationship Type="http://schemas.openxmlformats.org/officeDocument/2006/relationships/slide" Target="/ppt/slides/slide21.xml" Id="R8d5a251d94c64827" /><Relationship Type="http://schemas.openxmlformats.org/officeDocument/2006/relationships/slide" Target="/ppt/slides/slide22.xml" Id="R4e475f95e61042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438d4572994f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c64cae0efa478e" /><Relationship Type="http://schemas.openxmlformats.org/officeDocument/2006/relationships/notesMaster" Target="/ppt/notesMasters/notesMaster1.xml" Id="R5a056bf9727842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e6715dab634cf8" /><Relationship Type="http://schemas.openxmlformats.org/officeDocument/2006/relationships/notesMaster" Target="/ppt/notesMasters/notesMaster1.xml" Id="R617195b7da1148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b932e3397c4899" /><Relationship Type="http://schemas.openxmlformats.org/officeDocument/2006/relationships/notesMaster" Target="/ppt/notesMasters/notesMaster1.xml" Id="R31e09507a68c4c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bdbac6c5a94af8" /><Relationship Type="http://schemas.openxmlformats.org/officeDocument/2006/relationships/notesMaster" Target="/ppt/notesMasters/notesMaster1.xml" Id="Rfac4526d913443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ce18b310cd4ae0" /><Relationship Type="http://schemas.openxmlformats.org/officeDocument/2006/relationships/notesMaster" Target="/ppt/notesMasters/notesMaster1.xml" Id="R5bacec9c19a049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037453878f4906" /><Relationship Type="http://schemas.openxmlformats.org/officeDocument/2006/relationships/notesMaster" Target="/ppt/notesMasters/notesMaster1.xml" Id="R9d5f97f2aeb04c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ac97b697f54fb7" /><Relationship Type="http://schemas.openxmlformats.org/officeDocument/2006/relationships/notesMaster" Target="/ppt/notesMasters/notesMaster1.xml" Id="R7d4907e89e7644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f4177e5e4347ce" /><Relationship Type="http://schemas.openxmlformats.org/officeDocument/2006/relationships/notesMaster" Target="/ppt/notesMasters/notesMaster1.xml" Id="R84d117b975634f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e008581eeb4c54" /><Relationship Type="http://schemas.openxmlformats.org/officeDocument/2006/relationships/notesMaster" Target="/ppt/notesMasters/notesMaster1.xml" Id="R8f2fc6ec8f2043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3f33faaf814412" /><Relationship Type="http://schemas.openxmlformats.org/officeDocument/2006/relationships/notesMaster" Target="/ppt/notesMasters/notesMaster1.xml" Id="R7ec390c91d9e43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24e8831f24472e" /><Relationship Type="http://schemas.openxmlformats.org/officeDocument/2006/relationships/notesMaster" Target="/ppt/notesMasters/notesMaster1.xml" Id="R897382623fa045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490d23baa146d9" /><Relationship Type="http://schemas.openxmlformats.org/officeDocument/2006/relationships/notesMaster" Target="/ppt/notesMasters/notesMaster1.xml" Id="Rf415cc109a4241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13284b0bd14d4b" /><Relationship Type="http://schemas.openxmlformats.org/officeDocument/2006/relationships/notesMaster" Target="/ppt/notesMasters/notesMaster1.xml" Id="Rcd71a03e22124b7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0a5266137c4bcc" /><Relationship Type="http://schemas.openxmlformats.org/officeDocument/2006/relationships/notesMaster" Target="/ppt/notesMasters/notesMaster1.xml" Id="Rc23a3bab569c49f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7be7224ad524c8f" /><Relationship Type="http://schemas.openxmlformats.org/officeDocument/2006/relationships/notesMaster" Target="/ppt/notesMasters/notesMaster1.xml" Id="R298089b7f1c242a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ff1e2390c384aed" /><Relationship Type="http://schemas.openxmlformats.org/officeDocument/2006/relationships/notesMaster" Target="/ppt/notesMasters/notesMaster1.xml" Id="Rcb44e7bc4c3847f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f4acb230a9c4b9d" /><Relationship Type="http://schemas.openxmlformats.org/officeDocument/2006/relationships/notesMaster" Target="/ppt/notesMasters/notesMaster1.xml" Id="R32225e6ae4cd493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e5ab629fb73433e" /><Relationship Type="http://schemas.openxmlformats.org/officeDocument/2006/relationships/notesMaster" Target="/ppt/notesMasters/notesMaster1.xml" Id="R456324b8a4f6412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ca02ca4d7204cff" /><Relationship Type="http://schemas.openxmlformats.org/officeDocument/2006/relationships/notesMaster" Target="/ppt/notesMasters/notesMaster1.xml" Id="Rdaf2c3c7ca5d4ef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6ba46d000d24f1a" /><Relationship Type="http://schemas.openxmlformats.org/officeDocument/2006/relationships/notesMaster" Target="/ppt/notesMasters/notesMaster1.xml" Id="R07e9daaefc8442b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44050ec285d4407" /><Relationship Type="http://schemas.openxmlformats.org/officeDocument/2006/relationships/notesMaster" Target="/ppt/notesMasters/notesMaster1.xml" Id="Rcfde2e3e649146e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571b6245d6a48a2" /><Relationship Type="http://schemas.openxmlformats.org/officeDocument/2006/relationships/notesMaster" Target="/ppt/notesMasters/notesMaster1.xml" Id="R9613f35b3d9441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开场只做边界定义：本月完成的是端口电学模型、匹配、扰动扫描和控制原型，不是CTO治疗效果验证。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这页回答项目在解决什么：负载或参数变化导致电学最优点移动，固定频率可能失配。随后引出参数必须先自洽。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教授最可能追问参数来源。先主动展示旧参数冲突，再强调v2.1只解决数学自洽，不代表器件真实性。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C:\Users\24739\Documents\Codex\2026-08-10\new-chat\outputs\v2_self_consistent_rebuild\report_evidence_final\01_项目口径与参数\v2_1_活动基线参数.csv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强调比较使用同一Thevenin源，不在每个网络后重新校准端电压。32.8倍只描述P_Rm代理，不应称为效率。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C:\Users\24739\Documents\Codex\2026-08-10\new-chat\outputs\v2_self_consistent_rebuild\report_evidence_final\03_匹配网络\stage2_匹配前后特征汇总.csv</a:t>
            </a:r>
          </a:p>
          <a:p xmlns:a="http://schemas.openxmlformats.org/drawingml/2006/main">
            <a:r>
              <a:t>- C:\Users\24739\Documents\Codex\2026-08-10\new-chat\outputs\v2_self_consistent_rebuild\report_evidence_final\03_匹配网络\stage2_LTspice_解析交叉验证.csv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C:\Users\24739\Documents\Codex\2026-08-10\new-chat\outputs\v2_self_consistent_rebuild\report_evidence_final\07_汇报截图\stage2_02_匹配前后功率与反射_RAW.png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这页不是念完整扫描表，而是回答谁控制峰位、峰高和峰宽。重点指出fs漂移决定控制器的捕获范围。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C:\Users\24739\Documents\Codex\2026-08-10\new-chat\outputs\v2_self_consistent_rebuild\report_evidence_final\04_扰动与Qm\stage3_trend_table.csv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C:\Users\24739\Documents\Codex\2026-08-10\new-chat\outputs\v2_self_consistent_rebuild\report_evidence_final\04_扰动与Qm\stage3_scenario_registry_and_summary.csv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三组保持fs、Rm和C0固定，并重新推导Lm/Cm。峰高约0.17 W保持不变，峰宽随Qm增加而缩小。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C:\Users\24739\Documents\Codex\2026-08-10\new-chat\outputs\v2_self_consistent_rebuild\report_evidence_final\04_扰动与Qm\stage3_Qm_500_800_1000_summary.csv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C:\Users\24739\Documents\Codex\2026-08-10\new-chat\outputs\v2_self_consistent_rebuild\report_evidence_final\07_汇报截图\stage3_03_Qm_sensitivity.png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先看基准场景，再看fs-5%的反例。最大功率点与最小相位点相差49.5 kHz，说明零相位不能直接作为功率最大化目标。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C:\Users\24739\Documents\Codex\2026-08-10\new-chat\outputs\v2_self_consistent_rebuild\report_evidence_final\05_选频准则\stage3_initial_three_criteria.csv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C:\Users\24739\Documents\Codex\2026-08-10\new-chat\outputs\v2_self_consistent_rebuild\report_evidence_final\07_汇报截图\stage3_selection_01_criteria_examples.png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±20 kHz会漏掉部分漂移峰；±50 kHz可覆盖当前28场景。扫描时间按1.5 ms/点估算，只是准稳态代理。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C:\Users\24739\Documents\Codex\2026-08-10\new-chat\outputs\v2_self_consistent_rebuild\report_evidence_final\05_选频准则\stage3_window_step_aggregate.csv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C:\Users\24739\Documents\Codex\2026-08-10\new-chat\outputs\v2_self_consistent_rebuild\report_evidence_final\05_选频准则\stage3_selection_report.md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围绕约2.4 s真实触发窗口讲解。任何非NORMAL状态都先调幅并冻结频率，预测裁剪保证实际硬越限次数为0。阈值是仿真假设。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C:\Users\24739\Documents\Codex\2026-08-10\new-chat\outputs\v2_self_consistent_rebuild\report_evidence_final\07_汇报截图\stage4_02_protection_state_machine.png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本页左侧三联图由Python/Matplotlib直接读取项目CSV生成，并以300 dpi PNG嵌入PPT；没有使用PowerPoint原生图表重绘，也没有人为平移数据。</a:t>
            </a:r>
          </a:p>
          <a:p xmlns:a="http://schemas.openxmlformats.org/drawingml/2006/main">
            <a:r>
              <a:t>a图：CASE_000_BASELINE与CASE_FS_M5的离线安全功率扫描，峰值分别为0.9000 MHz/170.0 mW与0.8548 MHz/140.2 mW。</a:t>
            </a:r>
            <a:endParaRPr/>
          </a:p>
          <a:p xmlns:a="http://schemas.openxmlformats.org/drawingml/2006/main">
            <a:r>
              <a:t>b图：捕获率按当前扰动场景自身的安全最大功率归一化。100%不等于恢复基准绝对功率。</a:t>
            </a:r>
          </a:p>
          <a:p xmlns:a="http://schemas.openxmlformats.org/drawingml/2006/main">
            <a:r>
              <a:t>c图：仅绘制CONTROL样本；扫描/试探导致的时间间隔不插值、不连线。fs−5%窗口严格截断在3.200 s之前，避免混入下一扰动场景。</a:t>
            </a:r>
          </a:p>
          <a:p xmlns:a="http://schemas.openxmlformats.org/drawingml/2006/main">
            <a:r>
              <a:t>周期扫频在2.4965 s到达峰值并通过稳态验收；P&amp;O在2.4985 s首次到达同一峰位，但未通过连续稳态验收。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C:\Users\24739\Documents\Codex\2026-08-10\new-chat\outputs\v2_self_consistent_rebuild\active_stage3_5\stage3_disturbance\stage3_frequency_response_all_cases.csv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C:\Users\24739\Documents\Codex\2026-08-10\new-chat\outputs\v2_self_consistent_rebuild\report_evidence_final\06_控制与保护\stage5_per_segment_metrics.csv</a:t>
            </a:r>
          </a:p>
          <a:p xmlns:a="http://schemas.openxmlformats.org/drawingml/2006/main">
            <a:r>
              <a:t>- C:\Users\24739\Documents\Codex\2026-08-10\new-chat\ppt_edit_slide11_python_20260828\figure\slide11_python_charts.png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这页给出正式验收结论。固定频率稳态误差高；周期扫频在所有扰动段满足验收；P&amp;O尾段可到最优，但7段未满足连续10样本确认。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C:\Users\24739\Documents\Codex\2026-08-10\new-chat\outputs\v2_self_consistent_rebuild\report_evidence_final\06_控制与保护\stage5_integrated_strategy_table.csv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C:\Users\24739\Documents\Codex\2026-08-10\new-chat\outputs\v2_self_consistent_rebuild\report_evidence_final\06_控制与保护\stage5_per_segment_metrics.csv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文献可以支持CTO结构异质性及负载变化的物理背景，但不能直接给出病变类型到fs、Rm、C0的定量换算。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C:\Users\24739\Documents\Codex\2026-08-10\new-chat\outputs\v2_self_consistent_rebuild\report_evidence_final\08_结构声场未完成说明\literature_axisymmetric_reproduction_spec.md</a:t>
            </a:r>
          </a:p>
          <a:p xmlns:a="http://schemas.openxmlformats.org/drawingml/2006/main">
            <a:r>
              <a:t>- 本项目文献补齐目录中的CTO、治疗超声和前视超声资料；具体DOI需在最终汇报备注中逐条核对。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结束时保持本页。用三列明确区分已完成、未证明和下一步，不以泛化结论收尾。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C:\Users\24739\Documents\Codex\2026-08-10\new-chat\outputs\v2_self_consistent_rebuild\report_evidence_final\FINAL_COMPLETION_AUDIT_2026-08-15.md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C:\Users\24739\Documents\Codex\2026-08-10\new-chat\outputs\v2_self_consistent_rebuild\report_evidence_final\08_结构声场未完成说明\README_ANSYS_COMSOL_BLOCKED.md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答疑时用这页回答参数从哪里来。所有数值分成用户约束、假设基线和扫描变量，不能称为实测。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C:\Users\24739\Documents\Codex\2026-08-10\new-chat\outputs\v2_self_consistent_rebuild\report_evidence_final\01_项目口径与参数\v2_1_活动基线参数.csv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C:\Users\24739\Documents\Codex\2026-08-10\new-chat\outputs\v2_self_consistent_rebuild\report_evidence_final\01_项目口径与参数\v2_1_Qm敏感性参数.csv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用于回答扰动为何这样选、各场景是否可复现，以及基准0.9 MHz各指标。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C:\Users\24739\Documents\Codex\2026-08-10\new-chat\outputs\v2_self_consistent_rebuild\report_evidence_final\04_扰动与Qm\stage3_scenario_registry_and_summary.csv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用于回答为什么主控制目标选择最大功率，而相位和反射只作为对照。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C:\Users\24739\Documents\Codex\2026-08-10\new-chat\outputs\v2_self_consistent_rebuild\report_evidence_final\05_选频准则\stage3_initial_three_criteria.csv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相位目标不是0度，而是基准受约束最大功率点的相位。局部相位曲线斜率决定更新方向。高增益仍可能错误锁定。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C:\Users\24739\Documents\Codex\2026-08-10\new-chat\outputs\v2_self_consistent_rebuild\report_evidence_final\06_控制与保护\phase_gain_sweep_summary.csv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C:\Users\24739\Documents\Codex\2026-08-10\new-chat\outputs\v2_self_consistent_rebuild\report_evidence_final\07_汇报截图\phase_ablation_selected_gain.png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用于回应‘是否真的运行LTspice’。截图证明运行痕迹，RAW解析与误差CSV才证明结果一致，哈希用于追溯。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C:\Users\24739\Documents\Codex\2026-08-10\new-chat\outputs\v2_self_consistent_rebuild\report_evidence_final\02_LTspice真实运行</a:t>
            </a:r>
          </a:p>
          <a:p xmlns:a="http://schemas.openxmlformats.org/drawingml/2006/main">
            <a:r>
              <a:t>- C:\Users\24739\Documents\Codex\2026-08-10\new-chat\outputs\v2_self_consistent_rebuild\report_evidence_final\SHA256_文件清单.csv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C:\Users\24739\Documents\Codex\2026-08-10\new-chat\outputs\v2_self_consistent_rebuild\report_evidence_final\07_汇报截图\LTspice_GUI_waveform_mag_phase.png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用于回答恢复时间、稳态误差和错误锁定如何定义。强调所有策略用相同定义。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用于回答复现性和文件组织。展示从参数到图表的完整链条。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C:\Users\24739\Documents\Codex\2026-08-10\new-chat\outputs\v2_self_consistent_rebuild\report_evidence_final\README_汇报工作痕迹索引.md</a:t>
            </a:r>
          </a:p>
          <a:p xmlns:a="http://schemas.openxmlformats.org/drawingml/2006/main">
            <a:r>
              <a:t>- C:\Users\24739\Documents\Codex\2026-08-10\new-chat\outputs\v2_self_consistent_rebuild\report_evidence_final\SHA256_文件清单.csv</a:t>
            </a:r>
          </a:p>
          <a:p xmlns:a="http://schemas.openxmlformats.org/drawingml/2006/main">
            <a:r>
              <a:t>- C:\Users\24739\Documents\Codex\2026-08-10\new-chat\outputs\v2_self_consistent_rebuild\report_evidence_final\09_复现脚本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这页用于坦诚说明结构声场尚未完成，并列出下一阶段需要自己从ANSYS/COMSOL截图保存的证据。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C:\Users\24739\Documents\Codex\2026-08-10\new-chat\outputs\v2_self_consistent_rebuild\report_evidence_final\08_结构声场未完成说明\GUI_evidence_capture_checklist.md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C:\Users\24739\Documents\Codex\2026-08-10\new-chat\outputs\v2_self_consistent_rebuild\report_evidence_final\08_结构声场未完成说明\solver_input_requirements.csv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C:\Users\24739\Documents\Codex\2026-08-10\new-chat\outputs\v2_self_consistent_rebuild\report_evidence_final\08_结构声场未完成说明\README_ANSYS_COMSOL_BLOCKED.md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e4510dd46f4f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066d09b5b94a6c" /><Relationship Type="http://schemas.openxmlformats.org/officeDocument/2006/relationships/slideLayout" Target="/ppt/slideLayouts/slideLayout1.xml" Id="Ra3ecc6e8a1034e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ecc6e8a1034e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ddd9b7561482e" /><Relationship Type="http://schemas.openxmlformats.org/officeDocument/2006/relationships/notesSlide" Target="/ppt/notesSlides/notesSlide1.xml" Id="R240e5a9c5a394f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23e1078384069" /><Relationship Type="http://schemas.openxmlformats.org/officeDocument/2006/relationships/notesSlide" Target="/ppt/notesSlides/notesSlide2.xml" Id="Rde6dd6593b9a4b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0f5b622fb40ff" /><Relationship Type="http://schemas.openxmlformats.org/officeDocument/2006/relationships/notesSlide" Target="/ppt/notesSlides/notesSlide3.xml" Id="R25766f10f83a4f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df91ef97b4584" /><Relationship Type="http://schemas.openxmlformats.org/officeDocument/2006/relationships/image" Target="/ppt/media/image.png" Id="Rfa410e8f847b4c12" /><Relationship Type="http://schemas.openxmlformats.org/officeDocument/2006/relationships/notesSlide" Target="/ppt/notesSlides/notesSlide4.xml" Id="R1590187ec08642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d256f06da4a8b" /><Relationship Type="http://schemas.openxmlformats.org/officeDocument/2006/relationships/image" Target="/ppt/media/image2.png" Id="Rd11a9b0a077c4746" /><Relationship Type="http://schemas.openxmlformats.org/officeDocument/2006/relationships/image" Target="/ppt/media/image3.png" Id="Rcdfcaef1df7e467c" /><Relationship Type="http://schemas.openxmlformats.org/officeDocument/2006/relationships/notesSlide" Target="/ppt/notesSlides/notesSlide5.xml" Id="R208aa8cfb12843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30da4421f4adb" /><Relationship Type="http://schemas.openxmlformats.org/officeDocument/2006/relationships/notesSlide" Target="/ppt/notesSlides/notesSlide6.xml" Id="R658327d0ab274e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dd3a473d348f9" /><Relationship Type="http://schemas.openxmlformats.org/officeDocument/2006/relationships/image" Target="/ppt/media/image4.png" Id="R0ac1c1acff514340" /><Relationship Type="http://schemas.openxmlformats.org/officeDocument/2006/relationships/notesSlide" Target="/ppt/notesSlides/notesSlide7.xml" Id="R8c9058af74ee4e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f2b44b1c440dc" /><Relationship Type="http://schemas.openxmlformats.org/officeDocument/2006/relationships/image" Target="/ppt/media/image5.png" Id="R4acb07dd9af8488b" /><Relationship Type="http://schemas.openxmlformats.org/officeDocument/2006/relationships/image" Target="/ppt/media/image6.png" Id="R1674fba33e3d4010" /><Relationship Type="http://schemas.openxmlformats.org/officeDocument/2006/relationships/notesSlide" Target="/ppt/notesSlides/notesSlide8.xml" Id="R2117bcbb3d0a41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6029d26884925" /><Relationship Type="http://schemas.openxmlformats.org/officeDocument/2006/relationships/image" Target="/ppt/media/image7.png" Id="R813fff3e20dd4120" /><Relationship Type="http://schemas.openxmlformats.org/officeDocument/2006/relationships/notesSlide" Target="/ppt/notesSlides/notesSlide9.xml" Id="R506c55acbfeb47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765c6d4b7452f" /><Relationship Type="http://schemas.openxmlformats.org/officeDocument/2006/relationships/image" Target="/ppt/media/image8.png" Id="R7094d4ad585b4374" /><Relationship Type="http://schemas.openxmlformats.org/officeDocument/2006/relationships/notesSlide" Target="/ppt/notesSlides/notesSlide10.xml" Id="R2faa346b4a334b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41b3e004343ea" /><Relationship Type="http://schemas.openxmlformats.org/officeDocument/2006/relationships/image" Target="/ppt/media/image9.png" Id="R1858d2e8576e4c1c" /><Relationship Type="http://schemas.openxmlformats.org/officeDocument/2006/relationships/notesSlide" Target="/ppt/notesSlides/notesSlide11.xml" Id="R2d0c7069c2d944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ed44cc87945df" /><Relationship Type="http://schemas.openxmlformats.org/officeDocument/2006/relationships/chart" Target="/ppt/slides/charts/chart1.xml" Id="R9c2717b5269f4501" /><Relationship Type="http://schemas.openxmlformats.org/officeDocument/2006/relationships/notesSlide" Target="/ppt/notesSlides/notesSlide12.xml" Id="R7a0977430df94a9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b81316d1045ff" /><Relationship Type="http://schemas.openxmlformats.org/officeDocument/2006/relationships/notesSlide" Target="/ppt/notesSlides/notesSlide13.xml" Id="R38784c267af044c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e51ee23dd4301" /><Relationship Type="http://schemas.openxmlformats.org/officeDocument/2006/relationships/notesSlide" Target="/ppt/notesSlides/notesSlide14.xml" Id="R7964f2b29a3e4f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2e4033df14393" /><Relationship Type="http://schemas.openxmlformats.org/officeDocument/2006/relationships/notesSlide" Target="/ppt/notesSlides/notesSlide15.xml" Id="R5ce5c89173fd451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ae63f27f14392" /><Relationship Type="http://schemas.openxmlformats.org/officeDocument/2006/relationships/notesSlide" Target="/ppt/notesSlides/notesSlide16.xml" Id="Reb8bd3c5ca014d2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200cde4af4197" /><Relationship Type="http://schemas.openxmlformats.org/officeDocument/2006/relationships/notesSlide" Target="/ppt/notesSlides/notesSlide17.xml" Id="R18a95add2ca24be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586d02de344a0" /><Relationship Type="http://schemas.openxmlformats.org/officeDocument/2006/relationships/image" Target="/ppt/media/image10.png" Id="Rdfb419c8a325482b" /><Relationship Type="http://schemas.openxmlformats.org/officeDocument/2006/relationships/notesSlide" Target="/ppt/notesSlides/notesSlide18.xml" Id="Ra94703da504148c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72f53c86c443d" /><Relationship Type="http://schemas.openxmlformats.org/officeDocument/2006/relationships/image" Target="/ppt/media/image11.png" Id="R4ce65341a8ea4118" /><Relationship Type="http://schemas.openxmlformats.org/officeDocument/2006/relationships/image" Target="/ppt/media/image12.png" Id="Rd186d45c2d6d415b" /><Relationship Type="http://schemas.openxmlformats.org/officeDocument/2006/relationships/notesSlide" Target="/ppt/notesSlides/notesSlide19.xml" Id="Rf0a85632f3294ce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6be3902f54bd0" /><Relationship Type="http://schemas.openxmlformats.org/officeDocument/2006/relationships/notesSlide" Target="/ppt/notesSlides/notesSlide20.xml" Id="R8b6687761482433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75f0ec20d4ea8" /><Relationship Type="http://schemas.openxmlformats.org/officeDocument/2006/relationships/notesSlide" Target="/ppt/notesSlides/notesSlide21.xml" Id="R7a26bf15b2454b5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4550ed6494632" /><Relationship Type="http://schemas.openxmlformats.org/officeDocument/2006/relationships/notesSlide" Target="/ppt/notesSlides/notesSlide22.xml" Id="R4226aac9993944cc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</c:v>
              </c:pt>
              <c:pt idx="1">
                <c:v>周期扫频</c:v>
              </c:pt>
              <c:pt idx="2">
                <c:v>P&amp;O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95.5</c:v>
              </c:pt>
              <c:pt idx="2">
                <c:v>800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solidFill>
              <a:srgbClr val="E69F0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</a:defRPr>
            </a:pPr>
            <a:r>
              <a:rPr sz="1500" b="0">
                <a:solidFill>
                  <a:srgbClr val="5F6B76"/>
                </a:solidFill>
              </a:rPr>
              <a:t>第一月工作汇报  |  2026.08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端口电学模型与准稳态控制，不涉及治疗效果结论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固定0.9 MHz未必能在阻抗漂移后维持最佳电学工作点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1457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参数为假设基线或扫描变量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3">
            <a:extLst xmlns:a="http://schemas.openxmlformats.org/drawingml/2006/main"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旧参数无法同时满足100 Vpp、5 mA与100 Ω串联谐振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I_RMS ≈ 353.6 mA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P ≈ 12.5 W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9F00"/>
                </a:solidFill>
              </a:defRPr>
            </a:pPr>
            <a:r>
              <a:rPr sz="1575" b="1">
                <a:solidFill>
                  <a:srgbClr val="E69F00"/>
                </a:solidFill>
              </a:rPr>
              <a:t>与约5 mA、0.17 W目标明显冲突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38250"/>
            <a:ext cx="5600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A2799A8C-8DE2-0897-A771-1F0AA81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10 Hz网格下，Python与LTspice结果数值一致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C5E020-33F1-3F88-1B91-3791D3C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8C1DD9-E6CF-77A6-1C66-A3B7B281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E7CF5B6-E78A-48E9-7660-8D92BCB0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D6173B2-C80C-65C8-F625-7DDDB6A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pic>
        <p:nvPicPr>
          <p:cNvPr id="3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10e8f847b4c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" y="1066800"/>
            <a:ext cx="7077075" cy="4953000"/>
          </a:xfrm>
          <a:prstGeom xmlns:a="http://schemas.openxmlformats.org/drawingml/2006/main" prst="rect">
            <a:avLst/>
          </a:prstGeom>
        </p:spPr>
      </p:pic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8E4DB2B-7985-A526-9BB2-8FF22E5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346C06A-F541-D415-8D41-157FFE4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C60F462-7091-C8EA-87D2-041D4A58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A7F8E"/>
                </a:solidFill>
              </a:defRPr>
            </a:pPr>
            <a:r>
              <a:rPr sz="2250" b="1">
                <a:solidFill>
                  <a:srgbClr val="2A7F8E"/>
                </a:solidFill>
              </a:rPr>
              <a:t>1.36×10⁻⁷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1013790-2B4D-7EC7-ACB0-7094817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最大|Z|相对误差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D44F68F-6ED0-DE4D-F6D2-A89D65D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E69F00"/>
                </a:solidFill>
              </a:defRPr>
            </a:pPr>
            <a:r>
              <a:rPr sz="2550" b="1">
                <a:solidFill>
                  <a:srgbClr val="E69F00"/>
                </a:solidFill>
              </a:rPr>
              <a:t>&lt; 10 Hz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BBF671A-B86B-F207-C411-91E7046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峰位差（网格分辨率内）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8062FC2-4BB1-F724-33FE-F249BED0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LTspice：.cir→.raw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Python：解析模型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同网格逐点比较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实现一致 ≠ 参数真实</a:t>
            </a:r>
          </a:p>
        </p:txBody>
      </p:sp>
    </p:spTree>
    <p:extLst>
      <p:ext uri="{BB962C8B-B14F-4D97-AF65-F5344CB8AC3E}">
        <p14:creationId xmlns:p14="http://schemas.microsoft.com/office/powerpoint/2010/main" val="3296125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同一源条件下，L型匹配将运动支路有功功率代理提高约32.8倍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20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a9b0a077c474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04900"/>
            <a:ext cx="6800850" cy="4762500"/>
          </a:xfrm>
          <a:prstGeom xmlns:a="http://schemas.openxmlformats.org/drawingml/2006/main" prst="rect">
            <a:avLst/>
          </a:prstGeom>
        </p:spPr>
      </p:pic>
      <p:pic>
        <p:nvPicPr>
          <p:cNvPr id="21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caef1df7e467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1257300"/>
            <a:ext cx="3333750" cy="2333625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81450"/>
            <a:ext cx="30289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91000"/>
            <a:ext cx="257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Lmatch ≈ 106.726 μH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Cmatch ≈ 283.599 pF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设计中心：0.9 MHz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864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P_Rm × 32.8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076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125" b="0">
                <a:solidFill>
                  <a:srgbClr val="B33A3A"/>
                </a:solidFill>
              </a:rPr>
              <a:t>电学功率传递改善，不等于电声效率提高32.8倍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fs主导峰位，Rm与匹配损耗主要改变峰高和峰宽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352550"/>
          <a:ext xmlns:a="http://schemas.openxmlformats.org/drawingml/2006/main" cx="8096251" cy="419099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76080"/>
                <a:gridCol w="1840057"/>
                <a:gridCol w="1840057"/>
                <a:gridCol w="1840057"/>
              </a:tblGrid>
              <a:tr h="59871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最高档扰动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峰宽变化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 marL="91440" marR="91440" marT="45720" marB="45720"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 marL="91440" marR="91440" marT="45720" marB="45720"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47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控制含义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209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  先捕获峰位漂移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  再处理峰高损失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  按峰宽选择步长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20764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910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最大峰位变化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−45.2 kHz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7">
            <a:extLst xmlns:a="http://schemas.openxmlformats.org/drawingml/2006/main"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Qm越高，功率峰越窄，选频步长和频率抖动要求越严格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1c1acff51434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" y="1066800"/>
            <a:ext cx="6496050" cy="523875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907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A7F8E"/>
                </a:solidFill>
              </a:defRPr>
            </a:pPr>
            <a:r>
              <a:rPr sz="1350" b="1">
                <a:solidFill>
                  <a:srgbClr val="2A7F8E"/>
                </a:solidFill>
              </a:rPr>
              <a:t>Qm=800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624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9F00"/>
                </a:solidFill>
              </a:defRPr>
            </a:pPr>
            <a:r>
              <a:rPr sz="1350" b="1">
                <a:solidFill>
                  <a:srgbClr val="E69F00"/>
                </a:solidFill>
              </a:rPr>
              <a:t>Qm=1000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576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95875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高Q不自动代表系统更好；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它意味着更严格的频率分辨率。</a:t>
            </a:r>
          </a:p>
        </p:txBody>
      </p:sp>
    </p:spTree>
    <p:extLst>
      <p:ext uri="{BB962C8B-B14F-4D97-AF65-F5344CB8AC3E}">
        <p14:creationId xmlns:p14="http://schemas.microsoft.com/office/powerpoint/2010/main" val="7157760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零相位不保证最大功率，相位闭环不能无条件以0°为目标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b07dd9af8488b"/>
          <a:stretch xmlns:a="http://schemas.openxmlformats.org/drawingml/2006/main"/>
        </p:blipFill>
        <p:spPr>
          <a:xfrm xmlns:a="http://schemas.openxmlformats.org/drawingml/2006/main">
            <a:off x="858899" y="1428750"/>
            <a:ext cx="8035803" cy="1952625"/>
          </a:xfrm>
          <a:prstGeom xmlns:a="http://schemas.openxmlformats.org/drawingml/2006/main" prst="rect">
            <a:avLst/>
          </a:prstGeom>
        </p:spPr>
      </p:pic>
      <p:pic>
        <p:nvPicPr>
          <p:cNvPr id="2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4fba33e3d4010"/>
          <a:stretch xmlns:a="http://schemas.openxmlformats.org/drawingml/2006/main"/>
        </p:blipFill>
        <p:spPr>
          <a:xfrm xmlns:a="http://schemas.openxmlformats.org/drawingml/2006/main">
            <a:off x="934708" y="3667125"/>
            <a:ext cx="7884184" cy="1952625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603A543-C0D6-4196-A651-B3E1924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基准场景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F5EB5B2-F87E-4848-A105-3A1BE783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 −5%场景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09550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最大功率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0.8550 MHz</a:t>
            </a:r>
          </a:p>
          <a:p xmlns:a="http://schemas.openxmlformats.org/drawingml/2006/main">
            <a:endParaRPr sz="1500" b="1">
              <a:solidFill>
                <a:srgbClr val="E69F00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最小相位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0.9045 MHz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相位可作为观测量，但目标应来自受约束最大功率点</a:t>
            </a:r>
          </a:p>
        </p:txBody>
      </p:sp>
    </p:spTree>
    <p:extLst>
      <p:ext uri="{BB962C8B-B14F-4D97-AF65-F5344CB8AC3E}">
        <p14:creationId xmlns:p14="http://schemas.microsoft.com/office/powerpoint/2010/main" val="2106680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9">
            <a:extLst xmlns:a="http://schemas.openxmlformats.org/drawingml/2006/main"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窗口决定能否捕获漂移峰，步长决定精度与扫描代价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fff3e20dd412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009650"/>
            <a:ext cx="10820400" cy="4581525"/>
          </a:xfrm>
          <a:prstGeom xmlns:a="http://schemas.openxmlformats.org/drawingml/2006/main" prst="rect">
            <a:avLst/>
          </a:prstGeom>
        </p:spPr>
      </p:pic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657850"/>
            <a:ext cx="3429000" cy="7429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743575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推荐：±50 kHz / 1 kHz / 101点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扫描时间代理：151.5 ms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959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69F00"/>
                </a:solidFill>
              </a:defRPr>
            </a:pPr>
            <a:r>
              <a:rPr sz="1650" b="1">
                <a:solidFill>
                  <a:srgbClr val="E69F00"/>
                </a:solidFill>
              </a:rPr>
              <a:t>大扰动：宽窗口粗扫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4837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接近峰值：缩窗并细化至0.1–1 kHz</a:t>
            </a:r>
          </a:p>
        </p:txBody>
      </p:sp>
    </p:spTree>
    <p:extLst>
      <p:ext uri="{BB962C8B-B14F-4D97-AF65-F5344CB8AC3E}">
        <p14:creationId xmlns:p14="http://schemas.microsoft.com/office/powerpoint/2010/main" val="14791301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0">
            <a:extLst xmlns:a="http://schemas.openxmlformats.org/drawingml/2006/main"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保护状态机先调幅并冻结频率，稳定后才恢复追踪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05BA20F6-52DA-4527-AF91-BB6CB0CB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0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6E68FF6-FE83-4191-B3D8-9497663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52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EE9942F-38A2-4115-AE9F-4888F40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9C35DA56-6981-4873-9FB4-347BA2BF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57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NORMAL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FOLDBACK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HOLD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RAMP UP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B33A3A"/>
                </a:solidFill>
              </a:defRPr>
            </a:pPr>
            <a:r>
              <a:rPr sz="1050" b="1">
                <a:solidFill>
                  <a:srgbClr val="B33A3A"/>
                </a:solidFill>
              </a:rPr>
              <a:t>硬触发：HARD TRIP</a:t>
            </a:r>
          </a:p>
        </p:txBody>
      </p:sp>
      <p:pic>
        <p:nvPicPr>
          <p:cNvPr id="41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94d4ad585b43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0" y="1047750"/>
            <a:ext cx="7000875" cy="5095875"/>
          </a:xfrm>
          <a:prstGeom xmlns:a="http://schemas.openxmlformats.org/drawingml/2006/main"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1722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33A3A"/>
                </a:solidFill>
              </a:defRPr>
            </a:pPr>
            <a:r>
              <a:rPr sz="1200" b="1">
                <a:solidFill>
                  <a:srgbClr val="B33A3A"/>
                </a:solidFill>
              </a:rPr>
              <a:t>软触发：130 Vpp / 5.5 mA RMS    硬上限：160 Vpp / 6 mA RMS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峰值由0.9000 MHz移至0.8548 MHz，自适应策略成功定位新峰值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43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定位结果与验收边界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基准峰值  0.9000 MHz｜170.0 mW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fs−5%峰值  0.8548 MHz｜140.2 mW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峰位变化  −45.2 kHz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F73B7"/>
                </a:solidFill>
              </a:defRPr>
            </a:pPr>
            <a:r>
              <a:rPr sz="1425" b="1">
                <a:solidFill>
                  <a:srgbClr val="2F73B7"/>
                </a:solidFill>
              </a:rPr>
              <a:t>周期扫频：通过稳态验收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95625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稳定锁定0.8548 MHz；捕获率100%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约96.5 ms满足连续10样本判据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84444"/>
                </a:solidFill>
              </a:defRPr>
            </a:pPr>
            <a:r>
              <a:rPr sz="1350" b="1">
                <a:solidFill>
                  <a:srgbClr val="C84444"/>
                </a:solidFill>
              </a:rPr>
              <a:t>P&amp;O：到达峰位但未通过验收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14825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到达0.8548 MHz、捕获率100%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但周期性参考/试探使其未满足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连续10个控制样本保持窗口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10200"/>
            <a:ext cx="2743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ηP＝P当前 / P安全最大,当前场景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100%表示找到该场景自身安全峰值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不等于恢复基准绝对功率170.0 mW</a:t>
            </a:r>
          </a:p>
        </p:txBody>
      </p:sp>
      <p:pic>
        <p:nvPicPr>
          <p:cNvPr id="28" name="python-slide11-evidenc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8d2e8576e4c1c"/>
          <a:stretch xmlns:a="http://schemas.openxmlformats.org/drawingml/2006/main"/>
        </p:blipFill>
        <p:spPr>
          <a:xfrm xmlns:a="http://schemas.openxmlformats.org/drawingml/2006/main">
            <a:off x="647700" y="1046018"/>
            <a:ext cx="7924800" cy="522316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01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按98%功率连续10样本验收，周期扫频在当前参数下最稳健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未收敛段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95.5 ms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800.0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2717b5269f4501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0%只表示尾段达到离线参考点；P&amp;O的800 ms包含7段未收敛惩罚。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结果排序只对当前线性模型、扰动时窗、驻留时间和控制参数成立。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3">
            <a:extLst xmlns:a="http://schemas.openxmlformats.org/drawingml/2006/main"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文献支持负载影响电学状态，但尚不能建立病变到BVD的一一映射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文献直接事实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纤维化、钙化、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结构异质性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工程建模假设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fs、Rm、匹配状态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可能变化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待验证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病变类型到BVD参数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的定量映射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47800"/>
            <a:ext cx="2724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19812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端口电学模型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准稳态控制原型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未完成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结构模态与声场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热效应与空化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临床效果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文献层、工程假设层、待验证层必须分开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2A7F8E"/>
                </a:solidFill>
              </a:defRPr>
            </a:pPr>
            <a:r>
              <a:rPr sz="1575" b="0">
                <a:solidFill>
                  <a:srgbClr val="2A7F8E"/>
                </a:solidFill>
              </a:rPr>
              <a:t>当前模型只讨论特定BVD与扰动范围内的电学稳定性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电学链条已闭环，真实参数、P&amp;O整定和结构声场仍需继续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14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已经证明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v2.1数量级自洽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Python/LTspice实现一致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单因素与组合扰动已完成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选频与保护原型可复现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尚未证明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假设参数代表真实换能器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P_Rm等于声功率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准稳态时间等于硬件响应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任何CTO治疗效果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下一阶段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整定P&amp;O并重新验收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保留相位控制作消融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获取实测阻抗并拟合BVD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建立结构—声场模型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当前结论仅适用于特定假设BVD模型与设定扰动范围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5">
            <a:extLst xmlns:a="http://schemas.openxmlformats.org/drawingml/2006/main"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备份：v2.1参数均有明确来源类别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15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mlns:a="http://schemas.openxmlformats.org/drawingml/2006/main" x="1238250" y="1333500"/>
          <a:ext xmlns:a="http://schemas.openxmlformats.org/drawingml/2006/main" cx="9715500" cy="461963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23272"/>
                <a:gridCol w="2745685"/>
                <a:gridCol w="1689652"/>
                <a:gridCol w="2956891"/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端口电流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 / 6上限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反推基线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3151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6">
            <a:extLst xmlns:a="http://schemas.openxmlformats.org/drawingml/2006/main"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备份：单因素与组合扰动均有编号和复现参数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单因素最高档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mlns:a="http://schemas.openxmlformats.org/drawingml/2006/main" x="838200" y="1790700"/>
          <a:ext xmlns:a="http://schemas.openxmlformats.org/drawingml/2006/main" cx="4000500" cy="3428999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61152"/>
                <a:gridCol w="1739348"/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33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统一扰动序列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4292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4810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MHz固定点基线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|Z| ≈ 7.071 kΩ   相位 ≈ −15.916°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7">
            <a:extLst xmlns:a="http://schemas.openxmlformats.org/drawingml/2006/main"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备份：三种选频准则优化的是不同目标函数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mlns:a="http://schemas.openxmlformats.org/drawingml/2006/main" x="819150" y="1466850"/>
          <a:ext xmlns:a="http://schemas.openxmlformats.org/drawingml/2006/main" cx="10477500" cy="25717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976887"/>
                <a:gridCol w="2372264"/>
                <a:gridCol w="2569953"/>
                <a:gridCol w="3558396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最小相位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|arg(V/I)|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Γ代理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923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8">
            <a:extLst xmlns:a="http://schemas.openxmlformats.org/drawingml/2006/main"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备份：相位闭环已作为消融保留，但不能替代最大功率准则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419c8a325482b"/>
          <a:stretch xmlns:a="http://schemas.openxmlformats.org/drawingml/2006/main"/>
        </p:blipFill>
        <p:spPr>
          <a:xfrm xmlns:a="http://schemas.openxmlformats.org/drawingml/2006/main">
            <a:off x="1233899" y="1257300"/>
            <a:ext cx="6142802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φ = arg(Vport / Iport)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目标相位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−1.0782°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方向由局部 dφ/df 决定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672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50与100 Hz/°各出现1个错误锁定段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|eφ|小，但 P_Rm &lt; 0.95 P*</a:t>
            </a:r>
          </a:p>
        </p:txBody>
      </p:sp>
    </p:spTree>
    <p:extLst>
      <p:ext uri="{BB962C8B-B14F-4D97-AF65-F5344CB8AC3E}">
        <p14:creationId xmlns:p14="http://schemas.microsoft.com/office/powerpoint/2010/main" val="371741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9">
            <a:extLst xmlns:a="http://schemas.openxmlformats.org/drawingml/2006/main"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备份：LTspice GUI、RAW、Log与哈希共同构成运行证据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e65341a8ea4118"/>
          <a:stretch xmlns:a="http://schemas.openxmlformats.org/drawingml/2006/main"/>
        </p:blipFill>
        <p:spPr>
          <a:xfrm xmlns:a="http://schemas.openxmlformats.org/drawingml/2006/main">
            <a:off x="685800" y="1402326"/>
            <a:ext cx="6858000" cy="3672348"/>
          </a:xfrm>
          <a:prstGeom xmlns:a="http://schemas.openxmlformats.org/drawingml/2006/main" prst="rect">
            <a:avLst/>
          </a:prstGeom>
        </p:spPr>
      </p:pic>
      <p:pic>
        <p:nvPicPr>
          <p:cNvPr id="20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6d45c2d6d415b"/>
          <a:stretch xmlns:a="http://schemas.openxmlformats.org/drawingml/2006/main"/>
        </p:blipFill>
        <p:spPr>
          <a:xfrm xmlns:a="http://schemas.openxmlformats.org/drawingml/2006/main">
            <a:off x="7905750" y="1404100"/>
            <a:ext cx="3333750" cy="1535201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33375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证据层级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GUI截图：运行痕迹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RAW文件：数值输出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解析误差：交叉验证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SHA-256：文件追溯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72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33A3A"/>
                </a:solidFill>
              </a:defRPr>
            </a:pPr>
            <a:r>
              <a:rPr sz="1500" b="1">
                <a:solidFill>
                  <a:srgbClr val="B33A3A"/>
                </a:solidFill>
              </a:rPr>
              <a:t>GUI截图本身不是数值正确性的证明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备份：控制器比较采用统一且可复现的指标定义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本次定义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该场景约束下离线高分辨率最大P_Rm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最后25% NORMAL控制样本的(1−P/P*)均值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P≥0.98P*并连续保持10个NORMAL控制样本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过冲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相对新场景P*的最大正偏差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频率饱和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频率停留在0.8或1.0 MHz边界的时间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错误相位锁定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相位误差达标但P_Rm&lt;0.95P*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130 Vpp/5.5 mA为软触发；160 Vpp/6 mA为硬限。均为本次仿真假设，待实测确认。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备份：每张图都能追溯到参数、脚本和原始输出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README_汇报工作痕迹索引.md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SHA256_文件清单.csv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图表不是孤立截图，而是可重新运行的产物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2">
            <a:extLst xmlns:a="http://schemas.openxmlformats.org/drawingml/2006/main"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备份：结构—声场结果尚未完成，当前只能给出输入与验收清单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建模输入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几何尺寸与完整模型树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压电材料矩阵与极化方向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电极、机械、耦合面和PML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粗/中/细三档网格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模态频率与关键模态形状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4381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端口阻抗/导纳曲线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位移幅值与相位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声压云图与轴向曲线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网格收敛表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Solver Log正常结束页面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48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150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当前没有真实ANSYS/COMSOL截图，不得生成伪造云图填充汇报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2026-08-28T08:48:42.7390000Z</dcterms:created>
  <dcterms:modified xsi:type="dcterms:W3CDTF">2026-08-28T08:48:42.7390000Z</dcterms:modified>
</coreProperties>
</file>